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77fffd3a49e543c5" Type="http://schemas.openxmlformats.org/officeDocument/2006/relationships/officeDocument" Target="ppt/presentation.xml"/><Relationship Id="Re3cc9fe24b0f489d" Type="http://schemas.openxmlformats.org/officeDocument/2006/relationships/extended-properties" Target="docProps/app.xml"/><Relationship Id="Reab24ba3c0c04ab5"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eb6283edd81b4eff"/>
  </p:sldMasterIdLst>
  <p:notesMasterIdLst>
    <p:notesMasterId xmlns:r="http://schemas.openxmlformats.org/officeDocument/2006/relationships" r:id="R9636d13b28e54683"/>
  </p:notesMasterIdLst>
  <p:sldIdLst>
    <p:sldId xmlns:r="http://schemas.openxmlformats.org/officeDocument/2006/relationships" id="256" r:id="R8bda10f2084043e9"/>
  </p:sldIdLst>
  <p:sldSz cx="30276800" cy="42799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9fd18efd0a24f0c" Type="http://schemas.openxmlformats.org/officeDocument/2006/relationships/presProps" Target="presProps.xml"/><Relationship Id="R3087a2c7027e4b62" Type="http://schemas.openxmlformats.org/officeDocument/2006/relationships/theme" Target="theme/theme1.xml"/><Relationship Id="R8bda10f2084043e9" Type="http://schemas.openxmlformats.org/officeDocument/2006/relationships/slide" Target="slides/slide1.xml"/><Relationship Id="R935b6917e78b4a92" Type="http://schemas.openxmlformats.org/officeDocument/2006/relationships/tableStyles" Target="tableStyles.xml"/><Relationship Id="R9636d13b28e54683" Type="http://schemas.openxmlformats.org/officeDocument/2006/relationships/notesMaster" Target="notesMasters/notesMaster1.xml"/><Relationship Id="Reb6283edd81b4eff"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a66bbf024c40419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bf84b308e3d4c6b" Type="http://schemas.openxmlformats.org/officeDocument/2006/relationships/notesMaster" Target="../notesMasters/notesMaster1.xml"/><Relationship Id="R90a0c120f9f74561" Type="http://schemas.openxmlformats.org/officeDocument/2006/relationships/slide" Target="../slides/slide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Redesign of report/poster/poster_en.pptx. A0 portrait canvas and English language retained. The original file is preserved.</a:t>
            </a:r>
          </a:p>
          <a:p xmlns:a="http://schemas.openxmlformats.org/drawingml/2006/main">
            <a:r>
              <a:t/>
            </a:r>
          </a:p>
          <a:p xmlns:a="http://schemas.openxmlformats.org/drawingml/2006/main">
            <a:r>
              <a:t>All photographs, reference images and reconstructions are repository assets. No image content has been synthesized or retouched.</a:t>
            </a:r>
          </a:p>
          <a:p xmlns:a="http://schemas.openxmlformats.org/drawingml/2006/main">
            <a:r>
              <a:t/>
            </a:r>
          </a:p>
          <a:p xmlns:a="http://schemas.openxmlformats.org/drawingml/2006/main">
            <a:r>
              <a:t>PSNR chart: data/measurements/psnr_snr/k0802_v3_da.json, results[].snr_da_db against results[].psnr_shown, separately for mode jscc and sscc. Each point is the archived measurement window mean.</a:t>
            </a:r>
          </a:p>
          <a:p xmlns:a="http://schemas.openxmlformats.org/drawingml/2006/main">
            <a:r>
              <a:t/>
            </a:r>
          </a:p>
          <a:p xmlns:a="http://schemas.openxmlformats.org/drawingml/2006/main">
            <a:r>
              <a:t>Image comparison: decoded_img/tx_reference.png and jscc/sscc_00.00db_p0.png, _20.00db_p0.png, _24.00db_p0.png, _32.00db_p0.png. These suffixes denote TX additional attenuation, not SNR. Labels 32.3,17.4,13.1,5.5 dB are mean SNR across the two schemes at matching attenuation. SSCC has no decoded image at 32 dB attenuation; the gray field is a failure placeholder, not a recovered image. PSNR/SSIM are representative single-frame values, not curve means.</a:t>
            </a:r>
          </a:p>
          <a:p xmlns:a="http://schemas.openxmlformats.org/drawingml/2006/main">
            <a:r>
              <a:t/>
            </a:r>
          </a:p>
          <a:p xmlns:a="http://schemas.openxmlformats.org/drawingml/2006/main">
            <a:r>
              <a:t>Main gain claim: 31.99-28.23=3.76 dB, rounded to 3.8 dB. This is high-SNR performance on the single DIV2K 0802 image under matched PHY and 32768 complex symbols/image. It is not a dataset-wide gain or a fixed gain at every SNR.</a:t>
            </a:r>
          </a:p>
          <a:p xmlns:a="http://schemas.openxmlformats.org/drawingml/2006/main">
            <a:r>
              <a:t/>
            </a:r>
          </a:p>
          <a:p xmlns:a="http://schemas.openxmlformats.org/drawingml/2006/main">
            <a:r>
              <a:t>Latency source: report/sections/30_results.md, table 3-6. Medians: encoding 38.20ms, transfer 2.87ms, decoding 30.39ms, separately measured PL total71.47ms. Transfer includes frame buffering, air transmission, synchronization and equalization. Pure airtime2.748ms. PL latency excludes application and display latency. Throughput30fps is possible because frames overlap in the layer pipeline.</a:t>
            </a:r>
          </a:p>
          <a:p xmlns:a="http://schemas.openxmlformats.org/drawingml/2006/main">
            <a:r>
              <a:t/>
            </a:r>
          </a:p>
          <a:p xmlns:a="http://schemas.openxmlformats.org/drawingml/2006/main">
            <a:r>
              <a:t>Resource source: report/sections/30_results.md table3-1 and build/reports/tx_utilization.rpt, rx_utilization.rpt routed totals. Power source: data/measurements/power/tx_rails.json and rx_rails.json. Values3.06/3.71W sum selected PL,PS,auxiliary andDDR rails. RF daughterboards and12V input conversion losses excluded.</a:t>
            </a:r>
          </a:p>
          <a:p xmlns:a="http://schemas.openxmlformats.org/drawingml/2006/main">
            <a:r>
              <a:t/>
            </a:r>
          </a:p>
          <a:p xmlns:a="http://schemas.openxmlformats.org/drawingml/2006/main">
            <a:r>
              <a:t>Model/architecture source: report/sections/22_hardware.md. Line buffering abstraction is per convolution engine, not a replacement for the system PHY frame buffers. Full intermediate feature maps are not stored between CNN layers.</a:t>
            </a:r>
          </a:p>
          <a:p xmlns:a="http://schemas.openxmlformats.org/drawingml/2006/main">
            <a:r>
              <a:t/>
            </a:r>
          </a:p>
          <a:p xmlns:a="http://schemas.openxmlformats.org/drawingml/2006/main">
            <a:r>
              <a:t>Research references: E. Bourtsoulatze, D.B. Kurka, D. Gunduz, Deep Joint Source-Channel Coding for Wireless Image Transmission, IEEE TCCN,2019. T.-Y. Tung,D.B. Kurka,M. Jankowski,D. Gunduz, DeepJSCC-Q, IEEE JSAIT,2022.</a:t>
            </a:r>
          </a:p>
          <a:p xmlns:a="http://schemas.openxmlformats.org/drawingml/2006/main">
            <a:r>
              <a:t/>
            </a:r>
          </a:p>
          <a:p xmlns:a="http://schemas.openxmlformats.org/drawingml/2006/main">
            <a:r>
              <a:t>Layout references consulted: https://mitcommlab.mit.edu/aeroastro/commkit/research-posters/ and https://mitcommlab.mit.edu/be/2023/09/27/toward-an-evenbetterposter-improving-the-betterposter-template/ . No external artwork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c0b949feaa54f6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f6a29b050c524da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a21fe636dda442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b83c5d2e83a9428b"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ead9b3101d3c4a3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268b3830580a48d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BD17C8-74BD-486D-989D-5F4EFF375472}"/>
              </a:ext>
            </a:extLst>
          </p:cNvPr>
          <p:cNvSpPr>
            <a:spLocks xmlns:a="http://schemas.openxmlformats.org/drawingml/2006/main" noGrp="1"/>
          </p:cNvSpPr>
          <p:nvPr>
            <p:ph type="title" idx="0"/>
          </p:nvPr>
        </p:nvSpPr>
        <p:spPr>
          <a:xfrm xmlns:a="http://schemas.openxmlformats.org/drawingml/2006/main">
            <a:off x="3027680" y="16168511"/>
            <a:ext cx="24221440" cy="618207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192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88D3105-F954-4ADB-A75C-E97D831C4399}"/>
              </a:ext>
            </a:extLst>
          </p:cNvPr>
          <p:cNvSpPr>
            <a:spLocks xmlns:a="http://schemas.openxmlformats.org/drawingml/2006/main" noGrp="1"/>
          </p:cNvSpPr>
          <p:nvPr>
            <p:ph type="subTitle" idx="1"/>
          </p:nvPr>
        </p:nvSpPr>
        <p:spPr>
          <a:xfrm xmlns:a="http://schemas.openxmlformats.org/drawingml/2006/main">
            <a:off x="4541520" y="23539450"/>
            <a:ext cx="21193760" cy="475544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1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4DDB56-4DDC-4275-B655-D09A0EEE28CF}"/>
              </a:ext>
            </a:extLst>
          </p:cNvPr>
          <p:cNvSpPr>
            <a:spLocks xmlns:a="http://schemas.openxmlformats.org/drawingml/2006/main" noGrp="1"/>
          </p:cNvSpPr>
          <p:nvPr>
            <p:ph type="title" idx="0"/>
          </p:nvPr>
        </p:nvSpPr>
        <p:spPr>
          <a:xfrm xmlns:a="http://schemas.openxmlformats.org/drawingml/2006/main">
            <a:off x="3027680" y="17832917"/>
            <a:ext cx="24221440" cy="7133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043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D310F3-6032-4B1F-B42A-531ECB60C359}"/>
              </a:ext>
            </a:extLst>
          </p:cNvPr>
          <p:cNvSpPr>
            <a:spLocks xmlns:a="http://schemas.openxmlformats.org/drawingml/2006/main" noGrp="1"/>
          </p:cNvSpPr>
          <p:nvPr>
            <p:ph type="title" idx="0"/>
          </p:nvPr>
        </p:nvSpPr>
        <p:spPr>
          <a:xfrm xmlns:a="http://schemas.openxmlformats.org/drawingml/2006/main">
            <a:off x="1703070" y="3328811"/>
            <a:ext cx="26870660" cy="52309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19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FB9108-23D7-4B2B-9905-1A91F07EE783}"/>
              </a:ext>
            </a:extLst>
          </p:cNvPr>
          <p:cNvSpPr>
            <a:spLocks xmlns:a="http://schemas.openxmlformats.org/drawingml/2006/main" noGrp="1"/>
          </p:cNvSpPr>
          <p:nvPr>
            <p:ph type="body" idx="1"/>
          </p:nvPr>
        </p:nvSpPr>
        <p:spPr>
          <a:xfrm xmlns:a="http://schemas.openxmlformats.org/drawingml/2006/main">
            <a:off x="1703070" y="11888611"/>
            <a:ext cx="26870660" cy="266304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588" b="0">
                <a:solidFill>
                  <a:schemeClr val="tx1"/>
                </a:solidFill>
                <a:latin typeface="+mn-lt"/>
                <a:ea typeface="+mn-lt"/>
                <a:cs typeface="+mn-lt"/>
              </a:defRPr>
            </a:defPPr>
            <a:lvl1pPr marL="567690" indent="-567690">
              <a:lnSpc>
                <a:spcPct val="110000"/>
              </a:lnSpc>
              <a:spcBef>
                <a:spcPts val="0"/>
              </a:spcBef>
              <a:spcAft>
                <a:spcPts val="2980"/>
              </a:spcAft>
              <a:buChar char="•"/>
            </a:lvl1pPr>
            <a:lvl2pPr marL="1324610" indent="-567690">
              <a:lnSpc>
                <a:spcPct val="110000"/>
              </a:lnSpc>
              <a:spcBef>
                <a:spcPts val="0"/>
              </a:spcBef>
              <a:spcAft>
                <a:spcPts val="2980"/>
              </a:spcAft>
              <a:buChar char="•"/>
            </a:lvl2pPr>
            <a:lvl3pPr marL="2081530" indent="-567690">
              <a:lnSpc>
                <a:spcPct val="110000"/>
              </a:lnSpc>
              <a:spcBef>
                <a:spcPts val="0"/>
              </a:spcBef>
              <a:spcAft>
                <a:spcPts val="2980"/>
              </a:spcAft>
              <a:buChar char="•"/>
            </a:lvl3pPr>
            <a:lvl4pPr marL="2838450" indent="-567690">
              <a:lnSpc>
                <a:spcPct val="110000"/>
              </a:lnSpc>
              <a:spcBef>
                <a:spcPts val="0"/>
              </a:spcBef>
              <a:spcAft>
                <a:spcPts val="2980"/>
              </a:spcAft>
              <a:buChar char="•"/>
            </a:lvl4pPr>
            <a:lvl5pPr marL="3595370" indent="-567690">
              <a:lnSpc>
                <a:spcPct val="110000"/>
              </a:lnSpc>
              <a:spcBef>
                <a:spcPts val="0"/>
              </a:spcBef>
              <a:spcAft>
                <a:spcPts val="2980"/>
              </a:spcAft>
              <a:buChar char="•"/>
            </a:lvl5pPr>
            <a:lvl6pPr marL="4352290" indent="-567690">
              <a:lnSpc>
                <a:spcPct val="110000"/>
              </a:lnSpc>
              <a:spcBef>
                <a:spcPts val="0"/>
              </a:spcBef>
              <a:spcAft>
                <a:spcPts val="2980"/>
              </a:spcAft>
              <a:buChar char="•"/>
            </a:lvl6pPr>
            <a:lvl7pPr marL="5109210" indent="-567690">
              <a:lnSpc>
                <a:spcPct val="110000"/>
              </a:lnSpc>
              <a:spcBef>
                <a:spcPts val="0"/>
              </a:spcBef>
              <a:spcAft>
                <a:spcPts val="2980"/>
              </a:spcAft>
              <a:buChar char="•"/>
            </a:lvl7pPr>
            <a:lvl8pPr marL="5866130" indent="-567690">
              <a:lnSpc>
                <a:spcPct val="110000"/>
              </a:lnSpc>
              <a:spcBef>
                <a:spcPts val="0"/>
              </a:spcBef>
              <a:spcAft>
                <a:spcPts val="2980"/>
              </a:spcAft>
              <a:buChar char="•"/>
            </a:lvl8pPr>
            <a:lvl9pPr marL="6623050" indent="-567690">
              <a:lnSpc>
                <a:spcPct val="110000"/>
              </a:lnSpc>
              <a:spcBef>
                <a:spcPts val="0"/>
              </a:spcBef>
              <a:spcAft>
                <a:spcPts val="298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D3671C-60D6-4430-8CDD-82B10EE2BC4E}"/>
              </a:ext>
            </a:extLst>
          </p:cNvPr>
          <p:cNvSpPr>
            <a:spLocks xmlns:a="http://schemas.openxmlformats.org/drawingml/2006/main" noGrp="1"/>
          </p:cNvSpPr>
          <p:nvPr>
            <p:ph type="title" idx="0"/>
          </p:nvPr>
        </p:nvSpPr>
        <p:spPr>
          <a:xfrm xmlns:a="http://schemas.openxmlformats.org/drawingml/2006/main">
            <a:off x="1703070" y="3328811"/>
            <a:ext cx="26870660" cy="52309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19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0773AB-3663-4310-B47A-5AC2BE4940D8}"/>
              </a:ext>
            </a:extLst>
          </p:cNvPr>
          <p:cNvSpPr>
            <a:spLocks xmlns:a="http://schemas.openxmlformats.org/drawingml/2006/main" noGrp="1"/>
          </p:cNvSpPr>
          <p:nvPr>
            <p:ph type="body" idx="1"/>
          </p:nvPr>
        </p:nvSpPr>
        <p:spPr>
          <a:xfrm xmlns:a="http://schemas.openxmlformats.org/drawingml/2006/main">
            <a:off x="1703070" y="11888611"/>
            <a:ext cx="12489180" cy="266304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215" b="0">
                <a:solidFill>
                  <a:schemeClr val="tx1"/>
                </a:solidFill>
                <a:latin typeface="+mn-lt"/>
                <a:ea typeface="+mn-lt"/>
                <a:cs typeface="+mn-lt"/>
              </a:defRPr>
            </a:defPPr>
            <a:lvl1pPr marL="567690" indent="-567690">
              <a:lnSpc>
                <a:spcPct val="110000"/>
              </a:lnSpc>
              <a:spcBef>
                <a:spcPts val="0"/>
              </a:spcBef>
              <a:spcAft>
                <a:spcPts val="2980"/>
              </a:spcAft>
              <a:buChar char="•"/>
            </a:lvl1pPr>
            <a:lvl2pPr marL="1324610" indent="-567690">
              <a:lnSpc>
                <a:spcPct val="110000"/>
              </a:lnSpc>
              <a:spcBef>
                <a:spcPts val="0"/>
              </a:spcBef>
              <a:spcAft>
                <a:spcPts val="2980"/>
              </a:spcAft>
              <a:buChar char="•"/>
            </a:lvl2pPr>
            <a:lvl3pPr marL="2081530" indent="-567690">
              <a:lnSpc>
                <a:spcPct val="110000"/>
              </a:lnSpc>
              <a:spcBef>
                <a:spcPts val="0"/>
              </a:spcBef>
              <a:spcAft>
                <a:spcPts val="2980"/>
              </a:spcAft>
              <a:buChar char="•"/>
            </a:lvl3pPr>
            <a:lvl4pPr marL="2838450" indent="-567690">
              <a:lnSpc>
                <a:spcPct val="110000"/>
              </a:lnSpc>
              <a:spcBef>
                <a:spcPts val="0"/>
              </a:spcBef>
              <a:spcAft>
                <a:spcPts val="2980"/>
              </a:spcAft>
              <a:buChar char="•"/>
            </a:lvl4pPr>
            <a:lvl5pPr marL="3595370" indent="-567690">
              <a:lnSpc>
                <a:spcPct val="110000"/>
              </a:lnSpc>
              <a:spcBef>
                <a:spcPts val="0"/>
              </a:spcBef>
              <a:spcAft>
                <a:spcPts val="2980"/>
              </a:spcAft>
              <a:buChar char="•"/>
            </a:lvl5pPr>
            <a:lvl6pPr marL="4352290" indent="-567690">
              <a:lnSpc>
                <a:spcPct val="110000"/>
              </a:lnSpc>
              <a:spcBef>
                <a:spcPts val="0"/>
              </a:spcBef>
              <a:spcAft>
                <a:spcPts val="2980"/>
              </a:spcAft>
              <a:buChar char="•"/>
            </a:lvl6pPr>
            <a:lvl7pPr marL="5109210" indent="-567690">
              <a:lnSpc>
                <a:spcPct val="110000"/>
              </a:lnSpc>
              <a:spcBef>
                <a:spcPts val="0"/>
              </a:spcBef>
              <a:spcAft>
                <a:spcPts val="2980"/>
              </a:spcAft>
              <a:buChar char="•"/>
            </a:lvl7pPr>
            <a:lvl8pPr marL="5866130" indent="-567690">
              <a:lnSpc>
                <a:spcPct val="110000"/>
              </a:lnSpc>
              <a:spcBef>
                <a:spcPts val="0"/>
              </a:spcBef>
              <a:spcAft>
                <a:spcPts val="2980"/>
              </a:spcAft>
              <a:buChar char="•"/>
            </a:lvl8pPr>
            <a:lvl9pPr marL="6623050" indent="-567690">
              <a:lnSpc>
                <a:spcPct val="110000"/>
              </a:lnSpc>
              <a:spcBef>
                <a:spcPts val="0"/>
              </a:spcBef>
              <a:spcAft>
                <a:spcPts val="298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DBC006-A531-43C0-8472-4B2BCFDDA357}"/>
              </a:ext>
            </a:extLst>
          </p:cNvPr>
          <p:cNvSpPr>
            <a:spLocks xmlns:a="http://schemas.openxmlformats.org/drawingml/2006/main" noGrp="1"/>
          </p:cNvSpPr>
          <p:nvPr>
            <p:ph type="body" idx="2"/>
          </p:nvPr>
        </p:nvSpPr>
        <p:spPr>
          <a:xfrm xmlns:a="http://schemas.openxmlformats.org/drawingml/2006/main">
            <a:off x="16084550" y="11888611"/>
            <a:ext cx="12489180" cy="266304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215" b="0">
                <a:solidFill>
                  <a:schemeClr val="tx1"/>
                </a:solidFill>
                <a:latin typeface="+mn-lt"/>
                <a:ea typeface="+mn-lt"/>
                <a:cs typeface="+mn-lt"/>
              </a:defRPr>
            </a:defPPr>
            <a:lvl1pPr marL="567690" indent="-567690">
              <a:lnSpc>
                <a:spcPct val="110000"/>
              </a:lnSpc>
              <a:spcBef>
                <a:spcPts val="0"/>
              </a:spcBef>
              <a:spcAft>
                <a:spcPts val="2980"/>
              </a:spcAft>
              <a:buChar char="•"/>
            </a:lvl1pPr>
            <a:lvl2pPr marL="1324610" indent="-567690">
              <a:lnSpc>
                <a:spcPct val="110000"/>
              </a:lnSpc>
              <a:spcBef>
                <a:spcPts val="0"/>
              </a:spcBef>
              <a:spcAft>
                <a:spcPts val="2980"/>
              </a:spcAft>
              <a:buChar char="•"/>
            </a:lvl2pPr>
            <a:lvl3pPr marL="2081530" indent="-567690">
              <a:lnSpc>
                <a:spcPct val="110000"/>
              </a:lnSpc>
              <a:spcBef>
                <a:spcPts val="0"/>
              </a:spcBef>
              <a:spcAft>
                <a:spcPts val="2980"/>
              </a:spcAft>
              <a:buChar char="•"/>
            </a:lvl3pPr>
            <a:lvl4pPr marL="2838450" indent="-567690">
              <a:lnSpc>
                <a:spcPct val="110000"/>
              </a:lnSpc>
              <a:spcBef>
                <a:spcPts val="0"/>
              </a:spcBef>
              <a:spcAft>
                <a:spcPts val="2980"/>
              </a:spcAft>
              <a:buChar char="•"/>
            </a:lvl4pPr>
            <a:lvl5pPr marL="3595370" indent="-567690">
              <a:lnSpc>
                <a:spcPct val="110000"/>
              </a:lnSpc>
              <a:spcBef>
                <a:spcPts val="0"/>
              </a:spcBef>
              <a:spcAft>
                <a:spcPts val="2980"/>
              </a:spcAft>
              <a:buChar char="•"/>
            </a:lvl5pPr>
            <a:lvl6pPr marL="4352290" indent="-567690">
              <a:lnSpc>
                <a:spcPct val="110000"/>
              </a:lnSpc>
              <a:spcBef>
                <a:spcPts val="0"/>
              </a:spcBef>
              <a:spcAft>
                <a:spcPts val="2980"/>
              </a:spcAft>
              <a:buChar char="•"/>
            </a:lvl6pPr>
            <a:lvl7pPr marL="5109210" indent="-567690">
              <a:lnSpc>
                <a:spcPct val="110000"/>
              </a:lnSpc>
              <a:spcBef>
                <a:spcPts val="0"/>
              </a:spcBef>
              <a:spcAft>
                <a:spcPts val="2980"/>
              </a:spcAft>
              <a:buChar char="•"/>
            </a:lvl7pPr>
            <a:lvl8pPr marL="5866130" indent="-567690">
              <a:lnSpc>
                <a:spcPct val="110000"/>
              </a:lnSpc>
              <a:spcBef>
                <a:spcPts val="0"/>
              </a:spcBef>
              <a:spcAft>
                <a:spcPts val="2980"/>
              </a:spcAft>
              <a:buChar char="•"/>
            </a:lvl8pPr>
            <a:lvl9pPr marL="6623050" indent="-567690">
              <a:lnSpc>
                <a:spcPct val="110000"/>
              </a:lnSpc>
              <a:spcBef>
                <a:spcPts val="0"/>
              </a:spcBef>
              <a:spcAft>
                <a:spcPts val="298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44C6C2-106B-44CB-9B4E-D387B643A32D}"/>
              </a:ext>
            </a:extLst>
          </p:cNvPr>
          <p:cNvSpPr>
            <a:spLocks xmlns:a="http://schemas.openxmlformats.org/drawingml/2006/main" noGrp="1"/>
          </p:cNvSpPr>
          <p:nvPr>
            <p:ph type="title" idx="0"/>
          </p:nvPr>
        </p:nvSpPr>
        <p:spPr>
          <a:xfrm xmlns:a="http://schemas.openxmlformats.org/drawingml/2006/main">
            <a:off x="1703070" y="3328811"/>
            <a:ext cx="26870660" cy="52309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19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B91724-2F73-45FE-886F-B0D2F138C750}"/>
              </a:ext>
            </a:extLst>
          </p:cNvPr>
          <p:cNvSpPr>
            <a:spLocks xmlns:a="http://schemas.openxmlformats.org/drawingml/2006/main" noGrp="1"/>
          </p:cNvSpPr>
          <p:nvPr>
            <p:ph type="body" idx="1"/>
          </p:nvPr>
        </p:nvSpPr>
        <p:spPr>
          <a:xfrm xmlns:a="http://schemas.openxmlformats.org/drawingml/2006/main">
            <a:off x="1703070" y="11888611"/>
            <a:ext cx="12489180" cy="266304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588" b="0">
                <a:solidFill>
                  <a:schemeClr val="tx1"/>
                </a:solidFill>
                <a:latin typeface="+mn-lt"/>
                <a:ea typeface="+mn-lt"/>
                <a:cs typeface="+mn-lt"/>
              </a:defRPr>
            </a:defPPr>
            <a:lvl1pPr marL="567690" indent="-567690">
              <a:lnSpc>
                <a:spcPct val="110000"/>
              </a:lnSpc>
              <a:spcBef>
                <a:spcPts val="0"/>
              </a:spcBef>
              <a:spcAft>
                <a:spcPts val="2980"/>
              </a:spcAft>
              <a:buChar char="•"/>
            </a:lvl1pPr>
            <a:lvl2pPr marL="1324610" indent="-567690">
              <a:lnSpc>
                <a:spcPct val="110000"/>
              </a:lnSpc>
              <a:spcBef>
                <a:spcPts val="0"/>
              </a:spcBef>
              <a:spcAft>
                <a:spcPts val="2980"/>
              </a:spcAft>
              <a:buChar char="•"/>
            </a:lvl2pPr>
            <a:lvl3pPr marL="2081530" indent="-567690">
              <a:lnSpc>
                <a:spcPct val="110000"/>
              </a:lnSpc>
              <a:spcBef>
                <a:spcPts val="0"/>
              </a:spcBef>
              <a:spcAft>
                <a:spcPts val="2980"/>
              </a:spcAft>
              <a:buChar char="•"/>
            </a:lvl3pPr>
            <a:lvl4pPr marL="2838450" indent="-567690">
              <a:lnSpc>
                <a:spcPct val="110000"/>
              </a:lnSpc>
              <a:spcBef>
                <a:spcPts val="0"/>
              </a:spcBef>
              <a:spcAft>
                <a:spcPts val="2980"/>
              </a:spcAft>
              <a:buChar char="•"/>
            </a:lvl4pPr>
            <a:lvl5pPr marL="3595370" indent="-567690">
              <a:lnSpc>
                <a:spcPct val="110000"/>
              </a:lnSpc>
              <a:spcBef>
                <a:spcPts val="0"/>
              </a:spcBef>
              <a:spcAft>
                <a:spcPts val="2980"/>
              </a:spcAft>
              <a:buChar char="•"/>
            </a:lvl5pPr>
            <a:lvl6pPr marL="4352290" indent="-567690">
              <a:lnSpc>
                <a:spcPct val="110000"/>
              </a:lnSpc>
              <a:spcBef>
                <a:spcPts val="0"/>
              </a:spcBef>
              <a:spcAft>
                <a:spcPts val="2980"/>
              </a:spcAft>
              <a:buChar char="•"/>
            </a:lvl6pPr>
            <a:lvl7pPr marL="5109210" indent="-567690">
              <a:lnSpc>
                <a:spcPct val="110000"/>
              </a:lnSpc>
              <a:spcBef>
                <a:spcPts val="0"/>
              </a:spcBef>
              <a:spcAft>
                <a:spcPts val="2980"/>
              </a:spcAft>
              <a:buChar char="•"/>
            </a:lvl7pPr>
            <a:lvl8pPr marL="5866130" indent="-567690">
              <a:lnSpc>
                <a:spcPct val="110000"/>
              </a:lnSpc>
              <a:spcBef>
                <a:spcPts val="0"/>
              </a:spcBef>
              <a:spcAft>
                <a:spcPts val="2980"/>
              </a:spcAft>
              <a:buChar char="•"/>
            </a:lvl8pPr>
            <a:lvl9pPr marL="6623050" indent="-567690">
              <a:lnSpc>
                <a:spcPct val="110000"/>
              </a:lnSpc>
              <a:spcBef>
                <a:spcPts val="0"/>
              </a:spcBef>
              <a:spcAft>
                <a:spcPts val="298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aecacb9caca4b55" Type="http://schemas.openxmlformats.org/officeDocument/2006/relationships/slideLayout" Target="../slideLayouts/slideLayout2.xml"/><Relationship Id="R4aa719583f5d49b1" Type="http://schemas.openxmlformats.org/officeDocument/2006/relationships/theme" Target="theme/theme2.xml"/><Relationship Id="R4aaa17b800224b29" Type="http://schemas.openxmlformats.org/officeDocument/2006/relationships/slideLayout" Target="../slideLayouts/slideLayout5.xml"/><Relationship Id="R5de5372923dd43e8" Type="http://schemas.openxmlformats.org/officeDocument/2006/relationships/slideLayout" Target="../slideLayouts/slideLayout1.xml"/><Relationship Id="R8e0be1e17543416b" Type="http://schemas.openxmlformats.org/officeDocument/2006/relationships/slideLayout" Target="../slideLayouts/slideLayout3.xml"/><Relationship Id="Rb9481a8f40bd46c8" Type="http://schemas.openxmlformats.org/officeDocument/2006/relationships/slideLayout" Target="../slideLayouts/slideLayout4.xml"/><Relationship Id="Rd2291390130c4864"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e5372923dd43e8"/>
    <p:sldLayoutId xmlns:r="http://schemas.openxmlformats.org/officeDocument/2006/relationships" id="2147483650" r:id="R2aecacb9caca4b55"/>
    <p:sldLayoutId xmlns:r="http://schemas.openxmlformats.org/officeDocument/2006/relationships" id="2147483651" r:id="R8e0be1e17543416b"/>
    <p:sldLayoutId xmlns:r="http://schemas.openxmlformats.org/officeDocument/2006/relationships" id="2147483652" r:id="Rb9481a8f40bd46c8"/>
    <p:sldLayoutId xmlns:r="http://schemas.openxmlformats.org/officeDocument/2006/relationships" id="2147483653" r:id="R4aaa17b800224b29"/>
    <p:sldLayoutId xmlns:r="http://schemas.openxmlformats.org/officeDocument/2006/relationships" id="2147483654" r:id="Rd2291390130c48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112f871bb7b4e78" Type="http://schemas.openxmlformats.org/officeDocument/2006/relationships/image" Target="../media/image4.png"/><Relationship Id="R0c01d6a15e434a55" Type="http://schemas.openxmlformats.org/officeDocument/2006/relationships/chart" Target="charts/chart1.xml"/><Relationship Id="R326442a2acbf4e8f" Type="http://schemas.openxmlformats.org/officeDocument/2006/relationships/image" Target="../media/image.png"/><Relationship Id="R66c628a544c44172" Type="http://schemas.openxmlformats.org/officeDocument/2006/relationships/notesSlide" Target="../notesSlides/notesSlide1.xml"/><Relationship Id="R7d7330729b0c4b53" Type="http://schemas.openxmlformats.org/officeDocument/2006/relationships/image" Target="../media/image9.png"/><Relationship Id="R90d3152e6ed84b61" Type="http://schemas.openxmlformats.org/officeDocument/2006/relationships/image" Target="../media/image8.png"/><Relationship Id="R9e3ad2b62d424890" Type="http://schemas.openxmlformats.org/officeDocument/2006/relationships/image" Target="../media/image2.png"/><Relationship Id="Raa8b474070734e37" Type="http://schemas.openxmlformats.org/officeDocument/2006/relationships/image" Target="../media/image5.png"/><Relationship Id="Rb9179f3d29f744f2" Type="http://schemas.openxmlformats.org/officeDocument/2006/relationships/image" Target="../media/image3.png"/><Relationship Id="Rc826cbfd60994b76" Type="http://schemas.openxmlformats.org/officeDocument/2006/relationships/image" Target="../media/image.jpeg"/><Relationship Id="Rd222c85971b540de" Type="http://schemas.openxmlformats.org/officeDocument/2006/relationships/image" Target="../media/image6.png"/><Relationship Id="Rf1e163543142468a" Type="http://schemas.openxmlformats.org/officeDocument/2006/relationships/chart" Target="charts/chart2.xml"/><Relationship Id="Rf4f00027b6064d27" Type="http://schemas.openxmlformats.org/officeDocument/2006/relationships/image" Target="../media/image7.png"/><Relationship Id="Rf84005620bf34d12" Type="http://schemas.openxmlformats.org/officeDocument/2006/relationships/slideLayout" Target="../slideLayouts/slideLayout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strRef>
              <c:f>Sheet1!$B$1</c:f>
              <c:strCache>
                <c:ptCount val="1"/>
                <c:pt idx="0">
                  <c:v>DeepJSCC-Q</c:v>
                </c:pt>
              </c:strCache>
            </c:strRef>
          </c:tx>
          <c:spPr>
            <a:ln xmlns:a="http://schemas.openxmlformats.org/drawingml/2006/main" w="38100">
              <a:solidFill>
                <a:srgbClr val="237EAD"/>
              </a:solidFill>
            </a:ln>
          </c:spPr>
          <c:marker>
            <c:symbol val="circle"/>
            <c:size val="11"/>
            <c:spPr>
              <a:solidFill xmlns:a="http://schemas.openxmlformats.org/drawingml/2006/main">
                <a:srgbClr val="237EAD"/>
              </a:solidFill>
            </c:spPr>
          </c:marker>
          <c:xVal>
            <c:numRef>
              <c:f>Sheet1!$A$2:$A$36</c:f>
              <c:numCache>
                <c:formatCode>General</c:formatCode>
                <c:ptCount val="35"/>
                <c:pt idx="0">
                  <c:v>2.94</c:v>
                </c:pt>
                <c:pt idx="1">
                  <c:v>4.94</c:v>
                </c:pt>
                <c:pt idx="2">
                  <c:v>5.9</c:v>
                </c:pt>
                <c:pt idx="3">
                  <c:v>7.03</c:v>
                </c:pt>
                <c:pt idx="4">
                  <c:v>8.43</c:v>
                </c:pt>
                <c:pt idx="5">
                  <c:v>9.3</c:v>
                </c:pt>
                <c:pt idx="6">
                  <c:v>10.49</c:v>
                </c:pt>
                <c:pt idx="7">
                  <c:v>11.48</c:v>
                </c:pt>
                <c:pt idx="8">
                  <c:v>12.48</c:v>
                </c:pt>
                <c:pt idx="9">
                  <c:v>13.02</c:v>
                </c:pt>
                <c:pt idx="10">
                  <c:v>13.74</c:v>
                </c:pt>
                <c:pt idx="11">
                  <c:v>14.18</c:v>
                </c:pt>
                <c:pt idx="12">
                  <c:v>15.76</c:v>
                </c:pt>
                <c:pt idx="13">
                  <c:v>16.33</c:v>
                </c:pt>
                <c:pt idx="14">
                  <c:v>17.03</c:v>
                </c:pt>
                <c:pt idx="15">
                  <c:v>17.36</c:v>
                </c:pt>
                <c:pt idx="16">
                  <c:v>17.38</c:v>
                </c:pt>
                <c:pt idx="17">
                  <c:v>18.45</c:v>
                </c:pt>
                <c:pt idx="18">
                  <c:v>18.91</c:v>
                </c:pt>
                <c:pt idx="19">
                  <c:v>19.54</c:v>
                </c:pt>
                <c:pt idx="20">
                  <c:v>19.68</c:v>
                </c:pt>
                <c:pt idx="21">
                  <c:v>20.79</c:v>
                </c:pt>
                <c:pt idx="22">
                  <c:v>21.31</c:v>
                </c:pt>
                <c:pt idx="23">
                  <c:v>22.48</c:v>
                </c:pt>
                <c:pt idx="24">
                  <c:v>23.1</c:v>
                </c:pt>
                <c:pt idx="25">
                  <c:v>23.24</c:v>
                </c:pt>
                <c:pt idx="26">
                  <c:v>24.49</c:v>
                </c:pt>
                <c:pt idx="27">
                  <c:v>26.5</c:v>
                </c:pt>
                <c:pt idx="28">
                  <c:v>27.69</c:v>
                </c:pt>
                <c:pt idx="29">
                  <c:v>29.56</c:v>
                </c:pt>
                <c:pt idx="30">
                  <c:v>31.97</c:v>
                </c:pt>
                <c:pt idx="31">
                  <c:v>34.43</c:v>
                </c:pt>
                <c:pt idx="32">
                  <c:v>35.2</c:v>
                </c:pt>
                <c:pt idx="33">
                  <c:v>36.14</c:v>
                </c:pt>
                <c:pt idx="34">
                  <c:v>36.49</c:v>
                </c:pt>
              </c:numCache>
            </c:numRef>
          </c:xVal>
          <c:yVal>
            <c:numRef>
              <c:f>Sheet1!$B$2:$B$36</c:f>
              <c:numCache>
                <c:formatCode>General</c:formatCode>
                <c:ptCount val="35"/>
                <c:pt idx="0">
                  <c:v>23.51</c:v>
                </c:pt>
                <c:pt idx="1">
                  <c:v>25.58</c:v>
                </c:pt>
                <c:pt idx="2">
                  <c:v>26.94</c:v>
                </c:pt>
                <c:pt idx="3">
                  <c:v>28.22</c:v>
                </c:pt>
                <c:pt idx="4">
                  <c:v>29.1</c:v>
                </c:pt>
                <c:pt idx="5">
                  <c:v>29.77</c:v>
                </c:pt>
                <c:pt idx="6">
                  <c:v>30.4</c:v>
                </c:pt>
                <c:pt idx="7">
                  <c:v>30.72</c:v>
                </c:pt>
                <c:pt idx="8">
                  <c:v>30.96</c:v>
                </c:pt>
                <c:pt idx="9">
                  <c:v>31.01</c:v>
                </c:pt>
                <c:pt idx="10">
                  <c:v>31.22</c:v>
                </c:pt>
                <c:pt idx="11">
                  <c:v>31.46</c:v>
                </c:pt>
                <c:pt idx="12">
                  <c:v>31.49</c:v>
                </c:pt>
                <c:pt idx="13">
                  <c:v>31.68</c:v>
                </c:pt>
                <c:pt idx="14">
                  <c:v>31.74</c:v>
                </c:pt>
                <c:pt idx="15">
                  <c:v>31.79</c:v>
                </c:pt>
                <c:pt idx="16">
                  <c:v>31.8</c:v>
                </c:pt>
                <c:pt idx="17">
                  <c:v>31.87</c:v>
                </c:pt>
                <c:pt idx="18">
                  <c:v>31.91</c:v>
                </c:pt>
                <c:pt idx="19">
                  <c:v>31.94</c:v>
                </c:pt>
                <c:pt idx="20">
                  <c:v>31.95</c:v>
                </c:pt>
                <c:pt idx="21">
                  <c:v>32.0</c:v>
                </c:pt>
                <c:pt idx="22">
                  <c:v>32.03</c:v>
                </c:pt>
                <c:pt idx="23">
                  <c:v>32.07</c:v>
                </c:pt>
                <c:pt idx="24">
                  <c:v>32.09</c:v>
                </c:pt>
                <c:pt idx="25">
                  <c:v>32.1</c:v>
                </c:pt>
                <c:pt idx="26">
                  <c:v>32.13</c:v>
                </c:pt>
                <c:pt idx="27">
                  <c:v>32.16</c:v>
                </c:pt>
                <c:pt idx="28">
                  <c:v>32.17</c:v>
                </c:pt>
                <c:pt idx="29">
                  <c:v>32.19</c:v>
                </c:pt>
                <c:pt idx="30">
                  <c:v>32.2</c:v>
                </c:pt>
                <c:pt idx="31">
                  <c:v>32.21</c:v>
                </c:pt>
                <c:pt idx="32">
                  <c:v>32.21</c:v>
                </c:pt>
                <c:pt idx="33">
                  <c:v>32.21</c:v>
                </c:pt>
                <c:pt idx="34">
                  <c:v>32.21</c:v>
                </c:pt>
              </c:numCache>
            </c:numRef>
          </c:yVal>
          <c:smooth val="0"/>
        </c:ser>
        <c:ser>
          <c:idx val="1"/>
          <c:order val="1"/>
          <c:tx>
            <c:strRef>
              <c:f>Sheet1!$B$38</c:f>
              <c:strCache>
                <c:ptCount val="1"/>
                <c:pt idx="0">
                  <c:v>SSCC</c:v>
                </c:pt>
              </c:strCache>
            </c:strRef>
          </c:tx>
          <c:spPr>
            <a:ln xmlns:a="http://schemas.openxmlformats.org/drawingml/2006/main" w="38100">
              <a:solidFill>
                <a:srgbClr val="D9531E"/>
              </a:solidFill>
            </a:ln>
          </c:spPr>
          <c:marker>
            <c:symbol val="triangle"/>
            <c:size val="11"/>
            <c:spPr>
              <a:solidFill xmlns:a="http://schemas.openxmlformats.org/drawingml/2006/main">
                <a:srgbClr val="D9531E"/>
              </a:solidFill>
            </c:spPr>
          </c:marker>
          <c:xVal>
            <c:numRef>
              <c:f>Sheet1!$A$39:$A$70</c:f>
              <c:numCache>
                <c:formatCode>General</c:formatCode>
                <c:ptCount val="32"/>
                <c:pt idx="0">
                  <c:v>5.15</c:v>
                </c:pt>
                <c:pt idx="1">
                  <c:v>7.91</c:v>
                </c:pt>
                <c:pt idx="2">
                  <c:v>9.21</c:v>
                </c:pt>
                <c:pt idx="3">
                  <c:v>9.62</c:v>
                </c:pt>
                <c:pt idx="4">
                  <c:v>10.52</c:v>
                </c:pt>
                <c:pt idx="5">
                  <c:v>13.67</c:v>
                </c:pt>
                <c:pt idx="6">
                  <c:v>14.51</c:v>
                </c:pt>
                <c:pt idx="7">
                  <c:v>16.17</c:v>
                </c:pt>
                <c:pt idx="8">
                  <c:v>16.55</c:v>
                </c:pt>
                <c:pt idx="9">
                  <c:v>18.84</c:v>
                </c:pt>
                <c:pt idx="10">
                  <c:v>19.02</c:v>
                </c:pt>
                <c:pt idx="11">
                  <c:v>19.15</c:v>
                </c:pt>
                <c:pt idx="12">
                  <c:v>19.4</c:v>
                </c:pt>
                <c:pt idx="13">
                  <c:v>19.56</c:v>
                </c:pt>
                <c:pt idx="14">
                  <c:v>19.96</c:v>
                </c:pt>
                <c:pt idx="15">
                  <c:v>20.31</c:v>
                </c:pt>
                <c:pt idx="16">
                  <c:v>20.94</c:v>
                </c:pt>
                <c:pt idx="17">
                  <c:v>21.77</c:v>
                </c:pt>
                <c:pt idx="18">
                  <c:v>21.85</c:v>
                </c:pt>
                <c:pt idx="19">
                  <c:v>22.67</c:v>
                </c:pt>
                <c:pt idx="20">
                  <c:v>25.13</c:v>
                </c:pt>
                <c:pt idx="21">
                  <c:v>25.71</c:v>
                </c:pt>
                <c:pt idx="22">
                  <c:v>27.49</c:v>
                </c:pt>
                <c:pt idx="23">
                  <c:v>28.02</c:v>
                </c:pt>
                <c:pt idx="24">
                  <c:v>28.64</c:v>
                </c:pt>
                <c:pt idx="25">
                  <c:v>30.27</c:v>
                </c:pt>
                <c:pt idx="26">
                  <c:v>32.4</c:v>
                </c:pt>
                <c:pt idx="27">
                  <c:v>34.48</c:v>
                </c:pt>
                <c:pt idx="28">
                  <c:v>35.22</c:v>
                </c:pt>
                <c:pt idx="29">
                  <c:v>35.76</c:v>
                </c:pt>
                <c:pt idx="30">
                  <c:v>36.11</c:v>
                </c:pt>
                <c:pt idx="31">
                  <c:v>36.85</c:v>
                </c:pt>
              </c:numCache>
            </c:numRef>
          </c:xVal>
          <c:yVal>
            <c:numRef>
              <c:f>Sheet1!$B$39:$B$70</c:f>
              <c:numCache>
                <c:formatCode>General</c:formatCode>
                <c:ptCount val="32"/>
                <c:pt idx="0">
                  <c:v>9.62</c:v>
                </c:pt>
                <c:pt idx="1">
                  <c:v>9.54</c:v>
                </c:pt>
                <c:pt idx="2">
                  <c:v>9.59</c:v>
                </c:pt>
                <c:pt idx="3">
                  <c:v>9.65</c:v>
                </c:pt>
                <c:pt idx="4">
                  <c:v>9.64</c:v>
                </c:pt>
                <c:pt idx="5">
                  <c:v>14.04</c:v>
                </c:pt>
                <c:pt idx="6">
                  <c:v>9.5</c:v>
                </c:pt>
                <c:pt idx="7">
                  <c:v>9.12</c:v>
                </c:pt>
                <c:pt idx="8">
                  <c:v>9.34</c:v>
                </c:pt>
                <c:pt idx="9">
                  <c:v>27.78</c:v>
                </c:pt>
                <c:pt idx="10">
                  <c:v>28.3</c:v>
                </c:pt>
                <c:pt idx="11">
                  <c:v>28.15</c:v>
                </c:pt>
                <c:pt idx="12">
                  <c:v>25.04</c:v>
                </c:pt>
                <c:pt idx="13">
                  <c:v>28.99</c:v>
                </c:pt>
                <c:pt idx="14">
                  <c:v>29.18</c:v>
                </c:pt>
                <c:pt idx="15">
                  <c:v>29.34</c:v>
                </c:pt>
                <c:pt idx="16">
                  <c:v>29.42</c:v>
                </c:pt>
                <c:pt idx="17">
                  <c:v>29.42</c:v>
                </c:pt>
                <c:pt idx="18">
                  <c:v>29.42</c:v>
                </c:pt>
                <c:pt idx="19">
                  <c:v>29.42</c:v>
                </c:pt>
                <c:pt idx="20">
                  <c:v>29.42</c:v>
                </c:pt>
                <c:pt idx="21">
                  <c:v>29.34</c:v>
                </c:pt>
                <c:pt idx="22">
                  <c:v>29.42</c:v>
                </c:pt>
                <c:pt idx="23">
                  <c:v>29.42</c:v>
                </c:pt>
                <c:pt idx="24">
                  <c:v>29.42</c:v>
                </c:pt>
                <c:pt idx="25">
                  <c:v>29.42</c:v>
                </c:pt>
                <c:pt idx="26">
                  <c:v>29.42</c:v>
                </c:pt>
                <c:pt idx="27">
                  <c:v>29.42</c:v>
                </c:pt>
                <c:pt idx="28">
                  <c:v>29.42</c:v>
                </c:pt>
                <c:pt idx="29">
                  <c:v>29.42</c:v>
                </c:pt>
                <c:pt idx="30">
                  <c:v>29.42</c:v>
                </c:pt>
                <c:pt idx="31">
                  <c:v>29.42</c:v>
                </c:pt>
              </c:numCache>
            </c:numRef>
          </c:y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5"/>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2850">
                    <a:solidFill>
                      <a:srgbClr val="20303D"/>
                    </a:solidFill>
                    <a:latin typeface="Calibri"/>
                    <a:ea typeface="Calibri"/>
                    <a:cs typeface="Calibri"/>
                  </a:rPr>
                  <a:t>PSNR (dB)</a:t>
                </a:r>
              </a:p>
            </c:rich>
          </c:tx>
          <c:overlay val="0"/>
          <c:txPr>
            <a:bodyPr xmlns:a="http://schemas.openxmlformats.org/drawingml/2006/main" anchorCtr="1"/>
            <a:lstStyle xmlns:a="http://schemas.openxmlformats.org/drawingml/2006/main"/>
            <a:p xmlns:a="http://schemas.openxmlformats.org/drawingml/2006/main">
              <a:pPr>
                <a:defRPr sz="2850">
                  <a:solidFill>
                    <a:srgbClr val="20303D"/>
                  </a:solidFill>
                  <a:latin typeface="Calibri"/>
                  <a:ea typeface="Calibri"/>
                  <a:cs typeface="Calibri"/>
                </a:defRPr>
              </a:pPr>
            </a:p>
          </c:txPr>
        </c:title>
        <c:numFmt formatCode="0"/>
        <c:majorTickMark val="none"/>
        <c:minorTickMark val="none"/>
        <c:spPr>
          <a:ln xmlns:a="http://schemas.openxmlformats.org/drawingml/2006/main" w="15240">
            <a:solidFill>
              <a:srgbClr val="20303D"/>
            </a:solidFill>
          </a:ln>
        </c:spPr>
        <c:txPr>
          <a:bodyPr xmlns:a="http://schemas.openxmlformats.org/drawingml/2006/main" anchorCtr="1"/>
          <a:lstStyle xmlns:a="http://schemas.openxmlformats.org/drawingml/2006/main"/>
          <a:p xmlns:a="http://schemas.openxmlformats.org/drawingml/2006/main">
            <a:pPr>
              <a:defRPr sz="2700">
                <a:solidFill>
                  <a:srgbClr val="20303D"/>
                </a:solidFill>
                <a:latin typeface="Calibri"/>
                <a:ea typeface="Calibri"/>
                <a:cs typeface="Calibri"/>
              </a:defRPr>
            </a:pPr>
          </a:p>
        </c:txPr>
        <c:crossAx val="48650112"/>
        <c:majorUnit val="5"/>
      </c:valAx>
      <c:valAx>
        <c:axId val="48650112"/>
        <c:scaling>
          <c:orientation val="minMax"/>
          <c:max val="40"/>
          <c:min val="0"/>
        </c:scaling>
        <c:delete val="0"/>
        <c:axPos val="b"/>
        <c:majorGridlines>
          <c:spPr>
            <a:ln xmlns:a="http://schemas.openxmlformats.org/drawingml/2006/main" w="9525">
              <a:solidFill>
                <a:srgbClr val="E3E9ED"/>
              </a:solidFill>
            </a:ln>
          </c:spPr>
        </c:majorGridlines>
        <c:title>
          <c:tx>
            <c:rich>
              <a:bodyPr xmlns:a="http://schemas.openxmlformats.org/drawingml/2006/main"/>
              <a:lstStyle xmlns:a="http://schemas.openxmlformats.org/drawingml/2006/main"/>
              <a:p xmlns:a="http://schemas.openxmlformats.org/drawingml/2006/main">
                <a:r>
                  <a:rPr sz="2850">
                    <a:solidFill>
                      <a:srgbClr val="20303D"/>
                    </a:solidFill>
                    <a:latin typeface="Calibri"/>
                    <a:ea typeface="Calibri"/>
                    <a:cs typeface="Calibri"/>
                  </a:rPr>
                  <a:t>Data-aided SNR (dB)</a:t>
                </a:r>
              </a:p>
            </c:rich>
          </c:tx>
          <c:overlay val="0"/>
          <c:txPr>
            <a:bodyPr xmlns:a="http://schemas.openxmlformats.org/drawingml/2006/main" anchorCtr="1"/>
            <a:lstStyle xmlns:a="http://schemas.openxmlformats.org/drawingml/2006/main"/>
            <a:p xmlns:a="http://schemas.openxmlformats.org/drawingml/2006/main">
              <a:pPr>
                <a:defRPr sz="2850">
                  <a:solidFill>
                    <a:srgbClr val="20303D"/>
                  </a:solidFill>
                  <a:latin typeface="Calibri"/>
                  <a:ea typeface="Calibri"/>
                  <a:cs typeface="Calibri"/>
                </a:defRPr>
              </a:pPr>
            </a:p>
          </c:txPr>
        </c:title>
        <c:numFmt formatCode="0"/>
        <c:majorTickMark val="none"/>
        <c:minorTickMark val="none"/>
        <c:spPr>
          <a:ln xmlns:a="http://schemas.openxmlformats.org/drawingml/2006/main" w="15240">
            <a:solidFill>
              <a:srgbClr val="20303D"/>
            </a:solidFill>
          </a:ln>
        </c:spPr>
        <c:txPr>
          <a:bodyPr xmlns:a="http://schemas.openxmlformats.org/drawingml/2006/main" anchorCtr="1"/>
          <a:lstStyle xmlns:a="http://schemas.openxmlformats.org/drawingml/2006/main"/>
          <a:p xmlns:a="http://schemas.openxmlformats.org/drawingml/2006/main">
            <a:pPr>
              <a:defRPr sz="2700">
                <a:solidFill>
                  <a:srgbClr val="20303D"/>
                </a:solidFill>
                <a:latin typeface="Calibri"/>
                <a:ea typeface="Calibri"/>
                <a:cs typeface="Calibri"/>
              </a:defRPr>
            </a:pPr>
          </a:p>
        </c:txPr>
        <c:crossAx val="48672768"/>
        <c:majorUnit val="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2850">
              <a:solidFill>
                <a:srgbClr val="20303D"/>
              </a:solidFill>
              <a:latin typeface="Calibri"/>
              <a:ea typeface="Calibri"/>
              <a:cs typeface="Calibri"/>
            </a:defRPr>
          </a:pPr>
        </a:p>
      </c:txPr>
    </c:legend>
    <c:plotVisOnly val="1"/>
  </c:chart>
  <c:spPr>
    <a:solidFill xmlns:a="http://schemas.openxmlformats.org/drawingml/2006/main">
      <a:srgbClr val="EEF3F8"/>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strRef>
              <c:f>Sheet1!$B$1</c:f>
              <c:strCache>
                <c:ptCount val="1"/>
                <c:pt idx="0">
                  <c:v>Encode 38.20 ms</c:v>
                </c:pt>
              </c:strCache>
            </c:strRef>
          </c:tx>
          <c:spPr>
            <a:solidFill xmlns:a="http://schemas.openxmlformats.org/drawingml/2006/main">
              <a:srgbClr val="0B4F8A"/>
            </a:solidFill>
            <a:ln xmlns:a="http://schemas.openxmlformats.org/drawingml/2006/main" w="0">
              <a:noFill/>
            </a:ln>
          </c:spPr>
          <c:invertIfNegative val="0"/>
          <c:dLbls>
            <c:showLegendKey val="0"/>
            <c:showVal val="0"/>
            <c:showCatName val="0"/>
            <c:showSerName val="0"/>
            <c:showPercent val="0"/>
            <c:showBubbleSize val="0"/>
            <c:showLeaderLines val="0"/>
          </c:dLbls>
          <c:cat>
            <c:strRef>
              <c:f>Sheet1!$A$2:$A$2</c:f>
              <c:strCache>
                <c:ptCount val="1"/>
                <c:pt idx="0">
                  <c:v>Frame</c:v>
                </c:pt>
              </c:strCache>
            </c:strRef>
          </c:cat>
          <c:val>
            <c:numRef>
              <c:f>Sheet1!$B$2:$B$2</c:f>
              <c:numCache>
                <c:formatCode>General</c:formatCode>
                <c:ptCount val="1"/>
                <c:pt idx="0">
                  <c:v>38.2</c:v>
                </c:pt>
              </c:numCache>
            </c:numRef>
          </c:val>
        </c:ser>
        <c:ser>
          <c:idx val="1"/>
          <c:order val="1"/>
          <c:tx>
            <c:strRef>
              <c:f>Sheet1!$C$1</c:f>
              <c:strCache>
                <c:ptCount val="1"/>
                <c:pt idx="0">
                  <c:v>Transfer 2.90 ms</c:v>
                </c:pt>
              </c:strCache>
            </c:strRef>
          </c:tx>
          <c:spPr>
            <a:solidFill xmlns:a="http://schemas.openxmlformats.org/drawingml/2006/main">
              <a:srgbClr val="D9531E"/>
            </a:solidFill>
            <a:ln xmlns:a="http://schemas.openxmlformats.org/drawingml/2006/main" w="0">
              <a:noFill/>
            </a:ln>
          </c:spPr>
          <c:invertIfNegative val="0"/>
          <c:dLbls>
            <c:showLegendKey val="0"/>
            <c:showVal val="0"/>
            <c:showCatName val="0"/>
            <c:showSerName val="0"/>
            <c:showPercent val="0"/>
            <c:showBubbleSize val="0"/>
            <c:showLeaderLines val="0"/>
          </c:dLbls>
          <c:cat>
            <c:strRef>
              <c:f>Sheet1!$A$2:$A$2</c:f>
              <c:strCache>
                <c:ptCount val="1"/>
                <c:pt idx="0">
                  <c:v>Frame</c:v>
                </c:pt>
              </c:strCache>
            </c:strRef>
          </c:cat>
          <c:val>
            <c:numRef>
              <c:f>Sheet1!$C$2:$C$2</c:f>
              <c:numCache>
                <c:formatCode>General</c:formatCode>
                <c:ptCount val="1"/>
                <c:pt idx="0">
                  <c:v>2.9</c:v>
                </c:pt>
              </c:numCache>
            </c:numRef>
          </c:val>
        </c:ser>
        <c:ser>
          <c:idx val="2"/>
          <c:order val="2"/>
          <c:tx>
            <c:strRef>
              <c:f>Sheet1!$D$1</c:f>
              <c:strCache>
                <c:ptCount val="1"/>
                <c:pt idx="0">
                  <c:v>Decode 26.39 ms</c:v>
                </c:pt>
              </c:strCache>
            </c:strRef>
          </c:tx>
          <c:spPr>
            <a:solidFill xmlns:a="http://schemas.openxmlformats.org/drawingml/2006/main">
              <a:srgbClr val="237EAD"/>
            </a:solidFill>
            <a:ln xmlns:a="http://schemas.openxmlformats.org/drawingml/2006/main" w="0">
              <a:noFill/>
            </a:ln>
          </c:spPr>
          <c:invertIfNegative val="0"/>
          <c:dLbls>
            <c:showLegendKey val="0"/>
            <c:showVal val="0"/>
            <c:showCatName val="0"/>
            <c:showSerName val="0"/>
            <c:showPercent val="0"/>
            <c:showBubbleSize val="0"/>
            <c:showLeaderLines val="0"/>
          </c:dLbls>
          <c:cat>
            <c:strRef>
              <c:f>Sheet1!$A$2:$A$2</c:f>
              <c:strCache>
                <c:ptCount val="1"/>
                <c:pt idx="0">
                  <c:v>Frame</c:v>
                </c:pt>
              </c:strCache>
            </c:strRef>
          </c:cat>
          <c:val>
            <c:numRef>
              <c:f>Sheet1!$D$2:$D$2</c:f>
              <c:numCache>
                <c:formatCode>General</c:formatCode>
                <c:ptCount val="1"/>
                <c:pt idx="0">
                  <c:v>26.39</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5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71.46"/>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EEF3F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2700">
              <a:solidFill>
                <a:srgbClr val="20303D"/>
              </a:solidFill>
              <a:latin typeface="Calibri"/>
              <a:ea typeface="Calibri"/>
              <a:cs typeface="Calibri"/>
            </a:defRPr>
          </a:pPr>
        </a:p>
      </c:txPr>
    </c:legend>
    <c:plotVisOnly val="1"/>
  </c:chart>
  <c:spPr>
    <a:solidFill xmlns:a="http://schemas.openxmlformats.org/drawingml/2006/main">
      <a:srgbClr val="EEF3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 name="card background: Live PHY diagnostics section">
            <a:extLst xmlns:a="http://schemas.openxmlformats.org/drawingml/2006/main">
              <a:ext uri="{FF2B5EF4-FFF2-40B4-BE49-F238E27FC236}">
                <a16:creationId xmlns:a16="http://schemas.microsoft.com/office/drawing/2014/main" id="{37BD7CC4-604A-475A-8079-230B918ED516}"/>
              </a:ext>
            </a:extLst>
          </p:cNvPr>
          <p:cNvSpPr>
            <a:spLocks xmlns:a="http://schemas.openxmlformats.org/drawingml/2006/main" noGrp="1"/>
          </p:cNvSpPr>
          <p:nvPr/>
        </p:nvSpPr>
        <p:spPr>
          <a:xfrm xmlns:a="http://schemas.openxmlformats.org/drawingml/2006/main">
            <a:off x="15430500" y="33127950"/>
            <a:ext cx="14065250" cy="8496300"/>
          </a:xfrm>
          <a:prstGeom xmlns:a="http://schemas.openxmlformats.org/drawingml/2006/main" prst="roundRect">
            <a:avLst>
              <a:gd name="adj" fmla="val 2691"/>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8" name="card background: PL latency section">
            <a:extLst xmlns:a="http://schemas.openxmlformats.org/drawingml/2006/main">
              <a:ext uri="{FF2B5EF4-FFF2-40B4-BE49-F238E27FC236}">
                <a16:creationId xmlns:a16="http://schemas.microsoft.com/office/drawing/2014/main" id="{DAFBC5CC-D2F2-4993-B95D-2CE43D18141C}"/>
              </a:ext>
            </a:extLst>
          </p:cNvPr>
          <p:cNvSpPr>
            <a:spLocks xmlns:a="http://schemas.openxmlformats.org/drawingml/2006/main" noGrp="1"/>
          </p:cNvSpPr>
          <p:nvPr/>
        </p:nvSpPr>
        <p:spPr>
          <a:xfrm xmlns:a="http://schemas.openxmlformats.org/drawingml/2006/main">
            <a:off x="15430500" y="29556075"/>
            <a:ext cx="14065250" cy="3209925"/>
          </a:xfrm>
          <a:prstGeom xmlns:a="http://schemas.openxmlformats.org/drawingml/2006/main" prst="roundRect">
            <a:avLst>
              <a:gd name="adj" fmla="val 7122"/>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7" name="card background: FPGA implementation section">
            <a:extLst xmlns:a="http://schemas.openxmlformats.org/drawingml/2006/main">
              <a:ext uri="{FF2B5EF4-FFF2-40B4-BE49-F238E27FC236}">
                <a16:creationId xmlns:a16="http://schemas.microsoft.com/office/drawing/2014/main" id="{E9990921-E093-4A04-BF3B-29976FD2ED90}"/>
              </a:ext>
            </a:extLst>
          </p:cNvPr>
          <p:cNvSpPr>
            <a:spLocks xmlns:a="http://schemas.openxmlformats.org/drawingml/2006/main" noGrp="1"/>
          </p:cNvSpPr>
          <p:nvPr/>
        </p:nvSpPr>
        <p:spPr>
          <a:xfrm xmlns:a="http://schemas.openxmlformats.org/drawingml/2006/main">
            <a:off x="781050" y="29556075"/>
            <a:ext cx="14144625" cy="12068175"/>
          </a:xfrm>
          <a:prstGeom xmlns:a="http://schemas.openxmlformats.org/drawingml/2006/main" prst="roundRect">
            <a:avLst>
              <a:gd name="adj" fmla="val 1894"/>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6" name="card background: Measured quality section">
            <a:extLst xmlns:a="http://schemas.openxmlformats.org/drawingml/2006/main">
              <a:ext uri="{FF2B5EF4-FFF2-40B4-BE49-F238E27FC236}">
                <a16:creationId xmlns:a16="http://schemas.microsoft.com/office/drawing/2014/main" id="{B4B4A4EC-929D-489D-B6B4-0047815AD8DA}"/>
              </a:ext>
            </a:extLst>
          </p:cNvPr>
          <p:cNvSpPr>
            <a:spLocks xmlns:a="http://schemas.openxmlformats.org/drawingml/2006/main" noGrp="1"/>
          </p:cNvSpPr>
          <p:nvPr/>
        </p:nvSpPr>
        <p:spPr>
          <a:xfrm xmlns:a="http://schemas.openxmlformats.org/drawingml/2006/main">
            <a:off x="10191750" y="7886700"/>
            <a:ext cx="19304000" cy="21069300"/>
          </a:xfrm>
          <a:prstGeom xmlns:a="http://schemas.openxmlformats.org/drawingml/2006/main" prst="roundRect">
            <a:avLst>
              <a:gd name="adj" fmla="val 1184"/>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5" name="card background: Wireless system section">
            <a:extLst xmlns:a="http://schemas.openxmlformats.org/drawingml/2006/main">
              <a:ext uri="{FF2B5EF4-FFF2-40B4-BE49-F238E27FC236}">
                <a16:creationId xmlns:a16="http://schemas.microsoft.com/office/drawing/2014/main" id="{64686687-334E-4BDD-8F01-6A8793BDCAAB}"/>
              </a:ext>
            </a:extLst>
          </p:cNvPr>
          <p:cNvSpPr>
            <a:spLocks xmlns:a="http://schemas.openxmlformats.org/drawingml/2006/main" noGrp="1"/>
          </p:cNvSpPr>
          <p:nvPr/>
        </p:nvSpPr>
        <p:spPr>
          <a:xfrm xmlns:a="http://schemas.openxmlformats.org/drawingml/2006/main">
            <a:off x="781050" y="7886700"/>
            <a:ext cx="9144000" cy="21069300"/>
          </a:xfrm>
          <a:prstGeom xmlns:a="http://schemas.openxmlformats.org/drawingml/2006/main" prst="roundRect">
            <a:avLst>
              <a:gd name="adj" fmla="val 2500"/>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4" name="card background: Quality metric">
            <a:extLst xmlns:a="http://schemas.openxmlformats.org/drawingml/2006/main">
              <a:ext uri="{FF2B5EF4-FFF2-40B4-BE49-F238E27FC236}">
                <a16:creationId xmlns:a16="http://schemas.microsoft.com/office/drawing/2014/main" id="{B8436E9F-844E-4428-8456-D9524B3EF13C}"/>
              </a:ext>
            </a:extLst>
          </p:cNvPr>
          <p:cNvSpPr>
            <a:spLocks xmlns:a="http://schemas.openxmlformats.org/drawingml/2006/main" noGrp="1"/>
          </p:cNvSpPr>
          <p:nvPr/>
        </p:nvSpPr>
        <p:spPr>
          <a:xfrm xmlns:a="http://schemas.openxmlformats.org/drawingml/2006/main">
            <a:off x="20097750" y="4686300"/>
            <a:ext cx="9105900" cy="2743200"/>
          </a:xfrm>
          <a:prstGeom xmlns:a="http://schemas.openxmlformats.org/drawingml/2006/main" prst="roundRect">
            <a:avLst>
              <a:gd name="adj" fmla="val 8333"/>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3" name="card background: Latency metric">
            <a:extLst xmlns:a="http://schemas.openxmlformats.org/drawingml/2006/main">
              <a:ext uri="{FF2B5EF4-FFF2-40B4-BE49-F238E27FC236}">
                <a16:creationId xmlns:a16="http://schemas.microsoft.com/office/drawing/2014/main" id="{5A9D9373-7E2A-449F-87E6-4B27BD697C6F}"/>
              </a:ext>
            </a:extLst>
          </p:cNvPr>
          <p:cNvSpPr>
            <a:spLocks xmlns:a="http://schemas.openxmlformats.org/drawingml/2006/main" noGrp="1"/>
          </p:cNvSpPr>
          <p:nvPr/>
        </p:nvSpPr>
        <p:spPr>
          <a:xfrm xmlns:a="http://schemas.openxmlformats.org/drawingml/2006/main">
            <a:off x="10382250" y="4686300"/>
            <a:ext cx="9048750" cy="2743200"/>
          </a:xfrm>
          <a:prstGeom xmlns:a="http://schemas.openxmlformats.org/drawingml/2006/main" prst="roundRect">
            <a:avLst>
              <a:gd name="adj" fmla="val 8333"/>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2" name="card background: Throughput metric">
            <a:extLst xmlns:a="http://schemas.openxmlformats.org/drawingml/2006/main">
              <a:ext uri="{FF2B5EF4-FFF2-40B4-BE49-F238E27FC236}">
                <a16:creationId xmlns:a16="http://schemas.microsoft.com/office/drawing/2014/main" id="{AE172B8E-B76E-412D-8764-9AD2912E0863}"/>
              </a:ext>
            </a:extLst>
          </p:cNvPr>
          <p:cNvSpPr>
            <a:spLocks xmlns:a="http://schemas.openxmlformats.org/drawingml/2006/main" noGrp="1"/>
          </p:cNvSpPr>
          <p:nvPr/>
        </p:nvSpPr>
        <p:spPr>
          <a:xfrm xmlns:a="http://schemas.openxmlformats.org/drawingml/2006/main">
            <a:off x="781050" y="4686300"/>
            <a:ext cx="9048750" cy="2743200"/>
          </a:xfrm>
          <a:prstGeom xmlns:a="http://schemas.openxmlformats.org/drawingml/2006/main" prst="roundRect">
            <a:avLst>
              <a:gd name="adj" fmla="val 8333"/>
            </a:avLst>
          </a:prstGeom>
          <a:solidFill xmlns:a="http://schemas.openxmlformats.org/drawingml/2006/main">
            <a:srgbClr val="EEF3F8"/>
          </a:solidFill>
          <a:ln xmlns:a="http://schemas.openxmlformats.org/drawingml/2006/main" w="0">
            <a:noFill/>
          </a:ln>
        </p:spPr>
        <p:txBody xmlns:a="http://schemas.openxmlformats.org/drawingml/2006/main">
          <a:bodyPr/>
          <a:p/>
        </p:txBody>
      </p:sp>
      <p:cxnSp>
        <p:nvCxnSpPr>
          <p:cNvPr id="100" name="">
            <a:extLst xmlns:a="http://schemas.openxmlformats.org/drawingml/2006/main">
              <a:ext uri="{FF2B5EF4-FFF2-40B4-BE49-F238E27FC236}">
                <a16:creationId xmlns:a16="http://schemas.microsoft.com/office/drawing/2014/main" id="{3B6B7D89-370B-42FA-BCD5-DF2834D5DFD4}"/>
              </a:ext>
            </a:extLst>
          </p:cNvPr>
          <p:cNvCxnSpPr>
            <a:stCxn xmlns:a="http://schemas.openxmlformats.org/drawingml/2006/main" id="98" idx="2"/>
            <a:endCxn xmlns:a="http://schemas.openxmlformats.org/drawingml/2006/main" id="89" idx="0"/>
          </p:cNvCxnSpPr>
          <p:nvPr/>
        </p:nvCxnSpPr>
        <p:spPr>
          <a:xfrm xmlns:a="http://schemas.openxmlformats.org/drawingml/2006/main">
            <a:off x="9163050" y="32575500"/>
            <a:ext cx="0" cy="428625"/>
          </a:xfrm>
          <a:prstGeom xmlns:a="http://schemas.openxmlformats.org/drawingml/2006/main" prst="straightConnector1">
            <a:avLst/>
          </a:prstGeom>
          <a:ln xmlns:a="http://schemas.openxmlformats.org/drawingml/2006/main" w="47625">
            <a:solidFill>
              <a:srgbClr val="0B4F8A"/>
            </a:solidFill>
            <a:tailEnd type="triangle" w="med" len="med"/>
          </a:ln>
        </p:spPr>
      </p:cxnSp>
      <p:cxnSp>
        <p:nvCxnSpPr>
          <p:cNvPr id="97" name="">
            <a:extLst xmlns:a="http://schemas.openxmlformats.org/drawingml/2006/main">
              <a:ext uri="{FF2B5EF4-FFF2-40B4-BE49-F238E27FC236}">
                <a16:creationId xmlns:a16="http://schemas.microsoft.com/office/drawing/2014/main" id="{14110569-7302-42A3-B810-59BE64E2926E}"/>
              </a:ext>
            </a:extLst>
          </p:cNvPr>
          <p:cNvCxnSpPr>
            <a:stCxn xmlns:a="http://schemas.openxmlformats.org/drawingml/2006/main" id="89" idx="3"/>
            <a:endCxn xmlns:a="http://schemas.openxmlformats.org/drawingml/2006/main" id="92" idx="1"/>
          </p:cNvCxnSpPr>
          <p:nvPr/>
        </p:nvCxnSpPr>
        <p:spPr>
          <a:xfrm xmlns:a="http://schemas.openxmlformats.org/drawingml/2006/main">
            <a:off x="10553700" y="33685163"/>
            <a:ext cx="571500" cy="0"/>
          </a:xfrm>
          <a:prstGeom xmlns:a="http://schemas.openxmlformats.org/drawingml/2006/main" prst="straightConnector1">
            <a:avLst/>
          </a:prstGeom>
          <a:ln xmlns:a="http://schemas.openxmlformats.org/drawingml/2006/main" w="47625">
            <a:solidFill>
              <a:srgbClr val="0B4F8A"/>
            </a:solidFill>
            <a:tailEnd type="triangle" w="med" len="med"/>
          </a:ln>
        </p:spPr>
      </p:cxnSp>
      <p:cxnSp>
        <p:nvCxnSpPr>
          <p:cNvPr id="96" name="">
            <a:extLst xmlns:a="http://schemas.openxmlformats.org/drawingml/2006/main">
              <a:ext uri="{FF2B5EF4-FFF2-40B4-BE49-F238E27FC236}">
                <a16:creationId xmlns:a16="http://schemas.microsoft.com/office/drawing/2014/main" id="{7102AE0B-30C1-4434-9063-C78441906B7A}"/>
              </a:ext>
            </a:extLst>
          </p:cNvPr>
          <p:cNvCxnSpPr>
            <a:stCxn xmlns:a="http://schemas.openxmlformats.org/drawingml/2006/main" id="86" idx="3"/>
            <a:endCxn xmlns:a="http://schemas.openxmlformats.org/drawingml/2006/main" id="89" idx="1"/>
          </p:cNvCxnSpPr>
          <p:nvPr/>
        </p:nvCxnSpPr>
        <p:spPr>
          <a:xfrm xmlns:a="http://schemas.openxmlformats.org/drawingml/2006/main">
            <a:off x="7200900" y="33685163"/>
            <a:ext cx="571500" cy="0"/>
          </a:xfrm>
          <a:prstGeom xmlns:a="http://schemas.openxmlformats.org/drawingml/2006/main" prst="straightConnector1">
            <a:avLst/>
          </a:prstGeom>
          <a:ln xmlns:a="http://schemas.openxmlformats.org/drawingml/2006/main" w="47625">
            <a:solidFill>
              <a:srgbClr val="0B4F8A"/>
            </a:solidFill>
            <a:tailEnd type="triangle" w="med" len="med"/>
          </a:ln>
        </p:spPr>
      </p:cxnSp>
      <p:cxnSp>
        <p:nvCxnSpPr>
          <p:cNvPr id="95" name="">
            <a:extLst xmlns:a="http://schemas.openxmlformats.org/drawingml/2006/main">
              <a:ext uri="{FF2B5EF4-FFF2-40B4-BE49-F238E27FC236}">
                <a16:creationId xmlns:a16="http://schemas.microsoft.com/office/drawing/2014/main" id="{AAA702EF-A85A-4493-A3BC-1D54DD507952}"/>
              </a:ext>
            </a:extLst>
          </p:cNvPr>
          <p:cNvCxnSpPr>
            <a:stCxn xmlns:a="http://schemas.openxmlformats.org/drawingml/2006/main" id="83" idx="3"/>
            <a:endCxn xmlns:a="http://schemas.openxmlformats.org/drawingml/2006/main" id="86" idx="1"/>
          </p:cNvCxnSpPr>
          <p:nvPr/>
        </p:nvCxnSpPr>
        <p:spPr>
          <a:xfrm xmlns:a="http://schemas.openxmlformats.org/drawingml/2006/main">
            <a:off x="3848100" y="33685163"/>
            <a:ext cx="571500" cy="0"/>
          </a:xfrm>
          <a:prstGeom xmlns:a="http://schemas.openxmlformats.org/drawingml/2006/main" prst="straightConnector1">
            <a:avLst/>
          </a:prstGeom>
          <a:ln xmlns:a="http://schemas.openxmlformats.org/drawingml/2006/main" w="47625">
            <a:solidFill>
              <a:srgbClr val="0B4F8A"/>
            </a:solidFill>
            <a:tailEnd type="triangle" w="med" len="med"/>
          </a:ln>
        </p:spPr>
      </p:cxnSp>
      <p:cxnSp>
        <p:nvCxnSpPr>
          <p:cNvPr id="45" name="">
            <a:extLst xmlns:a="http://schemas.openxmlformats.org/drawingml/2006/main">
              <a:ext uri="{FF2B5EF4-FFF2-40B4-BE49-F238E27FC236}">
                <a16:creationId xmlns:a16="http://schemas.microsoft.com/office/drawing/2014/main" id="{55AFDDE7-EA0D-4B89-A9BB-E83ACAEE2D67}"/>
              </a:ext>
            </a:extLst>
          </p:cNvPr>
          <p:cNvCxnSpPr>
            <a:stCxn xmlns:a="http://schemas.openxmlformats.org/drawingml/2006/main" id="24" idx="3"/>
            <a:endCxn xmlns:a="http://schemas.openxmlformats.org/drawingml/2006/main" id="36" idx="1"/>
          </p:cNvCxnSpPr>
          <p:nvPr/>
        </p:nvCxnSpPr>
        <p:spPr>
          <a:xfrm xmlns:a="http://schemas.openxmlformats.org/drawingml/2006/main">
            <a:off x="4686300" y="22631400"/>
            <a:ext cx="1333500" cy="0"/>
          </a:xfrm>
          <a:prstGeom xmlns:a="http://schemas.openxmlformats.org/drawingml/2006/main" prst="straightConnector1">
            <a:avLst/>
          </a:prstGeom>
          <a:ln xmlns:a="http://schemas.openxmlformats.org/drawingml/2006/main" w="47625">
            <a:solidFill>
              <a:srgbClr val="D9531E"/>
            </a:solidFill>
            <a:tailEnd type="triangle" w="med" len="med"/>
          </a:ln>
        </p:spPr>
      </p:cxnSp>
      <p:cxnSp>
        <p:nvCxnSpPr>
          <p:cNvPr id="44" name="">
            <a:extLst xmlns:a="http://schemas.openxmlformats.org/drawingml/2006/main">
              <a:ext uri="{FF2B5EF4-FFF2-40B4-BE49-F238E27FC236}">
                <a16:creationId xmlns:a16="http://schemas.microsoft.com/office/drawing/2014/main" id="{C158412A-EADD-4849-8E30-4620A84A1A42}"/>
              </a:ext>
            </a:extLst>
          </p:cNvPr>
          <p:cNvCxnSpPr>
            <a:stCxn xmlns:a="http://schemas.openxmlformats.org/drawingml/2006/main" id="36" idx="0"/>
            <a:endCxn xmlns:a="http://schemas.openxmlformats.org/drawingml/2006/main" id="33" idx="2"/>
          </p:cNvCxnSpPr>
          <p:nvPr/>
        </p:nvCxnSpPr>
        <p:spPr>
          <a:xfrm xmlns:a="http://schemas.openxmlformats.org/drawingml/2006/main" flipV="1">
            <a:off x="7781925" y="21640800"/>
            <a:ext cx="0" cy="361950"/>
          </a:xfrm>
          <a:prstGeom xmlns:a="http://schemas.openxmlformats.org/drawingml/2006/main" prst="straightConnector1">
            <a:avLst/>
          </a:prstGeom>
          <a:ln xmlns:a="http://schemas.openxmlformats.org/drawingml/2006/main" w="47625">
            <a:solidFill>
              <a:srgbClr val="0B4F8A"/>
            </a:solidFill>
            <a:tailEnd type="triangle" w="med" len="med"/>
          </a:ln>
        </p:spPr>
      </p:cxnSp>
      <p:cxnSp>
        <p:nvCxnSpPr>
          <p:cNvPr id="43" name="">
            <a:extLst xmlns:a="http://schemas.openxmlformats.org/drawingml/2006/main">
              <a:ext uri="{FF2B5EF4-FFF2-40B4-BE49-F238E27FC236}">
                <a16:creationId xmlns:a16="http://schemas.microsoft.com/office/drawing/2014/main" id="{0C093ADF-B2AE-4A3A-9422-2E88F86F6209}"/>
              </a:ext>
            </a:extLst>
          </p:cNvPr>
          <p:cNvCxnSpPr>
            <a:stCxn xmlns:a="http://schemas.openxmlformats.org/drawingml/2006/main" id="21" idx="2"/>
            <a:endCxn xmlns:a="http://schemas.openxmlformats.org/drawingml/2006/main" id="24" idx="0"/>
          </p:cNvCxnSpPr>
          <p:nvPr/>
        </p:nvCxnSpPr>
        <p:spPr>
          <a:xfrm xmlns:a="http://schemas.openxmlformats.org/drawingml/2006/main">
            <a:off x="2924175" y="21640800"/>
            <a:ext cx="0" cy="361950"/>
          </a:xfrm>
          <a:prstGeom xmlns:a="http://schemas.openxmlformats.org/drawingml/2006/main" prst="straightConnector1">
            <a:avLst/>
          </a:prstGeom>
          <a:ln xmlns:a="http://schemas.openxmlformats.org/drawingml/2006/main" w="47625">
            <a:solidFill>
              <a:srgbClr val="0B4F8A"/>
            </a:solidFill>
            <a:tailEnd type="triangle" w="med" len="med"/>
          </a:ln>
        </p:spPr>
      </p:cxnSp>
      <p:cxnSp>
        <p:nvCxnSpPr>
          <p:cNvPr id="42" name="">
            <a:extLst xmlns:a="http://schemas.openxmlformats.org/drawingml/2006/main">
              <a:ext uri="{FF2B5EF4-FFF2-40B4-BE49-F238E27FC236}">
                <a16:creationId xmlns:a16="http://schemas.microsoft.com/office/drawing/2014/main" id="{AAC1B8CF-FD9E-4248-81DA-9C9289CE616B}"/>
              </a:ext>
            </a:extLst>
          </p:cNvPr>
          <p:cNvCxnSpPr>
            <a:stCxn xmlns:a="http://schemas.openxmlformats.org/drawingml/2006/main" id="33" idx="0"/>
            <a:endCxn xmlns:a="http://schemas.openxmlformats.org/drawingml/2006/main" id="30" idx="2"/>
          </p:cNvCxnSpPr>
          <p:nvPr/>
        </p:nvCxnSpPr>
        <p:spPr>
          <a:xfrm xmlns:a="http://schemas.openxmlformats.org/drawingml/2006/main" flipV="1">
            <a:off x="7781925" y="20021550"/>
            <a:ext cx="0" cy="361950"/>
          </a:xfrm>
          <a:prstGeom xmlns:a="http://schemas.openxmlformats.org/drawingml/2006/main" prst="straightConnector1">
            <a:avLst/>
          </a:prstGeom>
          <a:ln xmlns:a="http://schemas.openxmlformats.org/drawingml/2006/main" w="47625">
            <a:solidFill>
              <a:srgbClr val="0B4F8A"/>
            </a:solidFill>
            <a:tailEnd type="triangle" w="med" len="med"/>
          </a:ln>
        </p:spPr>
      </p:cxnSp>
      <p:cxnSp>
        <p:nvCxnSpPr>
          <p:cNvPr id="41" name="">
            <a:extLst xmlns:a="http://schemas.openxmlformats.org/drawingml/2006/main">
              <a:ext uri="{FF2B5EF4-FFF2-40B4-BE49-F238E27FC236}">
                <a16:creationId xmlns:a16="http://schemas.microsoft.com/office/drawing/2014/main" id="{98D6D081-83E8-4ABD-AD4A-D521082C1887}"/>
              </a:ext>
            </a:extLst>
          </p:cNvPr>
          <p:cNvCxnSpPr>
            <a:stCxn xmlns:a="http://schemas.openxmlformats.org/drawingml/2006/main" id="18" idx="2"/>
            <a:endCxn xmlns:a="http://schemas.openxmlformats.org/drawingml/2006/main" id="21" idx="0"/>
          </p:cNvCxnSpPr>
          <p:nvPr/>
        </p:nvCxnSpPr>
        <p:spPr>
          <a:xfrm xmlns:a="http://schemas.openxmlformats.org/drawingml/2006/main">
            <a:off x="2924175" y="20021550"/>
            <a:ext cx="0" cy="361950"/>
          </a:xfrm>
          <a:prstGeom xmlns:a="http://schemas.openxmlformats.org/drawingml/2006/main" prst="straightConnector1">
            <a:avLst/>
          </a:prstGeom>
          <a:ln xmlns:a="http://schemas.openxmlformats.org/drawingml/2006/main" w="47625">
            <a:solidFill>
              <a:srgbClr val="0B4F8A"/>
            </a:solidFill>
            <a:tailEnd type="triangle" w="med" len="med"/>
          </a:ln>
        </p:spPr>
      </p:cxnSp>
      <p:cxnSp>
        <p:nvCxnSpPr>
          <p:cNvPr id="40" name="">
            <a:extLst xmlns:a="http://schemas.openxmlformats.org/drawingml/2006/main">
              <a:ext uri="{FF2B5EF4-FFF2-40B4-BE49-F238E27FC236}">
                <a16:creationId xmlns:a16="http://schemas.microsoft.com/office/drawing/2014/main" id="{F4C18AAC-4DA9-469E-9C29-EBCF08F7BBF6}"/>
              </a:ext>
            </a:extLst>
          </p:cNvPr>
          <p:cNvCxnSpPr>
            <a:stCxn xmlns:a="http://schemas.openxmlformats.org/drawingml/2006/main" id="30" idx="0"/>
            <a:endCxn xmlns:a="http://schemas.openxmlformats.org/drawingml/2006/main" id="27" idx="2"/>
          </p:cNvCxnSpPr>
          <p:nvPr/>
        </p:nvCxnSpPr>
        <p:spPr>
          <a:xfrm xmlns:a="http://schemas.openxmlformats.org/drawingml/2006/main" flipV="1">
            <a:off x="7781925" y="18402300"/>
            <a:ext cx="0" cy="361950"/>
          </a:xfrm>
          <a:prstGeom xmlns:a="http://schemas.openxmlformats.org/drawingml/2006/main" prst="straightConnector1">
            <a:avLst/>
          </a:prstGeom>
          <a:ln xmlns:a="http://schemas.openxmlformats.org/drawingml/2006/main" w="47625">
            <a:solidFill>
              <a:srgbClr val="0B4F8A"/>
            </a:solidFill>
            <a:tailEnd type="triangle" w="med" len="med"/>
          </a:ln>
        </p:spPr>
      </p:cxnSp>
      <p:cxnSp>
        <p:nvCxnSpPr>
          <p:cNvPr id="39" name="">
            <a:extLst xmlns:a="http://schemas.openxmlformats.org/drawingml/2006/main">
              <a:ext uri="{FF2B5EF4-FFF2-40B4-BE49-F238E27FC236}">
                <a16:creationId xmlns:a16="http://schemas.microsoft.com/office/drawing/2014/main" id="{AEFA5A41-F323-4E5A-9B20-85D7D129C13D}"/>
              </a:ext>
            </a:extLst>
          </p:cNvPr>
          <p:cNvCxnSpPr>
            <a:stCxn xmlns:a="http://schemas.openxmlformats.org/drawingml/2006/main" id="15" idx="2"/>
            <a:endCxn xmlns:a="http://schemas.openxmlformats.org/drawingml/2006/main" id="18" idx="0"/>
          </p:cNvCxnSpPr>
          <p:nvPr/>
        </p:nvCxnSpPr>
        <p:spPr>
          <a:xfrm xmlns:a="http://schemas.openxmlformats.org/drawingml/2006/main">
            <a:off x="2924175" y="18402300"/>
            <a:ext cx="0" cy="361950"/>
          </a:xfrm>
          <a:prstGeom xmlns:a="http://schemas.openxmlformats.org/drawingml/2006/main" prst="straightConnector1">
            <a:avLst/>
          </a:prstGeom>
          <a:ln xmlns:a="http://schemas.openxmlformats.org/drawingml/2006/main" w="47625">
            <a:solidFill>
              <a:srgbClr val="0B4F8A"/>
            </a:solidFill>
            <a:tailEnd type="triangle" w="med" len="med"/>
          </a:ln>
        </p:spPr>
      </p:cxnSp>
      <p:sp>
        <p:nvSpPr>
          <p:cNvPr id="120" name="poster-title">
            <a:extLst xmlns:a="http://schemas.openxmlformats.org/drawingml/2006/main">
              <a:ext uri="{FF2B5EF4-FFF2-40B4-BE49-F238E27FC236}">
                <a16:creationId xmlns:a16="http://schemas.microsoft.com/office/drawing/2014/main" id="{65B5D218-3FA0-4754-9DE8-E227148651A2}"/>
              </a:ext>
            </a:extLst>
          </p:cNvPr>
          <p:cNvSpPr>
            <a:spLocks xmlns:a="http://schemas.openxmlformats.org/drawingml/2006/main" noGrp="1"/>
          </p:cNvSpPr>
          <p:nvPr/>
        </p:nvSpPr>
        <p:spPr>
          <a:xfrm xmlns:a="http://schemas.openxmlformats.org/drawingml/2006/main">
            <a:off x="1066800" y="819150"/>
            <a:ext cx="28098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450" b="1">
                <a:solidFill>
                  <a:srgbClr val="0B4F8A"/>
                </a:solidFill>
                <a:latin typeface="Calibri"/>
                <a:ea typeface="Calibri"/>
                <a:cs typeface="Calibri"/>
              </a:defRPr>
            </a:defPPr>
          </a:lstStyle>
          <a:p xmlns:a="http://schemas.openxmlformats.org/drawingml/2006/main">
            <a:pPr algn="l">
              <a:defRPr sz="9450" b="1">
                <a:solidFill>
                  <a:srgbClr val="0B4F8A"/>
                </a:solidFill>
                <a:latin typeface="Calibri"/>
                <a:ea typeface="Calibri"/>
                <a:cs typeface="Calibri"/>
              </a:defRPr>
            </a:pPr>
            <a:r>
              <a:rPr sz="9450" b="1">
                <a:solidFill>
                  <a:srgbClr val="0B4F8A"/>
                </a:solidFill>
                <a:latin typeface="Calibri"/>
                <a:ea typeface="Calibri"/>
                <a:cs typeface="Calibri"/>
              </a:rPr>
              <a:t>Real-Time DeepJSCC-Q on FPGA</a:t>
            </a:r>
          </a:p>
        </p:txBody>
      </p:sp>
      <p:sp>
        <p:nvSpPr>
          <p:cNvPr id="2" name="poster-subtitle">
            <a:extLst xmlns:a="http://schemas.openxmlformats.org/drawingml/2006/main">
              <a:ext uri="{FF2B5EF4-FFF2-40B4-BE49-F238E27FC236}">
                <a16:creationId xmlns:a16="http://schemas.microsoft.com/office/drawing/2014/main" id="{9BD78AFB-46E5-4882-8AEF-2D78CC50AF20}"/>
              </a:ext>
            </a:extLst>
          </p:cNvPr>
          <p:cNvSpPr>
            <a:spLocks xmlns:a="http://schemas.openxmlformats.org/drawingml/2006/main" noGrp="1"/>
          </p:cNvSpPr>
          <p:nvPr/>
        </p:nvSpPr>
        <p:spPr>
          <a:xfrm xmlns:a="http://schemas.openxmlformats.org/drawingml/2006/main">
            <a:off x="1095375" y="2400300"/>
            <a:ext cx="2800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0">
                <a:solidFill>
                  <a:srgbClr val="20303D"/>
                </a:solidFill>
                <a:latin typeface="Calibri"/>
                <a:ea typeface="Calibri"/>
                <a:cs typeface="Calibri"/>
              </a:defRPr>
            </a:defPPr>
          </a:lstStyle>
          <a:p xmlns:a="http://schemas.openxmlformats.org/drawingml/2006/main">
            <a:pPr algn="l">
              <a:defRPr sz="4650" b="0">
                <a:solidFill>
                  <a:srgbClr val="20303D"/>
                </a:solidFill>
                <a:latin typeface="Calibri"/>
                <a:ea typeface="Calibri"/>
                <a:cs typeface="Calibri"/>
              </a:defRPr>
            </a:pPr>
            <a:r>
              <a:rPr sz="4650" b="0">
                <a:solidFill>
                  <a:srgbClr val="20303D"/>
                </a:solidFill>
                <a:latin typeface="Calibri"/>
                <a:ea typeface="Calibri"/>
                <a:cs typeface="Calibri"/>
              </a:rPr>
              <a:t>30-fps over-the-air image transmission</a:t>
            </a:r>
          </a:p>
        </p:txBody>
      </p:sp>
      <p:sp>
        <p:nvSpPr>
          <p:cNvPr id="3" name="text-1">
            <a:extLst xmlns:a="http://schemas.openxmlformats.org/drawingml/2006/main">
              <a:ext uri="{FF2B5EF4-FFF2-40B4-BE49-F238E27FC236}">
                <a16:creationId xmlns:a16="http://schemas.microsoft.com/office/drawing/2014/main" id="{B3DAE8C6-F501-402F-9F7F-F941FB79466D}"/>
              </a:ext>
            </a:extLst>
          </p:cNvPr>
          <p:cNvSpPr>
            <a:spLocks xmlns:a="http://schemas.openxmlformats.org/drawingml/2006/main" noGrp="1"/>
          </p:cNvSpPr>
          <p:nvPr/>
        </p:nvSpPr>
        <p:spPr>
          <a:xfrm xmlns:a="http://schemas.openxmlformats.org/drawingml/2006/main">
            <a:off x="1095375" y="3429000"/>
            <a:ext cx="2724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526675"/>
                </a:solidFill>
                <a:latin typeface="Calibri"/>
                <a:ea typeface="Calibri"/>
                <a:cs typeface="Calibri"/>
              </a:defRPr>
            </a:defPPr>
          </a:lstStyle>
          <a:p xmlns:a="http://schemas.openxmlformats.org/drawingml/2006/main">
            <a:pPr algn="l">
              <a:defRPr sz="3450" b="0">
                <a:solidFill>
                  <a:srgbClr val="526675"/>
                </a:solidFill>
                <a:latin typeface="Calibri"/>
                <a:ea typeface="Calibri"/>
                <a:cs typeface="Calibri"/>
              </a:defRPr>
            </a:pPr>
            <a:r>
              <a:rPr sz="3450" b="0">
                <a:solidFill>
                  <a:srgbClr val="526675"/>
                </a:solidFill>
                <a:latin typeface="Calibri"/>
                <a:ea typeface="Calibri"/>
                <a:cs typeface="Calibri"/>
              </a:rPr>
              <a:t>A streaming CNN codec and OFDM PHY run on two Zynq boards.</a:t>
            </a:r>
          </a:p>
          <a:p xmlns:a="http://schemas.openxmlformats.org/drawingml/2006/main">
            <a:pPr algn="l">
              <a:defRPr sz="3450" b="0">
                <a:solidFill>
                  <a:srgbClr val="526675"/>
                </a:solidFill>
                <a:latin typeface="Calibri"/>
                <a:ea typeface="Calibri"/>
                <a:cs typeface="Calibri"/>
              </a:defRPr>
            </a:pPr>
            <a:r>
              <a:rPr sz="3450" b="0">
                <a:solidFill>
                  <a:srgbClr val="526675"/>
                </a:solidFill>
                <a:latin typeface="Calibri"/>
                <a:ea typeface="Calibri"/>
                <a:cs typeface="Calibri"/>
              </a:rPr>
              <a:t>Image quality degrades gradually as channel SNR falls.</a:t>
            </a:r>
          </a:p>
        </p:txBody>
      </p:sp>
      <p:sp>
        <p:nvSpPr>
          <p:cNvPr id="4" name="text-2">
            <a:extLst xmlns:a="http://schemas.openxmlformats.org/drawingml/2006/main">
              <a:ext uri="{FF2B5EF4-FFF2-40B4-BE49-F238E27FC236}">
                <a16:creationId xmlns:a16="http://schemas.microsoft.com/office/drawing/2014/main" id="{986437C1-DE38-4F72-B583-5BF58A8EDC01}"/>
              </a:ext>
            </a:extLst>
          </p:cNvPr>
          <p:cNvSpPr>
            <a:spLocks xmlns:a="http://schemas.openxmlformats.org/drawingml/2006/main" noGrp="1"/>
          </p:cNvSpPr>
          <p:nvPr/>
        </p:nvSpPr>
        <p:spPr>
          <a:xfrm xmlns:a="http://schemas.openxmlformats.org/drawingml/2006/main">
            <a:off x="1066800" y="4953000"/>
            <a:ext cx="8477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400" b="1">
                <a:solidFill>
                  <a:srgbClr val="0B4F8A"/>
                </a:solidFill>
                <a:latin typeface="Calibri"/>
                <a:ea typeface="Calibri"/>
                <a:cs typeface="Calibri"/>
              </a:defRPr>
            </a:defPPr>
          </a:lstStyle>
          <a:p xmlns:a="http://schemas.openxmlformats.org/drawingml/2006/main">
            <a:pPr algn="l">
              <a:defRPr sz="8400" b="1">
                <a:solidFill>
                  <a:srgbClr val="0B4F8A"/>
                </a:solidFill>
                <a:latin typeface="Calibri"/>
                <a:ea typeface="Calibri"/>
                <a:cs typeface="Calibri"/>
              </a:defRPr>
            </a:pPr>
            <a:r>
              <a:rPr sz="8400" b="1">
                <a:solidFill>
                  <a:srgbClr val="0B4F8A"/>
                </a:solidFill>
                <a:latin typeface="Calibri"/>
                <a:ea typeface="Calibri"/>
                <a:cs typeface="Calibri"/>
              </a:rPr>
              <a:t>30 fps</a:t>
            </a:r>
          </a:p>
        </p:txBody>
      </p:sp>
      <p:sp>
        <p:nvSpPr>
          <p:cNvPr id="5" name="text-3">
            <a:extLst xmlns:a="http://schemas.openxmlformats.org/drawingml/2006/main">
              <a:ext uri="{FF2B5EF4-FFF2-40B4-BE49-F238E27FC236}">
                <a16:creationId xmlns:a16="http://schemas.microsoft.com/office/drawing/2014/main" id="{8402CA82-1658-4711-B64B-E57D9FEFD3DF}"/>
              </a:ext>
            </a:extLst>
          </p:cNvPr>
          <p:cNvSpPr>
            <a:spLocks xmlns:a="http://schemas.openxmlformats.org/drawingml/2006/main" noGrp="1"/>
          </p:cNvSpPr>
          <p:nvPr/>
        </p:nvSpPr>
        <p:spPr>
          <a:xfrm xmlns:a="http://schemas.openxmlformats.org/drawingml/2006/main">
            <a:off x="1066800" y="6229350"/>
            <a:ext cx="8477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675"/>
                </a:solidFill>
                <a:latin typeface="Calibri"/>
                <a:ea typeface="Calibri"/>
                <a:cs typeface="Calibri"/>
              </a:defRPr>
            </a:defPPr>
          </a:lstStyle>
          <a:p xmlns:a="http://schemas.openxmlformats.org/drawingml/2006/main">
            <a:pPr algn="l">
              <a:defRPr sz="3150" b="0">
                <a:solidFill>
                  <a:srgbClr val="526675"/>
                </a:solidFill>
                <a:latin typeface="Calibri"/>
                <a:ea typeface="Calibri"/>
                <a:cs typeface="Calibri"/>
              </a:defRPr>
            </a:pPr>
            <a:r>
              <a:rPr sz="3150" b="0">
                <a:solidFill>
                  <a:srgbClr val="526675"/>
                </a:solidFill>
                <a:latin typeface="Calibri"/>
                <a:ea typeface="Calibri"/>
                <a:cs typeface="Calibri"/>
              </a:rPr>
              <a:t>256 × 256 RGB</a:t>
            </a:r>
          </a:p>
          <a:p xmlns:a="http://schemas.openxmlformats.org/drawingml/2006/main">
            <a:pPr algn="l">
              <a:defRPr sz="3150" b="0">
                <a:solidFill>
                  <a:srgbClr val="526675"/>
                </a:solidFill>
                <a:latin typeface="Calibri"/>
                <a:ea typeface="Calibri"/>
                <a:cs typeface="Calibri"/>
              </a:defRPr>
            </a:pPr>
            <a:r>
              <a:rPr sz="3150" b="0">
                <a:solidFill>
                  <a:srgbClr val="526675"/>
                </a:solidFill>
                <a:latin typeface="Calibri"/>
                <a:ea typeface="Calibri"/>
                <a:cs typeface="Calibri"/>
              </a:rPr>
              <a:t>18,020 frames over 10 min</a:t>
            </a:r>
          </a:p>
        </p:txBody>
      </p:sp>
      <p:sp>
        <p:nvSpPr>
          <p:cNvPr id="6" name="text-4">
            <a:extLst xmlns:a="http://schemas.openxmlformats.org/drawingml/2006/main">
              <a:ext uri="{FF2B5EF4-FFF2-40B4-BE49-F238E27FC236}">
                <a16:creationId xmlns:a16="http://schemas.microsoft.com/office/drawing/2014/main" id="{5B68A86E-4C55-43DB-A324-289A3E4BBCFC}"/>
              </a:ext>
            </a:extLst>
          </p:cNvPr>
          <p:cNvSpPr>
            <a:spLocks xmlns:a="http://schemas.openxmlformats.org/drawingml/2006/main" noGrp="1"/>
          </p:cNvSpPr>
          <p:nvPr/>
        </p:nvSpPr>
        <p:spPr>
          <a:xfrm xmlns:a="http://schemas.openxmlformats.org/drawingml/2006/main">
            <a:off x="10668000" y="4953000"/>
            <a:ext cx="8477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400" b="1">
                <a:solidFill>
                  <a:srgbClr val="0B4F8A"/>
                </a:solidFill>
                <a:latin typeface="Calibri"/>
                <a:ea typeface="Calibri"/>
                <a:cs typeface="Calibri"/>
              </a:defRPr>
            </a:defPPr>
          </a:lstStyle>
          <a:p xmlns:a="http://schemas.openxmlformats.org/drawingml/2006/main">
            <a:pPr algn="l">
              <a:defRPr sz="8400" b="1">
                <a:solidFill>
                  <a:srgbClr val="0B4F8A"/>
                </a:solidFill>
                <a:latin typeface="Calibri"/>
                <a:ea typeface="Calibri"/>
                <a:cs typeface="Calibri"/>
              </a:defRPr>
            </a:pPr>
            <a:r>
              <a:rPr sz="8400" b="1">
                <a:solidFill>
                  <a:srgbClr val="0B4F8A"/>
                </a:solidFill>
                <a:latin typeface="Calibri"/>
                <a:ea typeface="Calibri"/>
                <a:cs typeface="Calibri"/>
              </a:rPr>
              <a:t>67.5 ms</a:t>
            </a:r>
          </a:p>
        </p:txBody>
      </p:sp>
      <p:sp>
        <p:nvSpPr>
          <p:cNvPr id="7" name="text-5">
            <a:extLst xmlns:a="http://schemas.openxmlformats.org/drawingml/2006/main">
              <a:ext uri="{FF2B5EF4-FFF2-40B4-BE49-F238E27FC236}">
                <a16:creationId xmlns:a16="http://schemas.microsoft.com/office/drawing/2014/main" id="{51091E28-E7FA-4BE3-A1C3-3D1509988BA6}"/>
              </a:ext>
            </a:extLst>
          </p:cNvPr>
          <p:cNvSpPr>
            <a:spLocks xmlns:a="http://schemas.openxmlformats.org/drawingml/2006/main" noGrp="1"/>
          </p:cNvSpPr>
          <p:nvPr/>
        </p:nvSpPr>
        <p:spPr>
          <a:xfrm xmlns:a="http://schemas.openxmlformats.org/drawingml/2006/main">
            <a:off x="10668000" y="6229350"/>
            <a:ext cx="8477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675"/>
                </a:solidFill>
                <a:latin typeface="Calibri"/>
                <a:ea typeface="Calibri"/>
                <a:cs typeface="Calibri"/>
              </a:defRPr>
            </a:defPPr>
          </a:lstStyle>
          <a:p xmlns:a="http://schemas.openxmlformats.org/drawingml/2006/main">
            <a:pPr algn="l">
              <a:defRPr sz="3150" b="0">
                <a:solidFill>
                  <a:srgbClr val="526675"/>
                </a:solidFill>
                <a:latin typeface="Calibri"/>
                <a:ea typeface="Calibri"/>
                <a:cs typeface="Calibri"/>
              </a:defRPr>
            </a:pPr>
            <a:r>
              <a:rPr sz="3150" b="0">
                <a:solidFill>
                  <a:srgbClr val="526675"/>
                </a:solidFill>
                <a:latin typeface="Calibri"/>
                <a:ea typeface="Calibri"/>
                <a:cs typeface="Calibri"/>
              </a:rPr>
              <a:t>PL frame latency</a:t>
            </a:r>
          </a:p>
          <a:p xmlns:a="http://schemas.openxmlformats.org/drawingml/2006/main">
            <a:pPr algn="l">
              <a:defRPr sz="3150" b="0">
                <a:solidFill>
                  <a:srgbClr val="526675"/>
                </a:solidFill>
                <a:latin typeface="Calibri"/>
                <a:ea typeface="Calibri"/>
                <a:cs typeface="Calibri"/>
              </a:defRPr>
            </a:pPr>
            <a:r>
              <a:rPr sz="3150" b="0">
                <a:solidFill>
                  <a:srgbClr val="526675"/>
                </a:solidFill>
                <a:latin typeface="Calibri"/>
                <a:ea typeface="Calibri"/>
                <a:cs typeface="Calibri"/>
              </a:rPr>
              <a:t>Multiple frames overlap in flight</a:t>
            </a:r>
          </a:p>
        </p:txBody>
      </p:sp>
      <p:sp>
        <p:nvSpPr>
          <p:cNvPr id="8" name="text-6">
            <a:extLst xmlns:a="http://schemas.openxmlformats.org/drawingml/2006/main">
              <a:ext uri="{FF2B5EF4-FFF2-40B4-BE49-F238E27FC236}">
                <a16:creationId xmlns:a16="http://schemas.microsoft.com/office/drawing/2014/main" id="{A198F018-4550-43F1-BEC2-A56FEF5D2AFD}"/>
              </a:ext>
            </a:extLst>
          </p:cNvPr>
          <p:cNvSpPr>
            <a:spLocks xmlns:a="http://schemas.openxmlformats.org/drawingml/2006/main" noGrp="1"/>
          </p:cNvSpPr>
          <p:nvPr/>
        </p:nvSpPr>
        <p:spPr>
          <a:xfrm xmlns:a="http://schemas.openxmlformats.org/drawingml/2006/main">
            <a:off x="20383500" y="4953000"/>
            <a:ext cx="8477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400" b="1">
                <a:solidFill>
                  <a:srgbClr val="0B4F8A"/>
                </a:solidFill>
                <a:latin typeface="Calibri"/>
                <a:ea typeface="Calibri"/>
                <a:cs typeface="Calibri"/>
              </a:defRPr>
            </a:defPPr>
          </a:lstStyle>
          <a:p xmlns:a="http://schemas.openxmlformats.org/drawingml/2006/main">
            <a:pPr algn="l">
              <a:defRPr sz="8400" b="1">
                <a:solidFill>
                  <a:srgbClr val="0B4F8A"/>
                </a:solidFill>
                <a:latin typeface="Calibri"/>
                <a:ea typeface="Calibri"/>
                <a:cs typeface="Calibri"/>
              </a:defRPr>
            </a:pPr>
            <a:r>
              <a:rPr sz="8400" b="1">
                <a:solidFill>
                  <a:srgbClr val="0B4F8A"/>
                </a:solidFill>
                <a:latin typeface="Calibri"/>
                <a:ea typeface="Calibri"/>
                <a:cs typeface="Calibri"/>
              </a:rPr>
              <a:t>+2.8 dB</a:t>
            </a:r>
          </a:p>
        </p:txBody>
      </p:sp>
      <p:sp>
        <p:nvSpPr>
          <p:cNvPr id="9" name="text-7">
            <a:extLst xmlns:a="http://schemas.openxmlformats.org/drawingml/2006/main">
              <a:ext uri="{FF2B5EF4-FFF2-40B4-BE49-F238E27FC236}">
                <a16:creationId xmlns:a16="http://schemas.microsoft.com/office/drawing/2014/main" id="{D0EB9622-6728-4A62-89B5-9AA5F99CE66E}"/>
              </a:ext>
            </a:extLst>
          </p:cNvPr>
          <p:cNvSpPr>
            <a:spLocks xmlns:a="http://schemas.openxmlformats.org/drawingml/2006/main" noGrp="1"/>
          </p:cNvSpPr>
          <p:nvPr/>
        </p:nvSpPr>
        <p:spPr>
          <a:xfrm xmlns:a="http://schemas.openxmlformats.org/drawingml/2006/main">
            <a:off x="20383500" y="6229350"/>
            <a:ext cx="8477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675"/>
                </a:solidFill>
                <a:latin typeface="Calibri"/>
                <a:ea typeface="Calibri"/>
                <a:cs typeface="Calibri"/>
              </a:defRPr>
            </a:defPPr>
          </a:lstStyle>
          <a:p xmlns:a="http://schemas.openxmlformats.org/drawingml/2006/main">
            <a:pPr algn="l">
              <a:defRPr sz="3150" b="0">
                <a:solidFill>
                  <a:srgbClr val="526675"/>
                </a:solidFill>
                <a:latin typeface="Calibri"/>
                <a:ea typeface="Calibri"/>
                <a:cs typeface="Calibri"/>
              </a:defRPr>
            </a:pPr>
            <a:r>
              <a:rPr sz="3150" b="0">
                <a:solidFill>
                  <a:srgbClr val="526675"/>
                </a:solidFill>
                <a:latin typeface="Calibri"/>
                <a:ea typeface="Calibri"/>
                <a:cs typeface="Calibri"/>
              </a:rPr>
              <a:t>PSNR at high SNR</a:t>
            </a:r>
          </a:p>
          <a:p xmlns:a="http://schemas.openxmlformats.org/drawingml/2006/main">
            <a:pPr algn="l">
              <a:defRPr sz="3150" b="0">
                <a:solidFill>
                  <a:srgbClr val="526675"/>
                </a:solidFill>
                <a:latin typeface="Calibri"/>
                <a:ea typeface="Calibri"/>
                <a:cs typeface="Calibri"/>
              </a:defRPr>
            </a:pPr>
            <a:r>
              <a:rPr sz="3150" b="0">
                <a:solidFill>
                  <a:srgbClr val="526675"/>
                </a:solidFill>
                <a:latin typeface="Calibri"/>
                <a:ea typeface="Calibri"/>
                <a:cs typeface="Calibri"/>
              </a:rPr>
              <a:t>DIV2K 0802, equal symbol budget</a:t>
            </a:r>
          </a:p>
        </p:txBody>
      </p:sp>
      <p:sp>
        <p:nvSpPr>
          <p:cNvPr id="10" name="text-8">
            <a:extLst xmlns:a="http://schemas.openxmlformats.org/drawingml/2006/main">
              <a:ext uri="{FF2B5EF4-FFF2-40B4-BE49-F238E27FC236}">
                <a16:creationId xmlns:a16="http://schemas.microsoft.com/office/drawing/2014/main" id="{402E61B9-99C2-494B-9B23-AB5ED54E559B}"/>
              </a:ext>
            </a:extLst>
          </p:cNvPr>
          <p:cNvSpPr>
            <a:spLocks xmlns:a="http://schemas.openxmlformats.org/drawingml/2006/main" noGrp="1"/>
          </p:cNvSpPr>
          <p:nvPr/>
        </p:nvSpPr>
        <p:spPr>
          <a:xfrm xmlns:a="http://schemas.openxmlformats.org/drawingml/2006/main">
            <a:off x="1066800" y="8143875"/>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B4F8A"/>
                </a:solidFill>
                <a:latin typeface="Calibri"/>
                <a:ea typeface="Calibri"/>
                <a:cs typeface="Calibri"/>
              </a:defRPr>
            </a:defPPr>
          </a:lstStyle>
          <a:p xmlns:a="http://schemas.openxmlformats.org/drawingml/2006/main">
            <a:pPr algn="l">
              <a:defRPr sz="4725" b="1">
                <a:solidFill>
                  <a:srgbClr val="0B4F8A"/>
                </a:solidFill>
                <a:latin typeface="Calibri"/>
                <a:ea typeface="Calibri"/>
                <a:cs typeface="Calibri"/>
              </a:defRPr>
            </a:pPr>
            <a:r>
              <a:rPr sz="4725" b="1">
                <a:solidFill>
                  <a:srgbClr val="0B4F8A"/>
                </a:solidFill>
                <a:latin typeface="Calibri"/>
                <a:ea typeface="Calibri"/>
                <a:cs typeface="Calibri"/>
              </a:rPr>
              <a:t>Two boards, one wireless link</a:t>
            </a:r>
          </a:p>
        </p:txBody>
      </p:sp>
      <p:pic>
        <p:nvPicPr>
          <p:cNvPr id="11" name="">
            <a:extLst xmlns:a="http://schemas.openxmlformats.org/drawingml/2006/main">
              <a:ext uri="{FF2B5EF4-FFF2-40B4-BE49-F238E27FC236}">
                <a16:creationId xmlns:a16="http://schemas.microsoft.com/office/drawing/2014/main" id="{5196F403-EA36-448B-AB48-DE89AA5A7C4B}"/>
              </a:ext>
            </a:extLst>
          </p:cNvPr>
          <p:cNvPicPr>
            <a:picLocks xmlns:a="http://schemas.openxmlformats.org/drawingml/2006/main" noChangeAspect="1"/>
          </p:cNvPicPr>
          <p:nvPr/>
        </p:nvPicPr>
        <p:blipFill>
          <a:blip xmlns:r="http://schemas.openxmlformats.org/officeDocument/2006/relationships" xmlns:a="http://schemas.openxmlformats.org/drawingml/2006/main" r:embed="Rc826cbfd60994b76"/>
          <a:srcRect xmlns:a="http://schemas.openxmlformats.org/drawingml/2006/main"/>
          <a:stretch xmlns:a="http://schemas.openxmlformats.org/drawingml/2006/main"/>
        </p:blipFill>
        <p:spPr>
          <a:xfrm xmlns:a="http://schemas.openxmlformats.org/drawingml/2006/main">
            <a:off x="1066800" y="9417606"/>
            <a:ext cx="8572500" cy="5053489"/>
          </a:xfrm>
          <a:prstGeom xmlns:a="http://schemas.openxmlformats.org/drawingml/2006/main" prst="rect">
            <a:avLst/>
          </a:prstGeom>
        </p:spPr>
      </p:pic>
      <p:sp>
        <p:nvSpPr>
          <p:cNvPr id="12" name="text-9">
            <a:extLst xmlns:a="http://schemas.openxmlformats.org/drawingml/2006/main">
              <a:ext uri="{FF2B5EF4-FFF2-40B4-BE49-F238E27FC236}">
                <a16:creationId xmlns:a16="http://schemas.microsoft.com/office/drawing/2014/main" id="{B9BE324D-D2CB-43F4-821B-1440A66A4799}"/>
              </a:ext>
            </a:extLst>
          </p:cNvPr>
          <p:cNvSpPr>
            <a:spLocks xmlns:a="http://schemas.openxmlformats.org/drawingml/2006/main" noGrp="1"/>
          </p:cNvSpPr>
          <p:nvPr/>
        </p:nvSpPr>
        <p:spPr>
          <a:xfrm xmlns:a="http://schemas.openxmlformats.org/drawingml/2006/main">
            <a:off x="1066800" y="14763750"/>
            <a:ext cx="857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526675"/>
                </a:solidFill>
                <a:latin typeface="Calibri"/>
                <a:ea typeface="Calibri"/>
                <a:cs typeface="Calibri"/>
              </a:defRPr>
            </a:defPPr>
          </a:lstStyle>
          <a:p xmlns:a="http://schemas.openxmlformats.org/drawingml/2006/main">
            <a:pPr algn="l">
              <a:defRPr sz="2925" b="0">
                <a:solidFill>
                  <a:srgbClr val="526675"/>
                </a:solidFill>
                <a:latin typeface="Calibri"/>
                <a:ea typeface="Calibri"/>
                <a:cs typeface="Calibri"/>
              </a:defRPr>
            </a:pPr>
            <a:r>
              <a:rPr sz="2925" b="0">
                <a:solidFill>
                  <a:srgbClr val="526675"/>
                </a:solidFill>
                <a:latin typeface="Calibri"/>
                <a:ea typeface="Calibri"/>
                <a:cs typeface="Calibri"/>
              </a:rPr>
              <a:t>RX with touch screen (left), TX with camera (right).</a:t>
            </a:r>
          </a:p>
          <a:p xmlns:a="http://schemas.openxmlformats.org/drawingml/2006/main">
            <a:pPr algn="l">
              <a:defRPr sz="2925" b="0">
                <a:solidFill>
                  <a:srgbClr val="526675"/>
                </a:solidFill>
                <a:latin typeface="Calibri"/>
                <a:ea typeface="Calibri"/>
                <a:cs typeface="Calibri"/>
              </a:defRPr>
            </a:pPr>
            <a:r>
              <a:rPr sz="2925" b="0">
                <a:solidFill>
                  <a:srgbClr val="526675"/>
                </a:solidFill>
                <a:latin typeface="Calibri"/>
                <a:ea typeface="Calibri"/>
                <a:cs typeface="Calibri"/>
              </a:rPr>
              <a:t>2 × PYNQ-ZU + 2 × AD-FMCOMMS3.</a:t>
            </a:r>
          </a:p>
        </p:txBody>
      </p:sp>
      <p:sp>
        <p:nvSpPr>
          <p:cNvPr id="13" name="text-10">
            <a:extLst xmlns:a="http://schemas.openxmlformats.org/drawingml/2006/main">
              <a:ext uri="{FF2B5EF4-FFF2-40B4-BE49-F238E27FC236}">
                <a16:creationId xmlns:a16="http://schemas.microsoft.com/office/drawing/2014/main" id="{10DBB9F3-B103-4BC9-A1DD-E8F6FAAF9FAE}"/>
              </a:ext>
            </a:extLst>
          </p:cNvPr>
          <p:cNvSpPr>
            <a:spLocks xmlns:a="http://schemas.openxmlformats.org/drawingml/2006/main" noGrp="1"/>
          </p:cNvSpPr>
          <p:nvPr/>
        </p:nvSpPr>
        <p:spPr>
          <a:xfrm xmlns:a="http://schemas.openxmlformats.org/drawingml/2006/main">
            <a:off x="1257300" y="16383000"/>
            <a:ext cx="342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75" b="1">
                <a:solidFill>
                  <a:srgbClr val="0B4F8A"/>
                </a:solidFill>
                <a:latin typeface="Calibri"/>
                <a:ea typeface="Calibri"/>
                <a:cs typeface="Calibri"/>
              </a:defRPr>
            </a:defPPr>
          </a:lstStyle>
          <a:p xmlns:a="http://schemas.openxmlformats.org/drawingml/2006/main">
            <a:pPr algn="ctr">
              <a:defRPr sz="3375" b="1">
                <a:solidFill>
                  <a:srgbClr val="0B4F8A"/>
                </a:solidFill>
                <a:latin typeface="Calibri"/>
                <a:ea typeface="Calibri"/>
                <a:cs typeface="Calibri"/>
              </a:defRPr>
            </a:pPr>
            <a:r>
              <a:rPr sz="3375" b="1">
                <a:solidFill>
                  <a:srgbClr val="0B4F8A"/>
                </a:solidFill>
                <a:latin typeface="Calibri"/>
                <a:ea typeface="Calibri"/>
                <a:cs typeface="Calibri"/>
              </a:rPr>
              <a:t>TX board</a:t>
            </a:r>
          </a:p>
        </p:txBody>
      </p:sp>
      <p:sp>
        <p:nvSpPr>
          <p:cNvPr id="14" name="text-11">
            <a:extLst xmlns:a="http://schemas.openxmlformats.org/drawingml/2006/main">
              <a:ext uri="{FF2B5EF4-FFF2-40B4-BE49-F238E27FC236}">
                <a16:creationId xmlns:a16="http://schemas.microsoft.com/office/drawing/2014/main" id="{82797CFF-293C-4F16-81D5-C65865BCC0EB}"/>
              </a:ext>
            </a:extLst>
          </p:cNvPr>
          <p:cNvSpPr>
            <a:spLocks xmlns:a="http://schemas.openxmlformats.org/drawingml/2006/main" noGrp="1"/>
          </p:cNvSpPr>
          <p:nvPr/>
        </p:nvSpPr>
        <p:spPr>
          <a:xfrm xmlns:a="http://schemas.openxmlformats.org/drawingml/2006/main">
            <a:off x="6019800" y="16383000"/>
            <a:ext cx="342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75" b="1">
                <a:solidFill>
                  <a:srgbClr val="0B4F8A"/>
                </a:solidFill>
                <a:latin typeface="Calibri"/>
                <a:ea typeface="Calibri"/>
                <a:cs typeface="Calibri"/>
              </a:defRPr>
            </a:defPPr>
          </a:lstStyle>
          <a:p xmlns:a="http://schemas.openxmlformats.org/drawingml/2006/main">
            <a:pPr algn="ctr">
              <a:defRPr sz="3375" b="1">
                <a:solidFill>
                  <a:srgbClr val="0B4F8A"/>
                </a:solidFill>
                <a:latin typeface="Calibri"/>
                <a:ea typeface="Calibri"/>
                <a:cs typeface="Calibri"/>
              </a:defRPr>
            </a:pPr>
            <a:r>
              <a:rPr sz="3375" b="1">
                <a:solidFill>
                  <a:srgbClr val="0B4F8A"/>
                </a:solidFill>
                <a:latin typeface="Calibri"/>
                <a:ea typeface="Calibri"/>
                <a:cs typeface="Calibri"/>
              </a:rPr>
              <a:t>RX board</a:t>
            </a:r>
          </a:p>
        </p:txBody>
      </p:sp>
      <p:sp>
        <p:nvSpPr>
          <p:cNvPr id="15" name="module-Camera / video">
            <a:extLst xmlns:a="http://schemas.openxmlformats.org/drawingml/2006/main">
              <a:ext uri="{FF2B5EF4-FFF2-40B4-BE49-F238E27FC236}">
                <a16:creationId xmlns:a16="http://schemas.microsoft.com/office/drawing/2014/main" id="{DB06A9C1-B08A-4FB4-BD6E-1B0ED059A9E6}"/>
              </a:ext>
            </a:extLst>
          </p:cNvPr>
          <p:cNvSpPr>
            <a:spLocks xmlns:a="http://schemas.openxmlformats.org/drawingml/2006/main" noGrp="1"/>
          </p:cNvSpPr>
          <p:nvPr/>
        </p:nvSpPr>
        <p:spPr>
          <a:xfrm xmlns:a="http://schemas.openxmlformats.org/drawingml/2006/main">
            <a:off x="1162050" y="17145000"/>
            <a:ext cx="3524250" cy="1257300"/>
          </a:xfrm>
          <a:prstGeom xmlns:a="http://schemas.openxmlformats.org/drawingml/2006/main" prst="rect">
            <a:avLst/>
          </a:prstGeom>
          <a:solidFill xmlns:a="http://schemas.openxmlformats.org/drawingml/2006/main">
            <a:srgbClr val="EAF1DE"/>
          </a:solidFill>
          <a:ln xmlns:a="http://schemas.openxmlformats.org/drawingml/2006/main" w="22860">
            <a:solidFill>
              <a:srgbClr val="0B4F8A"/>
            </a:solidFill>
          </a:ln>
        </p:spPr>
        <p:txBody xmlns:a="http://schemas.openxmlformats.org/drawingml/2006/main">
          <a:bodyPr/>
          <a:p/>
        </p:txBody>
      </p:sp>
      <p:sp>
        <p:nvSpPr>
          <p:cNvPr id="16" name="text-12">
            <a:extLst xmlns:a="http://schemas.openxmlformats.org/drawingml/2006/main">
              <a:ext uri="{FF2B5EF4-FFF2-40B4-BE49-F238E27FC236}">
                <a16:creationId xmlns:a16="http://schemas.microsoft.com/office/drawing/2014/main" id="{629FE13A-7AC9-492B-A8E6-A51E3F5C18D9}"/>
              </a:ext>
            </a:extLst>
          </p:cNvPr>
          <p:cNvSpPr>
            <a:spLocks xmlns:a="http://schemas.openxmlformats.org/drawingml/2006/main" noGrp="1"/>
          </p:cNvSpPr>
          <p:nvPr/>
        </p:nvSpPr>
        <p:spPr>
          <a:xfrm xmlns:a="http://schemas.openxmlformats.org/drawingml/2006/main">
            <a:off x="1276350" y="1729740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Camera / video</a:t>
            </a:r>
          </a:p>
        </p:txBody>
      </p:sp>
      <p:sp>
        <p:nvSpPr>
          <p:cNvPr id="17" name="text-13">
            <a:extLst xmlns:a="http://schemas.openxmlformats.org/drawingml/2006/main">
              <a:ext uri="{FF2B5EF4-FFF2-40B4-BE49-F238E27FC236}">
                <a16:creationId xmlns:a16="http://schemas.microsoft.com/office/drawing/2014/main" id="{802BE905-7070-4B7C-971A-C16598CA94E3}"/>
              </a:ext>
            </a:extLst>
          </p:cNvPr>
          <p:cNvSpPr>
            <a:spLocks xmlns:a="http://schemas.openxmlformats.org/drawingml/2006/main" noGrp="1"/>
          </p:cNvSpPr>
          <p:nvPr/>
        </p:nvSpPr>
        <p:spPr>
          <a:xfrm xmlns:a="http://schemas.openxmlformats.org/drawingml/2006/main">
            <a:off x="1276350" y="17830800"/>
            <a:ext cx="329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256 × 256 RGB</a:t>
            </a:r>
          </a:p>
        </p:txBody>
      </p:sp>
      <p:sp>
        <p:nvSpPr>
          <p:cNvPr id="18" name="module-CNN encoder">
            <a:extLst xmlns:a="http://schemas.openxmlformats.org/drawingml/2006/main">
              <a:ext uri="{FF2B5EF4-FFF2-40B4-BE49-F238E27FC236}">
                <a16:creationId xmlns:a16="http://schemas.microsoft.com/office/drawing/2014/main" id="{5A38F12B-E136-465B-BC95-57EEBE4731A4}"/>
              </a:ext>
            </a:extLst>
          </p:cNvPr>
          <p:cNvSpPr>
            <a:spLocks xmlns:a="http://schemas.openxmlformats.org/drawingml/2006/main" noGrp="1"/>
          </p:cNvSpPr>
          <p:nvPr/>
        </p:nvSpPr>
        <p:spPr>
          <a:xfrm xmlns:a="http://schemas.openxmlformats.org/drawingml/2006/main">
            <a:off x="1162050" y="18764250"/>
            <a:ext cx="3524250" cy="1257300"/>
          </a:xfrm>
          <a:prstGeom xmlns:a="http://schemas.openxmlformats.org/drawingml/2006/main" prst="rect">
            <a:avLst/>
          </a:prstGeom>
          <a:solidFill xmlns:a="http://schemas.openxmlformats.org/drawingml/2006/main">
            <a:srgbClr val="FFF3CC"/>
          </a:solidFill>
          <a:ln xmlns:a="http://schemas.openxmlformats.org/drawingml/2006/main" w="22860">
            <a:solidFill>
              <a:srgbClr val="0B4F8A"/>
            </a:solidFill>
          </a:ln>
        </p:spPr>
        <p:txBody xmlns:a="http://schemas.openxmlformats.org/drawingml/2006/main">
          <a:bodyPr/>
          <a:p/>
        </p:txBody>
      </p:sp>
      <p:sp>
        <p:nvSpPr>
          <p:cNvPr id="19" name="text-14">
            <a:extLst xmlns:a="http://schemas.openxmlformats.org/drawingml/2006/main">
              <a:ext uri="{FF2B5EF4-FFF2-40B4-BE49-F238E27FC236}">
                <a16:creationId xmlns:a16="http://schemas.microsoft.com/office/drawing/2014/main" id="{54FD60AD-108B-46E1-A43D-F46B6B8746D4}"/>
              </a:ext>
            </a:extLst>
          </p:cNvPr>
          <p:cNvSpPr>
            <a:spLocks xmlns:a="http://schemas.openxmlformats.org/drawingml/2006/main" noGrp="1"/>
          </p:cNvSpPr>
          <p:nvPr/>
        </p:nvSpPr>
        <p:spPr>
          <a:xfrm xmlns:a="http://schemas.openxmlformats.org/drawingml/2006/main">
            <a:off x="1276350" y="1891665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CNN encoder</a:t>
            </a:r>
          </a:p>
        </p:txBody>
      </p:sp>
      <p:sp>
        <p:nvSpPr>
          <p:cNvPr id="20" name="text-15">
            <a:extLst xmlns:a="http://schemas.openxmlformats.org/drawingml/2006/main">
              <a:ext uri="{FF2B5EF4-FFF2-40B4-BE49-F238E27FC236}">
                <a16:creationId xmlns:a16="http://schemas.microsoft.com/office/drawing/2014/main" id="{71FF6179-E0C1-4B9C-9761-4A021796542E}"/>
              </a:ext>
            </a:extLst>
          </p:cNvPr>
          <p:cNvSpPr>
            <a:spLocks xmlns:a="http://schemas.openxmlformats.org/drawingml/2006/main" noGrp="1"/>
          </p:cNvSpPr>
          <p:nvPr/>
        </p:nvSpPr>
        <p:spPr>
          <a:xfrm xmlns:a="http://schemas.openxmlformats.org/drawingml/2006/main">
            <a:off x="1276350" y="19450050"/>
            <a:ext cx="329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W8A12, 250 MHz</a:t>
            </a:r>
          </a:p>
        </p:txBody>
      </p:sp>
      <p:sp>
        <p:nvSpPr>
          <p:cNvPr id="21" name="module-OFDM TX">
            <a:extLst xmlns:a="http://schemas.openxmlformats.org/drawingml/2006/main">
              <a:ext uri="{FF2B5EF4-FFF2-40B4-BE49-F238E27FC236}">
                <a16:creationId xmlns:a16="http://schemas.microsoft.com/office/drawing/2014/main" id="{3B22B5B2-42B4-460D-8837-AA3DA6A4B890}"/>
              </a:ext>
            </a:extLst>
          </p:cNvPr>
          <p:cNvSpPr>
            <a:spLocks xmlns:a="http://schemas.openxmlformats.org/drawingml/2006/main" noGrp="1"/>
          </p:cNvSpPr>
          <p:nvPr/>
        </p:nvSpPr>
        <p:spPr>
          <a:xfrm xmlns:a="http://schemas.openxmlformats.org/drawingml/2006/main">
            <a:off x="1162050" y="20383500"/>
            <a:ext cx="3524250" cy="1257300"/>
          </a:xfrm>
          <a:prstGeom xmlns:a="http://schemas.openxmlformats.org/drawingml/2006/main" prst="rect">
            <a:avLst/>
          </a:prstGeom>
          <a:solidFill xmlns:a="http://schemas.openxmlformats.org/drawingml/2006/main">
            <a:srgbClr val="EEF4F8"/>
          </a:solidFill>
          <a:ln xmlns:a="http://schemas.openxmlformats.org/drawingml/2006/main" w="22860">
            <a:solidFill>
              <a:srgbClr val="0B4F8A"/>
            </a:solidFill>
          </a:ln>
        </p:spPr>
        <p:txBody xmlns:a="http://schemas.openxmlformats.org/drawingml/2006/main">
          <a:bodyPr/>
          <a:p/>
        </p:txBody>
      </p:sp>
      <p:sp>
        <p:nvSpPr>
          <p:cNvPr id="22" name="text-16">
            <a:extLst xmlns:a="http://schemas.openxmlformats.org/drawingml/2006/main">
              <a:ext uri="{FF2B5EF4-FFF2-40B4-BE49-F238E27FC236}">
                <a16:creationId xmlns:a16="http://schemas.microsoft.com/office/drawing/2014/main" id="{401E7EB7-2AC9-433E-8701-FF5D9C5D9D3E}"/>
              </a:ext>
            </a:extLst>
          </p:cNvPr>
          <p:cNvSpPr>
            <a:spLocks xmlns:a="http://schemas.openxmlformats.org/drawingml/2006/main" noGrp="1"/>
          </p:cNvSpPr>
          <p:nvPr/>
        </p:nvSpPr>
        <p:spPr>
          <a:xfrm xmlns:a="http://schemas.openxmlformats.org/drawingml/2006/main">
            <a:off x="1276350" y="2053590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OFDM TX</a:t>
            </a:r>
          </a:p>
        </p:txBody>
      </p:sp>
      <p:sp>
        <p:nvSpPr>
          <p:cNvPr id="23" name="text-17">
            <a:extLst xmlns:a="http://schemas.openxmlformats.org/drawingml/2006/main">
              <a:ext uri="{FF2B5EF4-FFF2-40B4-BE49-F238E27FC236}">
                <a16:creationId xmlns:a16="http://schemas.microsoft.com/office/drawing/2014/main" id="{1E883D4B-8EEA-4BD7-A6F7-EE5EB3E6A70C}"/>
              </a:ext>
            </a:extLst>
          </p:cNvPr>
          <p:cNvSpPr>
            <a:spLocks xmlns:a="http://schemas.openxmlformats.org/drawingml/2006/main" noGrp="1"/>
          </p:cNvSpPr>
          <p:nvPr/>
        </p:nvSpPr>
        <p:spPr>
          <a:xfrm xmlns:a="http://schemas.openxmlformats.org/drawingml/2006/main">
            <a:off x="1276350" y="21069300"/>
            <a:ext cx="329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Frame buffer + IFFT</a:t>
            </a:r>
          </a:p>
        </p:txBody>
      </p:sp>
      <p:sp>
        <p:nvSpPr>
          <p:cNvPr id="24" name="module-AD9361">
            <a:extLst xmlns:a="http://schemas.openxmlformats.org/drawingml/2006/main">
              <a:ext uri="{FF2B5EF4-FFF2-40B4-BE49-F238E27FC236}">
                <a16:creationId xmlns:a16="http://schemas.microsoft.com/office/drawing/2014/main" id="{CF4DBF39-E6F7-463A-B711-BC54ECD96707}"/>
              </a:ext>
            </a:extLst>
          </p:cNvPr>
          <p:cNvSpPr>
            <a:spLocks xmlns:a="http://schemas.openxmlformats.org/drawingml/2006/main" noGrp="1"/>
          </p:cNvSpPr>
          <p:nvPr/>
        </p:nvSpPr>
        <p:spPr>
          <a:xfrm xmlns:a="http://schemas.openxmlformats.org/drawingml/2006/main">
            <a:off x="1162050" y="22002750"/>
            <a:ext cx="3524250" cy="1257300"/>
          </a:xfrm>
          <a:prstGeom xmlns:a="http://schemas.openxmlformats.org/drawingml/2006/main" prst="rect">
            <a:avLst/>
          </a:prstGeom>
          <a:solidFill xmlns:a="http://schemas.openxmlformats.org/drawingml/2006/main">
            <a:srgbClr val="EEF4F8"/>
          </a:solidFill>
          <a:ln xmlns:a="http://schemas.openxmlformats.org/drawingml/2006/main" w="22860">
            <a:solidFill>
              <a:srgbClr val="0B4F8A"/>
            </a:solidFill>
          </a:ln>
        </p:spPr>
        <p:txBody xmlns:a="http://schemas.openxmlformats.org/drawingml/2006/main">
          <a:bodyPr/>
          <a:p/>
        </p:txBody>
      </p:sp>
      <p:sp>
        <p:nvSpPr>
          <p:cNvPr id="25" name="text-18">
            <a:extLst xmlns:a="http://schemas.openxmlformats.org/drawingml/2006/main">
              <a:ext uri="{FF2B5EF4-FFF2-40B4-BE49-F238E27FC236}">
                <a16:creationId xmlns:a16="http://schemas.microsoft.com/office/drawing/2014/main" id="{A038D072-A13B-451F-9EC6-CC7D19B4725D}"/>
              </a:ext>
            </a:extLst>
          </p:cNvPr>
          <p:cNvSpPr>
            <a:spLocks xmlns:a="http://schemas.openxmlformats.org/drawingml/2006/main" noGrp="1"/>
          </p:cNvSpPr>
          <p:nvPr/>
        </p:nvSpPr>
        <p:spPr>
          <a:xfrm xmlns:a="http://schemas.openxmlformats.org/drawingml/2006/main">
            <a:off x="1276350" y="2215515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AD9361</a:t>
            </a:r>
          </a:p>
        </p:txBody>
      </p:sp>
      <p:sp>
        <p:nvSpPr>
          <p:cNvPr id="26" name="text-19">
            <a:extLst xmlns:a="http://schemas.openxmlformats.org/drawingml/2006/main">
              <a:ext uri="{FF2B5EF4-FFF2-40B4-BE49-F238E27FC236}">
                <a16:creationId xmlns:a16="http://schemas.microsoft.com/office/drawing/2014/main" id="{1F8316CB-B1EE-485F-B3D6-A1203A518D0D}"/>
              </a:ext>
            </a:extLst>
          </p:cNvPr>
          <p:cNvSpPr>
            <a:spLocks xmlns:a="http://schemas.openxmlformats.org/drawingml/2006/main" noGrp="1"/>
          </p:cNvSpPr>
          <p:nvPr/>
        </p:nvSpPr>
        <p:spPr>
          <a:xfrm xmlns:a="http://schemas.openxmlformats.org/drawingml/2006/main">
            <a:off x="1276350" y="22688550"/>
            <a:ext cx="329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20 MSPS</a:t>
            </a:r>
          </a:p>
        </p:txBody>
      </p:sp>
      <p:sp>
        <p:nvSpPr>
          <p:cNvPr id="27" name="module-Touch-screen GUI">
            <a:extLst xmlns:a="http://schemas.openxmlformats.org/drawingml/2006/main">
              <a:ext uri="{FF2B5EF4-FFF2-40B4-BE49-F238E27FC236}">
                <a16:creationId xmlns:a16="http://schemas.microsoft.com/office/drawing/2014/main" id="{4AD06F7F-0907-4FFE-9F60-751C6CBF58DB}"/>
              </a:ext>
            </a:extLst>
          </p:cNvPr>
          <p:cNvSpPr>
            <a:spLocks xmlns:a="http://schemas.openxmlformats.org/drawingml/2006/main" noGrp="1"/>
          </p:cNvSpPr>
          <p:nvPr/>
        </p:nvSpPr>
        <p:spPr>
          <a:xfrm xmlns:a="http://schemas.openxmlformats.org/drawingml/2006/main">
            <a:off x="6019800" y="17145000"/>
            <a:ext cx="3524250" cy="1257300"/>
          </a:xfrm>
          <a:prstGeom xmlns:a="http://schemas.openxmlformats.org/drawingml/2006/main" prst="rect">
            <a:avLst/>
          </a:prstGeom>
          <a:solidFill xmlns:a="http://schemas.openxmlformats.org/drawingml/2006/main">
            <a:srgbClr val="EAF1DE"/>
          </a:solidFill>
          <a:ln xmlns:a="http://schemas.openxmlformats.org/drawingml/2006/main" w="22860">
            <a:solidFill>
              <a:srgbClr val="0B4F8A"/>
            </a:solidFill>
          </a:ln>
        </p:spPr>
        <p:txBody xmlns:a="http://schemas.openxmlformats.org/drawingml/2006/main">
          <a:bodyPr/>
          <a:p/>
        </p:txBody>
      </p:sp>
      <p:sp>
        <p:nvSpPr>
          <p:cNvPr id="28" name="text-20">
            <a:extLst xmlns:a="http://schemas.openxmlformats.org/drawingml/2006/main">
              <a:ext uri="{FF2B5EF4-FFF2-40B4-BE49-F238E27FC236}">
                <a16:creationId xmlns:a16="http://schemas.microsoft.com/office/drawing/2014/main" id="{F6E1686A-9C4C-450A-8CDD-1DA313839837}"/>
              </a:ext>
            </a:extLst>
          </p:cNvPr>
          <p:cNvSpPr>
            <a:spLocks xmlns:a="http://schemas.openxmlformats.org/drawingml/2006/main" noGrp="1"/>
          </p:cNvSpPr>
          <p:nvPr/>
        </p:nvSpPr>
        <p:spPr>
          <a:xfrm xmlns:a="http://schemas.openxmlformats.org/drawingml/2006/main">
            <a:off x="6134100" y="1729740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Touch-screen GUI</a:t>
            </a:r>
          </a:p>
        </p:txBody>
      </p:sp>
      <p:sp>
        <p:nvSpPr>
          <p:cNvPr id="29" name="text-21">
            <a:extLst xmlns:a="http://schemas.openxmlformats.org/drawingml/2006/main">
              <a:ext uri="{FF2B5EF4-FFF2-40B4-BE49-F238E27FC236}">
                <a16:creationId xmlns:a16="http://schemas.microsoft.com/office/drawing/2014/main" id="{67698D97-94C6-429C-8543-E9D9B843C56A}"/>
              </a:ext>
            </a:extLst>
          </p:cNvPr>
          <p:cNvSpPr>
            <a:spLocks xmlns:a="http://schemas.openxmlformats.org/drawingml/2006/main" noGrp="1"/>
          </p:cNvSpPr>
          <p:nvPr/>
        </p:nvSpPr>
        <p:spPr>
          <a:xfrm xmlns:a="http://schemas.openxmlformats.org/drawingml/2006/main">
            <a:off x="6134100" y="17830800"/>
            <a:ext cx="329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Image + PHY status</a:t>
            </a:r>
          </a:p>
        </p:txBody>
      </p:sp>
      <p:sp>
        <p:nvSpPr>
          <p:cNvPr id="30" name="module-CNN decoder">
            <a:extLst xmlns:a="http://schemas.openxmlformats.org/drawingml/2006/main">
              <a:ext uri="{FF2B5EF4-FFF2-40B4-BE49-F238E27FC236}">
                <a16:creationId xmlns:a16="http://schemas.microsoft.com/office/drawing/2014/main" id="{724DB77E-CA95-4D1F-A614-0867A77ED048}"/>
              </a:ext>
            </a:extLst>
          </p:cNvPr>
          <p:cNvSpPr>
            <a:spLocks xmlns:a="http://schemas.openxmlformats.org/drawingml/2006/main" noGrp="1"/>
          </p:cNvSpPr>
          <p:nvPr/>
        </p:nvSpPr>
        <p:spPr>
          <a:xfrm xmlns:a="http://schemas.openxmlformats.org/drawingml/2006/main">
            <a:off x="6019800" y="18764250"/>
            <a:ext cx="3524250" cy="1257300"/>
          </a:xfrm>
          <a:prstGeom xmlns:a="http://schemas.openxmlformats.org/drawingml/2006/main" prst="rect">
            <a:avLst/>
          </a:prstGeom>
          <a:solidFill xmlns:a="http://schemas.openxmlformats.org/drawingml/2006/main">
            <a:srgbClr val="FFF3CC"/>
          </a:solidFill>
          <a:ln xmlns:a="http://schemas.openxmlformats.org/drawingml/2006/main" w="22860">
            <a:solidFill>
              <a:srgbClr val="0B4F8A"/>
            </a:solidFill>
          </a:ln>
        </p:spPr>
        <p:txBody xmlns:a="http://schemas.openxmlformats.org/drawingml/2006/main">
          <a:bodyPr/>
          <a:p/>
        </p:txBody>
      </p:sp>
      <p:sp>
        <p:nvSpPr>
          <p:cNvPr id="31" name="text-22">
            <a:extLst xmlns:a="http://schemas.openxmlformats.org/drawingml/2006/main">
              <a:ext uri="{FF2B5EF4-FFF2-40B4-BE49-F238E27FC236}">
                <a16:creationId xmlns:a16="http://schemas.microsoft.com/office/drawing/2014/main" id="{B06EDAA8-958F-4AAC-8812-9C14F5FDB7A5}"/>
              </a:ext>
            </a:extLst>
          </p:cNvPr>
          <p:cNvSpPr>
            <a:spLocks xmlns:a="http://schemas.openxmlformats.org/drawingml/2006/main" noGrp="1"/>
          </p:cNvSpPr>
          <p:nvPr/>
        </p:nvSpPr>
        <p:spPr>
          <a:xfrm xmlns:a="http://schemas.openxmlformats.org/drawingml/2006/main">
            <a:off x="6134100" y="1891665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CNN decoder</a:t>
            </a:r>
          </a:p>
        </p:txBody>
      </p:sp>
      <p:sp>
        <p:nvSpPr>
          <p:cNvPr id="32" name="text-23">
            <a:extLst xmlns:a="http://schemas.openxmlformats.org/drawingml/2006/main">
              <a:ext uri="{FF2B5EF4-FFF2-40B4-BE49-F238E27FC236}">
                <a16:creationId xmlns:a16="http://schemas.microsoft.com/office/drawing/2014/main" id="{AFA9401D-922B-4CDD-AD4F-F42D1E520D26}"/>
              </a:ext>
            </a:extLst>
          </p:cNvPr>
          <p:cNvSpPr>
            <a:spLocks xmlns:a="http://schemas.openxmlformats.org/drawingml/2006/main" noGrp="1"/>
          </p:cNvSpPr>
          <p:nvPr/>
        </p:nvSpPr>
        <p:spPr>
          <a:xfrm xmlns:a="http://schemas.openxmlformats.org/drawingml/2006/main">
            <a:off x="6134100" y="19450050"/>
            <a:ext cx="329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Continuous soft I/Q</a:t>
            </a:r>
          </a:p>
        </p:txBody>
      </p:sp>
      <p:sp>
        <p:nvSpPr>
          <p:cNvPr id="33" name="module-OFDM RX">
            <a:extLst xmlns:a="http://schemas.openxmlformats.org/drawingml/2006/main">
              <a:ext uri="{FF2B5EF4-FFF2-40B4-BE49-F238E27FC236}">
                <a16:creationId xmlns:a16="http://schemas.microsoft.com/office/drawing/2014/main" id="{18AB681E-7B0C-4D28-973A-678E6ABF2DAB}"/>
              </a:ext>
            </a:extLst>
          </p:cNvPr>
          <p:cNvSpPr>
            <a:spLocks xmlns:a="http://schemas.openxmlformats.org/drawingml/2006/main" noGrp="1"/>
          </p:cNvSpPr>
          <p:nvPr/>
        </p:nvSpPr>
        <p:spPr>
          <a:xfrm xmlns:a="http://schemas.openxmlformats.org/drawingml/2006/main">
            <a:off x="6019800" y="20383500"/>
            <a:ext cx="3524250" cy="1257300"/>
          </a:xfrm>
          <a:prstGeom xmlns:a="http://schemas.openxmlformats.org/drawingml/2006/main" prst="rect">
            <a:avLst/>
          </a:prstGeom>
          <a:solidFill xmlns:a="http://schemas.openxmlformats.org/drawingml/2006/main">
            <a:srgbClr val="EEF4F8"/>
          </a:solidFill>
          <a:ln xmlns:a="http://schemas.openxmlformats.org/drawingml/2006/main" w="22860">
            <a:solidFill>
              <a:srgbClr val="0B4F8A"/>
            </a:solidFill>
          </a:ln>
        </p:spPr>
        <p:txBody xmlns:a="http://schemas.openxmlformats.org/drawingml/2006/main">
          <a:bodyPr/>
          <a:p/>
        </p:txBody>
      </p:sp>
      <p:sp>
        <p:nvSpPr>
          <p:cNvPr id="34" name="text-24">
            <a:extLst xmlns:a="http://schemas.openxmlformats.org/drawingml/2006/main">
              <a:ext uri="{FF2B5EF4-FFF2-40B4-BE49-F238E27FC236}">
                <a16:creationId xmlns:a16="http://schemas.microsoft.com/office/drawing/2014/main" id="{FD217BFD-7D55-4AEC-8442-F0A8EC2D0870}"/>
              </a:ext>
            </a:extLst>
          </p:cNvPr>
          <p:cNvSpPr>
            <a:spLocks xmlns:a="http://schemas.openxmlformats.org/drawingml/2006/main" noGrp="1"/>
          </p:cNvSpPr>
          <p:nvPr/>
        </p:nvSpPr>
        <p:spPr>
          <a:xfrm xmlns:a="http://schemas.openxmlformats.org/drawingml/2006/main">
            <a:off x="6134100" y="2053590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OFDM RX</a:t>
            </a:r>
          </a:p>
        </p:txBody>
      </p:sp>
      <p:sp>
        <p:nvSpPr>
          <p:cNvPr id="35" name="text-25">
            <a:extLst xmlns:a="http://schemas.openxmlformats.org/drawingml/2006/main">
              <a:ext uri="{FF2B5EF4-FFF2-40B4-BE49-F238E27FC236}">
                <a16:creationId xmlns:a16="http://schemas.microsoft.com/office/drawing/2014/main" id="{8A2EBF96-CCFA-4EAF-9501-A096F8FD5070}"/>
              </a:ext>
            </a:extLst>
          </p:cNvPr>
          <p:cNvSpPr>
            <a:spLocks xmlns:a="http://schemas.openxmlformats.org/drawingml/2006/main" noGrp="1"/>
          </p:cNvSpPr>
          <p:nvPr/>
        </p:nvSpPr>
        <p:spPr>
          <a:xfrm xmlns:a="http://schemas.openxmlformats.org/drawingml/2006/main">
            <a:off x="6134100" y="21069300"/>
            <a:ext cx="329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Sync + equalization</a:t>
            </a:r>
          </a:p>
        </p:txBody>
      </p:sp>
      <p:sp>
        <p:nvSpPr>
          <p:cNvPr id="36" name="module-AD9361">
            <a:extLst xmlns:a="http://schemas.openxmlformats.org/drawingml/2006/main">
              <a:ext uri="{FF2B5EF4-FFF2-40B4-BE49-F238E27FC236}">
                <a16:creationId xmlns:a16="http://schemas.microsoft.com/office/drawing/2014/main" id="{33AD4743-95CE-41A5-855D-0C07B91FB9E3}"/>
              </a:ext>
            </a:extLst>
          </p:cNvPr>
          <p:cNvSpPr>
            <a:spLocks xmlns:a="http://schemas.openxmlformats.org/drawingml/2006/main" noGrp="1"/>
          </p:cNvSpPr>
          <p:nvPr/>
        </p:nvSpPr>
        <p:spPr>
          <a:xfrm xmlns:a="http://schemas.openxmlformats.org/drawingml/2006/main">
            <a:off x="6019800" y="22002750"/>
            <a:ext cx="3524250" cy="1257300"/>
          </a:xfrm>
          <a:prstGeom xmlns:a="http://schemas.openxmlformats.org/drawingml/2006/main" prst="rect">
            <a:avLst/>
          </a:prstGeom>
          <a:solidFill xmlns:a="http://schemas.openxmlformats.org/drawingml/2006/main">
            <a:srgbClr val="EEF4F8"/>
          </a:solidFill>
          <a:ln xmlns:a="http://schemas.openxmlformats.org/drawingml/2006/main" w="22860">
            <a:solidFill>
              <a:srgbClr val="0B4F8A"/>
            </a:solidFill>
          </a:ln>
        </p:spPr>
        <p:txBody xmlns:a="http://schemas.openxmlformats.org/drawingml/2006/main">
          <a:bodyPr/>
          <a:p/>
        </p:txBody>
      </p:sp>
      <p:sp>
        <p:nvSpPr>
          <p:cNvPr id="37" name="text-26">
            <a:extLst xmlns:a="http://schemas.openxmlformats.org/drawingml/2006/main">
              <a:ext uri="{FF2B5EF4-FFF2-40B4-BE49-F238E27FC236}">
                <a16:creationId xmlns:a16="http://schemas.microsoft.com/office/drawing/2014/main" id="{FFCDC9CE-E0DD-4637-904A-01DC42A586B0}"/>
              </a:ext>
            </a:extLst>
          </p:cNvPr>
          <p:cNvSpPr>
            <a:spLocks xmlns:a="http://schemas.openxmlformats.org/drawingml/2006/main" noGrp="1"/>
          </p:cNvSpPr>
          <p:nvPr/>
        </p:nvSpPr>
        <p:spPr>
          <a:xfrm xmlns:a="http://schemas.openxmlformats.org/drawingml/2006/main">
            <a:off x="6134100" y="2215515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AD9361</a:t>
            </a:r>
          </a:p>
        </p:txBody>
      </p:sp>
      <p:sp>
        <p:nvSpPr>
          <p:cNvPr id="38" name="text-27">
            <a:extLst xmlns:a="http://schemas.openxmlformats.org/drawingml/2006/main">
              <a:ext uri="{FF2B5EF4-FFF2-40B4-BE49-F238E27FC236}">
                <a16:creationId xmlns:a16="http://schemas.microsoft.com/office/drawing/2014/main" id="{B773C5C8-8FC0-49F5-A436-8A204233E61A}"/>
              </a:ext>
            </a:extLst>
          </p:cNvPr>
          <p:cNvSpPr>
            <a:spLocks xmlns:a="http://schemas.openxmlformats.org/drawingml/2006/main" noGrp="1"/>
          </p:cNvSpPr>
          <p:nvPr/>
        </p:nvSpPr>
        <p:spPr>
          <a:xfrm xmlns:a="http://schemas.openxmlformats.org/drawingml/2006/main">
            <a:off x="6134100" y="22688550"/>
            <a:ext cx="329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Fast AGC</a:t>
            </a:r>
          </a:p>
        </p:txBody>
      </p:sp>
      <p:sp>
        <p:nvSpPr>
          <p:cNvPr id="46" name="air label above wireless link">
            <a:extLst xmlns:a="http://schemas.openxmlformats.org/drawingml/2006/main">
              <a:ext uri="{FF2B5EF4-FFF2-40B4-BE49-F238E27FC236}">
                <a16:creationId xmlns:a16="http://schemas.microsoft.com/office/drawing/2014/main" id="{07A84789-50FB-4C19-BB24-597B1FE101ED}"/>
              </a:ext>
            </a:extLst>
          </p:cNvPr>
          <p:cNvSpPr>
            <a:spLocks xmlns:a="http://schemas.openxmlformats.org/drawingml/2006/main" noGrp="1"/>
          </p:cNvSpPr>
          <p:nvPr/>
        </p:nvSpPr>
        <p:spPr>
          <a:xfrm xmlns:a="http://schemas.openxmlformats.org/drawingml/2006/main">
            <a:off x="4686300" y="21964650"/>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850" b="1">
                <a:solidFill>
                  <a:srgbClr val="D9531E"/>
                </a:solidFill>
                <a:latin typeface="Calibri"/>
                <a:ea typeface="Calibri"/>
                <a:cs typeface="Calibri"/>
              </a:defRPr>
            </a:defPPr>
          </a:lstStyle>
          <a:p xmlns:a="http://schemas.openxmlformats.org/drawingml/2006/main">
            <a:pPr algn="ctr">
              <a:defRPr sz="2850" b="1">
                <a:solidFill>
                  <a:srgbClr val="D9531E"/>
                </a:solidFill>
                <a:latin typeface="Calibri"/>
                <a:ea typeface="Calibri"/>
                <a:cs typeface="Calibri"/>
              </a:defRPr>
            </a:pPr>
            <a:r>
              <a:rPr sz="2850" b="1">
                <a:solidFill>
                  <a:srgbClr val="D9531E"/>
                </a:solidFill>
                <a:latin typeface="Calibri"/>
                <a:ea typeface="Calibri"/>
                <a:cs typeface="Calibri"/>
              </a:rPr>
              <a:t>air</a:t>
            </a:r>
          </a:p>
        </p:txBody>
      </p:sp>
      <p:sp>
        <p:nvSpPr>
          <p:cNvPr id="47" name="text-28">
            <a:extLst xmlns:a="http://schemas.openxmlformats.org/drawingml/2006/main">
              <a:ext uri="{FF2B5EF4-FFF2-40B4-BE49-F238E27FC236}">
                <a16:creationId xmlns:a16="http://schemas.microsoft.com/office/drawing/2014/main" id="{29F78B83-F0AE-4974-82AC-2B10127A9CD9}"/>
              </a:ext>
            </a:extLst>
          </p:cNvPr>
          <p:cNvSpPr>
            <a:spLocks xmlns:a="http://schemas.openxmlformats.org/drawingml/2006/main" noGrp="1"/>
          </p:cNvSpPr>
          <p:nvPr/>
        </p:nvSpPr>
        <p:spPr>
          <a:xfrm xmlns:a="http://schemas.openxmlformats.org/drawingml/2006/main">
            <a:off x="1066800" y="23860125"/>
            <a:ext cx="857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20303D"/>
                </a:solidFill>
                <a:latin typeface="Calibri"/>
                <a:ea typeface="Calibri"/>
                <a:cs typeface="Calibri"/>
              </a:defRPr>
            </a:defPPr>
          </a:lstStyle>
          <a:p xmlns:a="http://schemas.openxmlformats.org/drawingml/2006/main">
            <a:pPr algn="l">
              <a:defRPr sz="3450" b="1">
                <a:solidFill>
                  <a:srgbClr val="20303D"/>
                </a:solidFill>
                <a:latin typeface="Calibri"/>
                <a:ea typeface="Calibri"/>
                <a:cs typeface="Calibri"/>
              </a:defRPr>
            </a:pPr>
            <a:r>
              <a:rPr sz="3450" b="1">
                <a:solidFill>
                  <a:srgbClr val="20303D"/>
                </a:solidFill>
                <a:latin typeface="Calibri"/>
                <a:ea typeface="Calibri"/>
                <a:cs typeface="Calibri"/>
              </a:rPr>
              <a:t>32,768 complex symbols per image</a:t>
            </a:r>
          </a:p>
          <a:p xmlns:a="http://schemas.openxmlformats.org/drawingml/2006/main">
            <a:pPr algn="l">
              <a:defRPr sz="3450" b="1">
                <a:solidFill>
                  <a:srgbClr val="20303D"/>
                </a:solidFill>
                <a:latin typeface="Calibri"/>
                <a:ea typeface="Calibri"/>
                <a:cs typeface="Calibri"/>
              </a:defRPr>
            </a:pPr>
            <a:r>
              <a:rPr sz="3450" b="1">
                <a:solidFill>
                  <a:srgbClr val="20303D"/>
                </a:solidFill>
                <a:latin typeface="Calibri"/>
                <a:ea typeface="Calibri"/>
                <a:cs typeface="Calibri"/>
              </a:rPr>
              <a:t>683 OFDM symbols per frame</a:t>
            </a:r>
          </a:p>
        </p:txBody>
      </p:sp>
      <p:sp>
        <p:nvSpPr>
          <p:cNvPr id="48" name="text-29">
            <a:extLst xmlns:a="http://schemas.openxmlformats.org/drawingml/2006/main">
              <a:ext uri="{FF2B5EF4-FFF2-40B4-BE49-F238E27FC236}">
                <a16:creationId xmlns:a16="http://schemas.microsoft.com/office/drawing/2014/main" id="{90E845C3-B9C4-48D6-82A3-9D28B23B05BC}"/>
              </a:ext>
            </a:extLst>
          </p:cNvPr>
          <p:cNvSpPr>
            <a:spLocks xmlns:a="http://schemas.openxmlformats.org/drawingml/2006/main" noGrp="1"/>
          </p:cNvSpPr>
          <p:nvPr/>
        </p:nvSpPr>
        <p:spPr>
          <a:xfrm xmlns:a="http://schemas.openxmlformats.org/drawingml/2006/main">
            <a:off x="1066800" y="25336500"/>
            <a:ext cx="857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526675"/>
                </a:solidFill>
                <a:latin typeface="Calibri"/>
                <a:ea typeface="Calibri"/>
                <a:cs typeface="Calibri"/>
              </a:defRPr>
            </a:defPPr>
          </a:lstStyle>
          <a:p xmlns:a="http://schemas.openxmlformats.org/drawingml/2006/main">
            <a:pPr algn="l">
              <a:defRPr sz="3000" b="0">
                <a:solidFill>
                  <a:srgbClr val="526675"/>
                </a:solidFill>
                <a:latin typeface="Calibri"/>
                <a:ea typeface="Calibri"/>
                <a:cs typeface="Calibri"/>
              </a:defRPr>
            </a:pPr>
            <a:r>
              <a:rPr sz="3000" b="0">
                <a:solidFill>
                  <a:srgbClr val="526675"/>
                </a:solidFill>
                <a:latin typeface="Calibri"/>
                <a:ea typeface="Calibri"/>
                <a:cs typeface="Calibri"/>
              </a:rPr>
              <a:t>The receiver passes soft I/Q directly to the decoder. No hard constellation decisions.</a:t>
            </a:r>
          </a:p>
          <a:p xmlns:a="http://schemas.openxmlformats.org/drawingml/2006/main">
            <a:pPr algn="l">
              <a:defRPr sz="3000" b="0">
                <a:solidFill>
                  <a:srgbClr val="526675"/>
                </a:solidFill>
                <a:latin typeface="Calibri"/>
                <a:ea typeface="Calibri"/>
                <a:cs typeface="Calibri"/>
              </a:defRPr>
            </a:pPr>
            <a:r>
              <a:rPr sz="3000" b="0">
                <a:solidFill>
                  <a:srgbClr val="526675"/>
                </a:solidFill>
                <a:latin typeface="Calibri"/>
                <a:ea typeface="Calibri"/>
                <a:cs typeface="Calibri"/>
              </a:rPr>
              <a:t>Ethernet carries control and the reference preview.</a:t>
            </a:r>
          </a:p>
        </p:txBody>
      </p:sp>
      <p:sp>
        <p:nvSpPr>
          <p:cNvPr id="49" name="text-30">
            <a:extLst xmlns:a="http://schemas.openxmlformats.org/drawingml/2006/main">
              <a:ext uri="{FF2B5EF4-FFF2-40B4-BE49-F238E27FC236}">
                <a16:creationId xmlns:a16="http://schemas.microsoft.com/office/drawing/2014/main" id="{4BB41A2C-97A5-4585-847C-166A78EA0687}"/>
              </a:ext>
            </a:extLst>
          </p:cNvPr>
          <p:cNvSpPr>
            <a:spLocks xmlns:a="http://schemas.openxmlformats.org/drawingml/2006/main" noGrp="1"/>
          </p:cNvSpPr>
          <p:nvPr/>
        </p:nvSpPr>
        <p:spPr>
          <a:xfrm xmlns:a="http://schemas.openxmlformats.org/drawingml/2006/main">
            <a:off x="1066800" y="27241500"/>
            <a:ext cx="857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303D"/>
                </a:solidFill>
                <a:latin typeface="Calibri"/>
                <a:ea typeface="Calibri"/>
                <a:cs typeface="Calibri"/>
              </a:defRPr>
            </a:defPPr>
          </a:lstStyle>
          <a:p xmlns:a="http://schemas.openxmlformats.org/drawingml/2006/main">
            <a:pPr algn="l">
              <a:defRPr sz="3300" b="1">
                <a:solidFill>
                  <a:srgbClr val="20303D"/>
                </a:solidFill>
                <a:latin typeface="Calibri"/>
                <a:ea typeface="Calibri"/>
                <a:cs typeface="Calibri"/>
              </a:defRPr>
            </a:pPr>
            <a:r>
              <a:rPr sz="3300" b="1">
                <a:solidFill>
                  <a:srgbClr val="20303D"/>
                </a:solidFill>
                <a:latin typeface="Calibri"/>
                <a:ea typeface="Calibri"/>
                <a:cs typeface="Calibri"/>
              </a:rPr>
              <a:t>30 fps for 10 minutes</a:t>
            </a:r>
          </a:p>
          <a:p xmlns:a="http://schemas.openxmlformats.org/drawingml/2006/main">
            <a:pPr algn="l">
              <a:defRPr sz="3300" b="1">
                <a:solidFill>
                  <a:srgbClr val="20303D"/>
                </a:solidFill>
                <a:latin typeface="Calibri"/>
                <a:ea typeface="Calibri"/>
                <a:cs typeface="Calibri"/>
              </a:defRPr>
            </a:pPr>
            <a:r>
              <a:rPr sz="3300" b="1">
                <a:solidFill>
                  <a:srgbClr val="20303D"/>
                </a:solidFill>
                <a:latin typeface="Calibri"/>
                <a:ea typeface="Calibri"/>
                <a:cs typeface="Calibri"/>
              </a:rPr>
              <a:t>18,020 frames received in 600 s</a:t>
            </a:r>
          </a:p>
        </p:txBody>
      </p:sp>
      <p:sp>
        <p:nvSpPr>
          <p:cNvPr id="50" name="text-31">
            <a:extLst xmlns:a="http://schemas.openxmlformats.org/drawingml/2006/main">
              <a:ext uri="{FF2B5EF4-FFF2-40B4-BE49-F238E27FC236}">
                <a16:creationId xmlns:a16="http://schemas.microsoft.com/office/drawing/2014/main" id="{F394152E-9942-4C6B-81F1-27514F1BEF38}"/>
              </a:ext>
            </a:extLst>
          </p:cNvPr>
          <p:cNvSpPr>
            <a:spLocks xmlns:a="http://schemas.openxmlformats.org/drawingml/2006/main" noGrp="1"/>
          </p:cNvSpPr>
          <p:nvPr/>
        </p:nvSpPr>
        <p:spPr>
          <a:xfrm xmlns:a="http://schemas.openxmlformats.org/drawingml/2006/main">
            <a:off x="10477500" y="8143875"/>
            <a:ext cx="1873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B4F8A"/>
                </a:solidFill>
                <a:latin typeface="Calibri"/>
                <a:ea typeface="Calibri"/>
                <a:cs typeface="Calibri"/>
              </a:defRPr>
            </a:defPPr>
          </a:lstStyle>
          <a:p xmlns:a="http://schemas.openxmlformats.org/drawingml/2006/main">
            <a:pPr algn="l">
              <a:defRPr sz="4725" b="1">
                <a:solidFill>
                  <a:srgbClr val="0B4F8A"/>
                </a:solidFill>
                <a:latin typeface="Calibri"/>
                <a:ea typeface="Calibri"/>
                <a:cs typeface="Calibri"/>
              </a:defRPr>
            </a:pPr>
            <a:r>
              <a:rPr sz="4725" b="1">
                <a:solidFill>
                  <a:srgbClr val="0B4F8A"/>
                </a:solidFill>
                <a:latin typeface="Calibri"/>
                <a:ea typeface="Calibri"/>
                <a:cs typeface="Calibri"/>
              </a:rPr>
              <a:t>Measured quality over the air</a:t>
            </a:r>
          </a:p>
        </p:txBody>
      </p:sp>
      <p:sp>
        <p:nvSpPr>
          <p:cNvPr id="51" name="text-32">
            <a:extLst xmlns:a="http://schemas.openxmlformats.org/drawingml/2006/main">
              <a:ext uri="{FF2B5EF4-FFF2-40B4-BE49-F238E27FC236}">
                <a16:creationId xmlns:a16="http://schemas.microsoft.com/office/drawing/2014/main" id="{DFD027C7-79F1-4B97-8AAE-54501220ED0B}"/>
              </a:ext>
            </a:extLst>
          </p:cNvPr>
          <p:cNvSpPr>
            <a:spLocks xmlns:a="http://schemas.openxmlformats.org/drawingml/2006/main" noGrp="1"/>
          </p:cNvSpPr>
          <p:nvPr/>
        </p:nvSpPr>
        <p:spPr>
          <a:xfrm xmlns:a="http://schemas.openxmlformats.org/drawingml/2006/main">
            <a:off x="10477500" y="9048750"/>
            <a:ext cx="1873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526675"/>
                </a:solidFill>
                <a:latin typeface="Calibri"/>
                <a:ea typeface="Calibri"/>
                <a:cs typeface="Calibri"/>
              </a:defRPr>
            </a:defPPr>
          </a:lstStyle>
          <a:p xmlns:a="http://schemas.openxmlformats.org/drawingml/2006/main">
            <a:pPr algn="l">
              <a:defRPr sz="2925" b="0">
                <a:solidFill>
                  <a:srgbClr val="526675"/>
                </a:solidFill>
                <a:latin typeface="Calibri"/>
                <a:ea typeface="Calibri"/>
                <a:cs typeface="Calibri"/>
              </a:defRPr>
            </a:pPr>
            <a:r>
              <a:rPr sz="2925" b="0">
                <a:solidFill>
                  <a:srgbClr val="526675"/>
                </a:solidFill>
                <a:latin typeface="Calibri"/>
                <a:ea typeface="Calibri"/>
                <a:cs typeface="Calibri"/>
              </a:rPr>
              <a:t>DIV2K 0802, same PHY and 32,768 symbols per image</a:t>
            </a:r>
          </a:p>
          <a:p xmlns:a="http://schemas.openxmlformats.org/drawingml/2006/main">
            <a:pPr algn="l">
              <a:defRPr sz="2925" b="0">
                <a:solidFill>
                  <a:srgbClr val="526675"/>
                </a:solidFill>
                <a:latin typeface="Calibri"/>
                <a:ea typeface="Calibri"/>
                <a:cs typeface="Calibri"/>
              </a:defRPr>
            </a:pPr>
            <a:r>
              <a:rPr sz="2925" b="0">
                <a:solidFill>
                  <a:srgbClr val="526675"/>
                </a:solidFill>
                <a:latin typeface="Calibri"/>
                <a:ea typeface="Calibri"/>
                <a:cs typeface="Calibri"/>
              </a:rPr>
              <a:t>SSCC baseline: JPEG + 802.11n LDPC (rate 2/3) + 64-QAM</a:t>
            </a:r>
          </a:p>
        </p:txBody>
      </p:sp>
      <p:graphicFrame>
        <p:nvGraphicFramePr>
          <p:cNvPr id="52" name="Chart">
            <a:extLst xmlns:a="http://schemas.openxmlformats.org/drawingml/2006/main">
              <a:ext uri="{FF2B5EF4-FFF2-40B4-BE49-F238E27FC236}">
                <a16:creationId xmlns:a16="http://schemas.microsoft.com/office/drawing/2014/main" id="{E34C5731-97A0-429D-B318-A47D4E82874A}"/>
              </a:ext>
            </a:extLst>
          </p:cNvPr>
          <p:cNvGraphicFramePr/>
          <p:nvPr/>
        </p:nvGraphicFramePr>
        <p:xfrm>
          <a:off xmlns:a="http://schemas.openxmlformats.org/drawingml/2006/main" x="10477500" y="10191750"/>
          <a:ext xmlns:a="http://schemas.openxmlformats.org/drawingml/2006/main" cx="13858875" cy="6762750"/>
        </p:xfrm>
        <a:graphic xmlns:a="http://schemas.openxmlformats.org/drawingml/2006/main">
          <a:graphicData uri="http://schemas.openxmlformats.org/drawingml/2006/chart">
            <c:chart xmlns:r="http://schemas.openxmlformats.org/officeDocument/2006/relationships" xmlns:c="http://schemas.openxmlformats.org/drawingml/2006/chart" r:id="R0c01d6a15e434a55"/>
          </a:graphicData>
        </a:graphic>
      </p:graphicFrame>
      <p:sp>
        <p:nvSpPr>
          <p:cNvPr id="53" name="text-33">
            <a:extLst xmlns:a="http://schemas.openxmlformats.org/drawingml/2006/main">
              <a:ext uri="{FF2B5EF4-FFF2-40B4-BE49-F238E27FC236}">
                <a16:creationId xmlns:a16="http://schemas.microsoft.com/office/drawing/2014/main" id="{043E30AF-31BD-41FB-86D4-D1D45E5CDC51}"/>
              </a:ext>
            </a:extLst>
          </p:cNvPr>
          <p:cNvSpPr>
            <a:spLocks xmlns:a="http://schemas.openxmlformats.org/drawingml/2006/main" noGrp="1"/>
          </p:cNvSpPr>
          <p:nvPr/>
        </p:nvSpPr>
        <p:spPr>
          <a:xfrm xmlns:a="http://schemas.openxmlformats.org/drawingml/2006/main">
            <a:off x="25288875" y="1033462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20303D"/>
                </a:solidFill>
                <a:latin typeface="Calibri"/>
                <a:ea typeface="Calibri"/>
                <a:cs typeface="Calibri"/>
              </a:defRPr>
            </a:defPPr>
          </a:lstStyle>
          <a:p xmlns:a="http://schemas.openxmlformats.org/drawingml/2006/main">
            <a:pPr algn="ctr">
              <a:defRPr sz="3225" b="1">
                <a:solidFill>
                  <a:srgbClr val="20303D"/>
                </a:solidFill>
                <a:latin typeface="Calibri"/>
                <a:ea typeface="Calibri"/>
                <a:cs typeface="Calibri"/>
              </a:defRPr>
            </a:pPr>
            <a:r>
              <a:rPr sz="3225" b="1">
                <a:solidFill>
                  <a:srgbClr val="20303D"/>
                </a:solidFill>
                <a:latin typeface="Calibri"/>
                <a:ea typeface="Calibri"/>
                <a:cs typeface="Calibri"/>
              </a:rPr>
              <a:t>Original image</a:t>
            </a:r>
          </a:p>
        </p:txBody>
      </p:sp>
      <p:pic>
        <p:nvPicPr>
          <p:cNvPr id="54" name="">
            <a:extLst xmlns:a="http://schemas.openxmlformats.org/drawingml/2006/main">
              <a:ext uri="{FF2B5EF4-FFF2-40B4-BE49-F238E27FC236}">
                <a16:creationId xmlns:a16="http://schemas.microsoft.com/office/drawing/2014/main" id="{A37F7DBA-5DBB-4835-A7B9-32EF3C76BD98}"/>
              </a:ext>
            </a:extLst>
          </p:cNvPr>
          <p:cNvPicPr>
            <a:picLocks xmlns:a="http://schemas.openxmlformats.org/drawingml/2006/main" noChangeAspect="1"/>
          </p:cNvPicPr>
          <p:nvPr/>
        </p:nvPicPr>
        <p:blipFill>
          <a:blip xmlns:r="http://schemas.openxmlformats.org/officeDocument/2006/relationships" xmlns:a="http://schemas.openxmlformats.org/drawingml/2006/main" r:embed="R326442a2acbf4e8f"/>
          <a:stretch xmlns:a="http://schemas.openxmlformats.org/drawingml/2006/main"/>
        </p:blipFill>
        <p:spPr>
          <a:xfrm xmlns:a="http://schemas.openxmlformats.org/drawingml/2006/main">
            <a:off x="25288875" y="11049000"/>
            <a:ext cx="3714750" cy="3714750"/>
          </a:xfrm>
          <a:prstGeom xmlns:a="http://schemas.openxmlformats.org/drawingml/2006/main" prst="rect">
            <a:avLst/>
          </a:prstGeom>
        </p:spPr>
      </p:pic>
      <p:sp>
        <p:nvSpPr>
          <p:cNvPr id="55" name="text-34">
            <a:extLst xmlns:a="http://schemas.openxmlformats.org/drawingml/2006/main">
              <a:ext uri="{FF2B5EF4-FFF2-40B4-BE49-F238E27FC236}">
                <a16:creationId xmlns:a16="http://schemas.microsoft.com/office/drawing/2014/main" id="{88D16639-8674-482C-A663-2B531C343390}"/>
              </a:ext>
            </a:extLst>
          </p:cNvPr>
          <p:cNvSpPr>
            <a:spLocks xmlns:a="http://schemas.openxmlformats.org/drawingml/2006/main" noGrp="1"/>
          </p:cNvSpPr>
          <p:nvPr/>
        </p:nvSpPr>
        <p:spPr>
          <a:xfrm xmlns:a="http://schemas.openxmlformats.org/drawingml/2006/main">
            <a:off x="25288875" y="1504950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150" b="0">
                <a:solidFill>
                  <a:srgbClr val="526675"/>
                </a:solidFill>
                <a:latin typeface="Calibri"/>
                <a:ea typeface="Calibri"/>
                <a:cs typeface="Calibri"/>
              </a:defRPr>
            </a:defPPr>
          </a:lstStyle>
          <a:p xmlns:a="http://schemas.openxmlformats.org/drawingml/2006/main">
            <a:pPr algn="ctr">
              <a:defRPr sz="3150" b="0">
                <a:solidFill>
                  <a:srgbClr val="526675"/>
                </a:solidFill>
                <a:latin typeface="Calibri"/>
                <a:ea typeface="Calibri"/>
                <a:cs typeface="Calibri"/>
              </a:defRPr>
            </a:pPr>
            <a:r>
              <a:rPr sz="3150" b="0">
                <a:solidFill>
                  <a:srgbClr val="526675"/>
                </a:solidFill>
                <a:latin typeface="Calibri"/>
                <a:ea typeface="Calibri"/>
                <a:cs typeface="Calibri"/>
              </a:rPr>
              <a:t>256 × 256 RGB</a:t>
            </a:r>
          </a:p>
        </p:txBody>
      </p:sp>
      <p:sp>
        <p:nvSpPr>
          <p:cNvPr id="56" name="text-35">
            <a:extLst xmlns:a="http://schemas.openxmlformats.org/drawingml/2006/main">
              <a:ext uri="{FF2B5EF4-FFF2-40B4-BE49-F238E27FC236}">
                <a16:creationId xmlns:a16="http://schemas.microsoft.com/office/drawing/2014/main" id="{5160A766-82E3-41B5-A29D-0927353734CA}"/>
              </a:ext>
            </a:extLst>
          </p:cNvPr>
          <p:cNvSpPr>
            <a:spLocks xmlns:a="http://schemas.openxmlformats.org/drawingml/2006/main" noGrp="1"/>
          </p:cNvSpPr>
          <p:nvPr/>
        </p:nvSpPr>
        <p:spPr>
          <a:xfrm xmlns:a="http://schemas.openxmlformats.org/drawingml/2006/main">
            <a:off x="10477500" y="17430750"/>
            <a:ext cx="1873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0303D"/>
                </a:solidFill>
                <a:latin typeface="Calibri"/>
                <a:ea typeface="Calibri"/>
                <a:cs typeface="Calibri"/>
              </a:defRPr>
            </a:defPPr>
          </a:lstStyle>
          <a:p xmlns:a="http://schemas.openxmlformats.org/drawingml/2006/main">
            <a:pPr algn="l">
              <a:defRPr sz="3525" b="1">
                <a:solidFill>
                  <a:srgbClr val="20303D"/>
                </a:solidFill>
                <a:latin typeface="Calibri"/>
                <a:ea typeface="Calibri"/>
                <a:cs typeface="Calibri"/>
              </a:defRPr>
            </a:pPr>
            <a:r>
              <a:rPr sz="3525" b="1">
                <a:solidFill>
                  <a:srgbClr val="20303D"/>
                </a:solidFill>
                <a:latin typeface="Calibri"/>
                <a:ea typeface="Calibri"/>
                <a:cs typeface="Calibri"/>
              </a:rPr>
              <a:t>Reconstruction at four channel conditions</a:t>
            </a:r>
          </a:p>
        </p:txBody>
      </p:sp>
      <p:sp>
        <p:nvSpPr>
          <p:cNvPr id="57" name="text-36">
            <a:extLst xmlns:a="http://schemas.openxmlformats.org/drawingml/2006/main">
              <a:ext uri="{FF2B5EF4-FFF2-40B4-BE49-F238E27FC236}">
                <a16:creationId xmlns:a16="http://schemas.microsoft.com/office/drawing/2014/main" id="{E9F31A04-1411-4741-9E51-F427ED5E8BE5}"/>
              </a:ext>
            </a:extLst>
          </p:cNvPr>
          <p:cNvSpPr>
            <a:spLocks xmlns:a="http://schemas.openxmlformats.org/drawingml/2006/main" noGrp="1"/>
          </p:cNvSpPr>
          <p:nvPr/>
        </p:nvSpPr>
        <p:spPr>
          <a:xfrm xmlns:a="http://schemas.openxmlformats.org/drawingml/2006/main">
            <a:off x="12287250" y="181927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00" b="1">
                <a:solidFill>
                  <a:srgbClr val="20303D"/>
                </a:solidFill>
                <a:latin typeface="Calibri"/>
                <a:ea typeface="Calibri"/>
                <a:cs typeface="Calibri"/>
              </a:defRPr>
            </a:defPPr>
          </a:lstStyle>
          <a:p xmlns:a="http://schemas.openxmlformats.org/drawingml/2006/main">
            <a:pPr algn="ctr">
              <a:defRPr sz="3300" b="1">
                <a:solidFill>
                  <a:srgbClr val="20303D"/>
                </a:solidFill>
                <a:latin typeface="Calibri"/>
                <a:ea typeface="Calibri"/>
                <a:cs typeface="Calibri"/>
              </a:defRPr>
            </a:pPr>
            <a:r>
              <a:rPr sz="3300" b="1">
                <a:solidFill>
                  <a:srgbClr val="20303D"/>
                </a:solidFill>
                <a:latin typeface="Calibri"/>
                <a:ea typeface="Calibri"/>
                <a:cs typeface="Calibri"/>
              </a:rPr>
              <a:t>36.1 dB</a:t>
            </a:r>
          </a:p>
        </p:txBody>
      </p:sp>
      <p:sp>
        <p:nvSpPr>
          <p:cNvPr id="58" name="text-37">
            <a:extLst xmlns:a="http://schemas.openxmlformats.org/drawingml/2006/main">
              <a:ext uri="{FF2B5EF4-FFF2-40B4-BE49-F238E27FC236}">
                <a16:creationId xmlns:a16="http://schemas.microsoft.com/office/drawing/2014/main" id="{9E043046-8C7E-438F-8CC0-0065ABD7A820}"/>
              </a:ext>
            </a:extLst>
          </p:cNvPr>
          <p:cNvSpPr>
            <a:spLocks xmlns:a="http://schemas.openxmlformats.org/drawingml/2006/main" noGrp="1"/>
          </p:cNvSpPr>
          <p:nvPr/>
        </p:nvSpPr>
        <p:spPr>
          <a:xfrm xmlns:a="http://schemas.openxmlformats.org/drawingml/2006/main">
            <a:off x="16411575" y="181927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00" b="1">
                <a:solidFill>
                  <a:srgbClr val="20303D"/>
                </a:solidFill>
                <a:latin typeface="Calibri"/>
                <a:ea typeface="Calibri"/>
                <a:cs typeface="Calibri"/>
              </a:defRPr>
            </a:defPPr>
          </a:lstStyle>
          <a:p xmlns:a="http://schemas.openxmlformats.org/drawingml/2006/main">
            <a:pPr algn="ctr">
              <a:defRPr sz="3300" b="1">
                <a:solidFill>
                  <a:srgbClr val="20303D"/>
                </a:solidFill>
                <a:latin typeface="Calibri"/>
                <a:ea typeface="Calibri"/>
                <a:cs typeface="Calibri"/>
              </a:defRPr>
            </a:pPr>
            <a:r>
              <a:rPr sz="3300" b="1">
                <a:solidFill>
                  <a:srgbClr val="20303D"/>
                </a:solidFill>
                <a:latin typeface="Calibri"/>
                <a:ea typeface="Calibri"/>
                <a:cs typeface="Calibri"/>
              </a:rPr>
              <a:t>14.2 dB</a:t>
            </a:r>
          </a:p>
        </p:txBody>
      </p:sp>
      <p:sp>
        <p:nvSpPr>
          <p:cNvPr id="59" name="text-38">
            <a:extLst xmlns:a="http://schemas.openxmlformats.org/drawingml/2006/main">
              <a:ext uri="{FF2B5EF4-FFF2-40B4-BE49-F238E27FC236}">
                <a16:creationId xmlns:a16="http://schemas.microsoft.com/office/drawing/2014/main" id="{0193DE27-F9B8-48BD-A5B9-D31A9D419144}"/>
              </a:ext>
            </a:extLst>
          </p:cNvPr>
          <p:cNvSpPr>
            <a:spLocks xmlns:a="http://schemas.openxmlformats.org/drawingml/2006/main" noGrp="1"/>
          </p:cNvSpPr>
          <p:nvPr/>
        </p:nvSpPr>
        <p:spPr>
          <a:xfrm xmlns:a="http://schemas.openxmlformats.org/drawingml/2006/main">
            <a:off x="20535900" y="181927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00" b="1">
                <a:solidFill>
                  <a:srgbClr val="20303D"/>
                </a:solidFill>
                <a:latin typeface="Calibri"/>
                <a:ea typeface="Calibri"/>
                <a:cs typeface="Calibri"/>
              </a:defRPr>
            </a:defPPr>
          </a:lstStyle>
          <a:p xmlns:a="http://schemas.openxmlformats.org/drawingml/2006/main">
            <a:pPr algn="ctr">
              <a:defRPr sz="3300" b="1">
                <a:solidFill>
                  <a:srgbClr val="20303D"/>
                </a:solidFill>
                <a:latin typeface="Calibri"/>
                <a:ea typeface="Calibri"/>
                <a:cs typeface="Calibri"/>
              </a:defRPr>
            </a:pPr>
            <a:r>
              <a:rPr sz="3300" b="1">
                <a:solidFill>
                  <a:srgbClr val="20303D"/>
                </a:solidFill>
                <a:latin typeface="Calibri"/>
                <a:ea typeface="Calibri"/>
                <a:cs typeface="Calibri"/>
              </a:rPr>
              <a:t>10.5 dB</a:t>
            </a:r>
          </a:p>
        </p:txBody>
      </p:sp>
      <p:sp>
        <p:nvSpPr>
          <p:cNvPr id="60" name="text-39">
            <a:extLst xmlns:a="http://schemas.openxmlformats.org/drawingml/2006/main">
              <a:ext uri="{FF2B5EF4-FFF2-40B4-BE49-F238E27FC236}">
                <a16:creationId xmlns:a16="http://schemas.microsoft.com/office/drawing/2014/main" id="{A9323EFD-6B6F-4098-9665-25EE397296D3}"/>
              </a:ext>
            </a:extLst>
          </p:cNvPr>
          <p:cNvSpPr>
            <a:spLocks xmlns:a="http://schemas.openxmlformats.org/drawingml/2006/main" noGrp="1"/>
          </p:cNvSpPr>
          <p:nvPr/>
        </p:nvSpPr>
        <p:spPr>
          <a:xfrm xmlns:a="http://schemas.openxmlformats.org/drawingml/2006/main">
            <a:off x="24660225" y="181927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00" b="1">
                <a:solidFill>
                  <a:srgbClr val="20303D"/>
                </a:solidFill>
                <a:latin typeface="Calibri"/>
                <a:ea typeface="Calibri"/>
                <a:cs typeface="Calibri"/>
              </a:defRPr>
            </a:defPPr>
          </a:lstStyle>
          <a:p xmlns:a="http://schemas.openxmlformats.org/drawingml/2006/main">
            <a:pPr algn="ctr">
              <a:defRPr sz="3300" b="1">
                <a:solidFill>
                  <a:srgbClr val="20303D"/>
                </a:solidFill>
                <a:latin typeface="Calibri"/>
                <a:ea typeface="Calibri"/>
                <a:cs typeface="Calibri"/>
              </a:defRPr>
            </a:pPr>
            <a:r>
              <a:rPr sz="3300" b="1">
                <a:solidFill>
                  <a:srgbClr val="20303D"/>
                </a:solidFill>
                <a:latin typeface="Calibri"/>
                <a:ea typeface="Calibri"/>
                <a:cs typeface="Calibri"/>
              </a:rPr>
              <a:t>2.9 dB</a:t>
            </a:r>
          </a:p>
        </p:txBody>
      </p:sp>
      <p:sp>
        <p:nvSpPr>
          <p:cNvPr id="61" name="text-40">
            <a:extLst xmlns:a="http://schemas.openxmlformats.org/drawingml/2006/main">
              <a:ext uri="{FF2B5EF4-FFF2-40B4-BE49-F238E27FC236}">
                <a16:creationId xmlns:a16="http://schemas.microsoft.com/office/drawing/2014/main" id="{B229F333-57DD-4C65-B27E-A10FBD530F58}"/>
              </a:ext>
            </a:extLst>
          </p:cNvPr>
          <p:cNvSpPr>
            <a:spLocks xmlns:a="http://schemas.openxmlformats.org/drawingml/2006/main" noGrp="1"/>
          </p:cNvSpPr>
          <p:nvPr/>
        </p:nvSpPr>
        <p:spPr>
          <a:xfrm xmlns:a="http://schemas.openxmlformats.org/drawingml/2006/main">
            <a:off x="10477500" y="20097750"/>
            <a:ext cx="176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37EAD"/>
                </a:solidFill>
                <a:latin typeface="Calibri"/>
                <a:ea typeface="Calibri"/>
                <a:cs typeface="Calibri"/>
              </a:defRPr>
            </a:defPPr>
          </a:lstStyle>
          <a:p xmlns:a="http://schemas.openxmlformats.org/drawingml/2006/main">
            <a:pPr algn="l">
              <a:defRPr sz="2400" b="1">
                <a:solidFill>
                  <a:srgbClr val="237EAD"/>
                </a:solidFill>
                <a:latin typeface="Calibri"/>
                <a:ea typeface="Calibri"/>
                <a:cs typeface="Calibri"/>
              </a:defRPr>
            </a:pPr>
            <a:r>
              <a:rPr sz="2400" b="1">
                <a:solidFill>
                  <a:srgbClr val="237EAD"/>
                </a:solidFill>
                <a:latin typeface="Calibri"/>
                <a:ea typeface="Calibri"/>
                <a:cs typeface="Calibri"/>
              </a:rPr>
              <a:t>DeepJSCC-Q</a:t>
            </a:r>
          </a:p>
        </p:txBody>
      </p:sp>
      <p:sp>
        <p:nvSpPr>
          <p:cNvPr id="62" name="text-41">
            <a:extLst xmlns:a="http://schemas.openxmlformats.org/drawingml/2006/main">
              <a:ext uri="{FF2B5EF4-FFF2-40B4-BE49-F238E27FC236}">
                <a16:creationId xmlns:a16="http://schemas.microsoft.com/office/drawing/2014/main" id="{D8902A44-7909-4A62-9B2A-272F89BC2714}"/>
              </a:ext>
            </a:extLst>
          </p:cNvPr>
          <p:cNvSpPr>
            <a:spLocks xmlns:a="http://schemas.openxmlformats.org/drawingml/2006/main" noGrp="1"/>
          </p:cNvSpPr>
          <p:nvPr/>
        </p:nvSpPr>
        <p:spPr>
          <a:xfrm xmlns:a="http://schemas.openxmlformats.org/drawingml/2006/main">
            <a:off x="10477500" y="24622125"/>
            <a:ext cx="1695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D9531E"/>
                </a:solidFill>
                <a:latin typeface="Calibri"/>
                <a:ea typeface="Calibri"/>
                <a:cs typeface="Calibri"/>
              </a:defRPr>
            </a:defPPr>
          </a:lstStyle>
          <a:p xmlns:a="http://schemas.openxmlformats.org/drawingml/2006/main">
            <a:pPr algn="l">
              <a:defRPr sz="2850" b="1">
                <a:solidFill>
                  <a:srgbClr val="D9531E"/>
                </a:solidFill>
                <a:latin typeface="Calibri"/>
                <a:ea typeface="Calibri"/>
                <a:cs typeface="Calibri"/>
              </a:defRPr>
            </a:pPr>
            <a:r>
              <a:rPr sz="2850" b="1">
                <a:solidFill>
                  <a:srgbClr val="D9531E"/>
                </a:solidFill>
                <a:latin typeface="Calibri"/>
                <a:ea typeface="Calibri"/>
                <a:cs typeface="Calibri"/>
              </a:rPr>
              <a:t>SSCC</a:t>
            </a:r>
          </a:p>
        </p:txBody>
      </p:sp>
      <p:pic>
        <p:nvPicPr>
          <p:cNvPr id="63" name="">
            <a:extLst xmlns:a="http://schemas.openxmlformats.org/drawingml/2006/main">
              <a:ext uri="{FF2B5EF4-FFF2-40B4-BE49-F238E27FC236}">
                <a16:creationId xmlns:a16="http://schemas.microsoft.com/office/drawing/2014/main" id="{02A23819-1BB4-4B4D-8542-4AE3E2F20DDB}"/>
              </a:ext>
            </a:extLst>
          </p:cNvPr>
          <p:cNvPicPr>
            <a:picLocks xmlns:a="http://schemas.openxmlformats.org/drawingml/2006/main" noChangeAspect="1"/>
          </p:cNvPicPr>
          <p:nvPr/>
        </p:nvPicPr>
        <p:blipFill>
          <a:blip xmlns:r="http://schemas.openxmlformats.org/officeDocument/2006/relationships" xmlns:a="http://schemas.openxmlformats.org/drawingml/2006/main" r:embed="R9e3ad2b62d424890"/>
          <a:stretch xmlns:a="http://schemas.openxmlformats.org/drawingml/2006/main"/>
        </p:blipFill>
        <p:spPr>
          <a:xfrm xmlns:a="http://schemas.openxmlformats.org/drawingml/2006/main">
            <a:off x="12287250" y="18859500"/>
            <a:ext cx="3714750" cy="3714750"/>
          </a:xfrm>
          <a:prstGeom xmlns:a="http://schemas.openxmlformats.org/drawingml/2006/main" prst="rect">
            <a:avLst/>
          </a:prstGeom>
        </p:spPr>
      </p:pic>
      <p:sp>
        <p:nvSpPr>
          <p:cNvPr id="64" name="text-42">
            <a:extLst xmlns:a="http://schemas.openxmlformats.org/drawingml/2006/main">
              <a:ext uri="{FF2B5EF4-FFF2-40B4-BE49-F238E27FC236}">
                <a16:creationId xmlns:a16="http://schemas.microsoft.com/office/drawing/2014/main" id="{C8C21651-EECF-4329-9B30-BB5006AC473D}"/>
              </a:ext>
            </a:extLst>
          </p:cNvPr>
          <p:cNvSpPr>
            <a:spLocks xmlns:a="http://schemas.openxmlformats.org/drawingml/2006/main" noGrp="1"/>
          </p:cNvSpPr>
          <p:nvPr/>
        </p:nvSpPr>
        <p:spPr>
          <a:xfrm xmlns:a="http://schemas.openxmlformats.org/drawingml/2006/main">
            <a:off x="12287250" y="226885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0">
                <a:solidFill>
                  <a:srgbClr val="526675"/>
                </a:solidFill>
                <a:latin typeface="Calibri"/>
                <a:ea typeface="Calibri"/>
                <a:cs typeface="Calibri"/>
              </a:defRPr>
            </a:defPPr>
          </a:lstStyle>
          <a:p xmlns:a="http://schemas.openxmlformats.org/drawingml/2006/main">
            <a:pPr algn="ctr">
              <a:defRPr sz="2775" b="0">
                <a:solidFill>
                  <a:srgbClr val="526675"/>
                </a:solidFill>
                <a:latin typeface="Calibri"/>
                <a:ea typeface="Calibri"/>
                <a:cs typeface="Calibri"/>
              </a:defRPr>
            </a:pPr>
            <a:r>
              <a:rPr sz="2775" b="0">
                <a:solidFill>
                  <a:srgbClr val="526675"/>
                </a:solidFill>
                <a:latin typeface="Calibri"/>
                <a:ea typeface="Calibri"/>
                <a:cs typeface="Calibri"/>
              </a:rPr>
              <a:t>32.21 / 0.94</a:t>
            </a:r>
          </a:p>
        </p:txBody>
      </p:sp>
      <p:pic>
        <p:nvPicPr>
          <p:cNvPr id="65" name="">
            <a:extLst xmlns:a="http://schemas.openxmlformats.org/drawingml/2006/main">
              <a:ext uri="{FF2B5EF4-FFF2-40B4-BE49-F238E27FC236}">
                <a16:creationId xmlns:a16="http://schemas.microsoft.com/office/drawing/2014/main" id="{00A2F047-BC36-485B-ADEF-1ABF3BE2DAA9}"/>
              </a:ext>
            </a:extLst>
          </p:cNvPr>
          <p:cNvPicPr>
            <a:picLocks xmlns:a="http://schemas.openxmlformats.org/drawingml/2006/main" noChangeAspect="1"/>
          </p:cNvPicPr>
          <p:nvPr/>
        </p:nvPicPr>
        <p:blipFill>
          <a:blip xmlns:r="http://schemas.openxmlformats.org/officeDocument/2006/relationships" xmlns:a="http://schemas.openxmlformats.org/drawingml/2006/main" r:embed="Rb9179f3d29f744f2"/>
          <a:stretch xmlns:a="http://schemas.openxmlformats.org/drawingml/2006/main"/>
        </p:blipFill>
        <p:spPr>
          <a:xfrm xmlns:a="http://schemas.openxmlformats.org/drawingml/2006/main">
            <a:off x="16411575" y="18859500"/>
            <a:ext cx="3714750" cy="3714750"/>
          </a:xfrm>
          <a:prstGeom xmlns:a="http://schemas.openxmlformats.org/drawingml/2006/main" prst="rect">
            <a:avLst/>
          </a:prstGeom>
        </p:spPr>
      </p:pic>
      <p:sp>
        <p:nvSpPr>
          <p:cNvPr id="66" name="text-43">
            <a:extLst xmlns:a="http://schemas.openxmlformats.org/drawingml/2006/main">
              <a:ext uri="{FF2B5EF4-FFF2-40B4-BE49-F238E27FC236}">
                <a16:creationId xmlns:a16="http://schemas.microsoft.com/office/drawing/2014/main" id="{C7330AE8-9C10-4814-B162-A5DA778D8498}"/>
              </a:ext>
            </a:extLst>
          </p:cNvPr>
          <p:cNvSpPr>
            <a:spLocks xmlns:a="http://schemas.openxmlformats.org/drawingml/2006/main" noGrp="1"/>
          </p:cNvSpPr>
          <p:nvPr/>
        </p:nvSpPr>
        <p:spPr>
          <a:xfrm xmlns:a="http://schemas.openxmlformats.org/drawingml/2006/main">
            <a:off x="16411575" y="226885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0">
                <a:solidFill>
                  <a:srgbClr val="526675"/>
                </a:solidFill>
                <a:latin typeface="Calibri"/>
                <a:ea typeface="Calibri"/>
                <a:cs typeface="Calibri"/>
              </a:defRPr>
            </a:defPPr>
          </a:lstStyle>
          <a:p xmlns:a="http://schemas.openxmlformats.org/drawingml/2006/main">
            <a:pPr algn="ctr">
              <a:defRPr sz="2775" b="0">
                <a:solidFill>
                  <a:srgbClr val="526675"/>
                </a:solidFill>
                <a:latin typeface="Calibri"/>
                <a:ea typeface="Calibri"/>
                <a:cs typeface="Calibri"/>
              </a:defRPr>
            </a:pPr>
            <a:r>
              <a:rPr sz="2775" b="0">
                <a:solidFill>
                  <a:srgbClr val="526675"/>
                </a:solidFill>
                <a:latin typeface="Calibri"/>
                <a:ea typeface="Calibri"/>
                <a:cs typeface="Calibri"/>
              </a:rPr>
              <a:t>31.46 / 0.94</a:t>
            </a:r>
          </a:p>
        </p:txBody>
      </p:sp>
      <p:pic>
        <p:nvPicPr>
          <p:cNvPr id="67" name="">
            <a:extLst xmlns:a="http://schemas.openxmlformats.org/drawingml/2006/main">
              <a:ext uri="{FF2B5EF4-FFF2-40B4-BE49-F238E27FC236}">
                <a16:creationId xmlns:a16="http://schemas.microsoft.com/office/drawing/2014/main" id="{69FFC287-3909-4322-85F0-1A7053BDFBF6}"/>
              </a:ext>
            </a:extLst>
          </p:cNvPr>
          <p:cNvPicPr>
            <a:picLocks xmlns:a="http://schemas.openxmlformats.org/drawingml/2006/main" noChangeAspect="1"/>
          </p:cNvPicPr>
          <p:nvPr/>
        </p:nvPicPr>
        <p:blipFill>
          <a:blip xmlns:r="http://schemas.openxmlformats.org/officeDocument/2006/relationships" xmlns:a="http://schemas.openxmlformats.org/drawingml/2006/main" r:embed="R0112f871bb7b4e78"/>
          <a:stretch xmlns:a="http://schemas.openxmlformats.org/drawingml/2006/main"/>
        </p:blipFill>
        <p:spPr>
          <a:xfrm xmlns:a="http://schemas.openxmlformats.org/drawingml/2006/main">
            <a:off x="20535900" y="18859500"/>
            <a:ext cx="3714750" cy="3714750"/>
          </a:xfrm>
          <a:prstGeom xmlns:a="http://schemas.openxmlformats.org/drawingml/2006/main" prst="rect">
            <a:avLst/>
          </a:prstGeom>
        </p:spPr>
      </p:pic>
      <p:sp>
        <p:nvSpPr>
          <p:cNvPr id="68" name="text-44">
            <a:extLst xmlns:a="http://schemas.openxmlformats.org/drawingml/2006/main">
              <a:ext uri="{FF2B5EF4-FFF2-40B4-BE49-F238E27FC236}">
                <a16:creationId xmlns:a16="http://schemas.microsoft.com/office/drawing/2014/main" id="{23147168-315D-4265-99E6-2423A2BA0979}"/>
              </a:ext>
            </a:extLst>
          </p:cNvPr>
          <p:cNvSpPr>
            <a:spLocks xmlns:a="http://schemas.openxmlformats.org/drawingml/2006/main" noGrp="1"/>
          </p:cNvSpPr>
          <p:nvPr/>
        </p:nvSpPr>
        <p:spPr>
          <a:xfrm xmlns:a="http://schemas.openxmlformats.org/drawingml/2006/main">
            <a:off x="20535900" y="226885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0">
                <a:solidFill>
                  <a:srgbClr val="526675"/>
                </a:solidFill>
                <a:latin typeface="Calibri"/>
                <a:ea typeface="Calibri"/>
                <a:cs typeface="Calibri"/>
              </a:defRPr>
            </a:defPPr>
          </a:lstStyle>
          <a:p xmlns:a="http://schemas.openxmlformats.org/drawingml/2006/main">
            <a:pPr algn="ctr">
              <a:defRPr sz="2775" b="0">
                <a:solidFill>
                  <a:srgbClr val="526675"/>
                </a:solidFill>
                <a:latin typeface="Calibri"/>
                <a:ea typeface="Calibri"/>
                <a:cs typeface="Calibri"/>
              </a:defRPr>
            </a:pPr>
            <a:r>
              <a:rPr sz="2775" b="0">
                <a:solidFill>
                  <a:srgbClr val="526675"/>
                </a:solidFill>
                <a:latin typeface="Calibri"/>
                <a:ea typeface="Calibri"/>
                <a:cs typeface="Calibri"/>
              </a:rPr>
              <a:t>30.41 / 0.93</a:t>
            </a:r>
          </a:p>
        </p:txBody>
      </p:sp>
      <p:pic>
        <p:nvPicPr>
          <p:cNvPr id="69" name="">
            <a:extLst xmlns:a="http://schemas.openxmlformats.org/drawingml/2006/main">
              <a:ext uri="{FF2B5EF4-FFF2-40B4-BE49-F238E27FC236}">
                <a16:creationId xmlns:a16="http://schemas.microsoft.com/office/drawing/2014/main" id="{1A170A8D-DDDC-4393-9427-99168A842562}"/>
              </a:ext>
            </a:extLst>
          </p:cNvPr>
          <p:cNvPicPr>
            <a:picLocks xmlns:a="http://schemas.openxmlformats.org/drawingml/2006/main" noChangeAspect="1"/>
          </p:cNvPicPr>
          <p:nvPr/>
        </p:nvPicPr>
        <p:blipFill>
          <a:blip xmlns:r="http://schemas.openxmlformats.org/officeDocument/2006/relationships" xmlns:a="http://schemas.openxmlformats.org/drawingml/2006/main" r:embed="Raa8b474070734e37"/>
          <a:stretch xmlns:a="http://schemas.openxmlformats.org/drawingml/2006/main"/>
        </p:blipFill>
        <p:spPr>
          <a:xfrm xmlns:a="http://schemas.openxmlformats.org/drawingml/2006/main">
            <a:off x="24660225" y="18859500"/>
            <a:ext cx="3714750" cy="3714750"/>
          </a:xfrm>
          <a:prstGeom xmlns:a="http://schemas.openxmlformats.org/drawingml/2006/main" prst="rect">
            <a:avLst/>
          </a:prstGeom>
        </p:spPr>
      </p:pic>
      <p:sp>
        <p:nvSpPr>
          <p:cNvPr id="70" name="text-45">
            <a:extLst xmlns:a="http://schemas.openxmlformats.org/drawingml/2006/main">
              <a:ext uri="{FF2B5EF4-FFF2-40B4-BE49-F238E27FC236}">
                <a16:creationId xmlns:a16="http://schemas.microsoft.com/office/drawing/2014/main" id="{F27E4112-B357-4EC3-A473-748CDE08DF3B}"/>
              </a:ext>
            </a:extLst>
          </p:cNvPr>
          <p:cNvSpPr>
            <a:spLocks xmlns:a="http://schemas.openxmlformats.org/drawingml/2006/main" noGrp="1"/>
          </p:cNvSpPr>
          <p:nvPr/>
        </p:nvSpPr>
        <p:spPr>
          <a:xfrm xmlns:a="http://schemas.openxmlformats.org/drawingml/2006/main">
            <a:off x="24660225" y="226885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0">
                <a:solidFill>
                  <a:srgbClr val="526675"/>
                </a:solidFill>
                <a:latin typeface="Calibri"/>
                <a:ea typeface="Calibri"/>
                <a:cs typeface="Calibri"/>
              </a:defRPr>
            </a:defPPr>
          </a:lstStyle>
          <a:p xmlns:a="http://schemas.openxmlformats.org/drawingml/2006/main">
            <a:pPr algn="ctr">
              <a:defRPr sz="2775" b="0">
                <a:solidFill>
                  <a:srgbClr val="526675"/>
                </a:solidFill>
                <a:latin typeface="Calibri"/>
                <a:ea typeface="Calibri"/>
                <a:cs typeface="Calibri"/>
              </a:defRPr>
            </a:pPr>
            <a:r>
              <a:rPr sz="2775" b="0">
                <a:solidFill>
                  <a:srgbClr val="526675"/>
                </a:solidFill>
                <a:latin typeface="Calibri"/>
                <a:ea typeface="Calibri"/>
                <a:cs typeface="Calibri"/>
              </a:rPr>
              <a:t>23.51 / 0.77</a:t>
            </a:r>
          </a:p>
        </p:txBody>
      </p:sp>
      <p:pic>
        <p:nvPicPr>
          <p:cNvPr id="71" name="">
            <a:extLst xmlns:a="http://schemas.openxmlformats.org/drawingml/2006/main">
              <a:ext uri="{FF2B5EF4-FFF2-40B4-BE49-F238E27FC236}">
                <a16:creationId xmlns:a16="http://schemas.microsoft.com/office/drawing/2014/main" id="{6835A6B6-A849-4B0C-A0A0-0E57EEE43098}"/>
              </a:ext>
            </a:extLst>
          </p:cNvPr>
          <p:cNvPicPr>
            <a:picLocks xmlns:a="http://schemas.openxmlformats.org/drawingml/2006/main" noChangeAspect="1"/>
          </p:cNvPicPr>
          <p:nvPr/>
        </p:nvPicPr>
        <p:blipFill>
          <a:blip xmlns:r="http://schemas.openxmlformats.org/officeDocument/2006/relationships" xmlns:a="http://schemas.openxmlformats.org/drawingml/2006/main" r:embed="Rd222c85971b540de"/>
          <a:stretch xmlns:a="http://schemas.openxmlformats.org/drawingml/2006/main"/>
        </p:blipFill>
        <p:spPr>
          <a:xfrm xmlns:a="http://schemas.openxmlformats.org/drawingml/2006/main">
            <a:off x="12287250" y="23479125"/>
            <a:ext cx="3714750" cy="3714750"/>
          </a:xfrm>
          <a:prstGeom xmlns:a="http://schemas.openxmlformats.org/drawingml/2006/main" prst="rect">
            <a:avLst/>
          </a:prstGeom>
        </p:spPr>
      </p:pic>
      <p:sp>
        <p:nvSpPr>
          <p:cNvPr id="72" name="text-46">
            <a:extLst xmlns:a="http://schemas.openxmlformats.org/drawingml/2006/main">
              <a:ext uri="{FF2B5EF4-FFF2-40B4-BE49-F238E27FC236}">
                <a16:creationId xmlns:a16="http://schemas.microsoft.com/office/drawing/2014/main" id="{B6D248DE-A589-4ABB-9FA1-F53C16D3C4A9}"/>
              </a:ext>
            </a:extLst>
          </p:cNvPr>
          <p:cNvSpPr>
            <a:spLocks xmlns:a="http://schemas.openxmlformats.org/drawingml/2006/main" noGrp="1"/>
          </p:cNvSpPr>
          <p:nvPr/>
        </p:nvSpPr>
        <p:spPr>
          <a:xfrm xmlns:a="http://schemas.openxmlformats.org/drawingml/2006/main">
            <a:off x="12287250" y="273081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0">
                <a:solidFill>
                  <a:srgbClr val="526675"/>
                </a:solidFill>
                <a:latin typeface="Calibri"/>
                <a:ea typeface="Calibri"/>
                <a:cs typeface="Calibri"/>
              </a:defRPr>
            </a:defPPr>
          </a:lstStyle>
          <a:p xmlns:a="http://schemas.openxmlformats.org/drawingml/2006/main">
            <a:pPr algn="ctr">
              <a:defRPr sz="2775" b="0">
                <a:solidFill>
                  <a:srgbClr val="526675"/>
                </a:solidFill>
                <a:latin typeface="Calibri"/>
                <a:ea typeface="Calibri"/>
                <a:cs typeface="Calibri"/>
              </a:defRPr>
            </a:pPr>
            <a:r>
              <a:rPr sz="2775" b="0">
                <a:solidFill>
                  <a:srgbClr val="526675"/>
                </a:solidFill>
                <a:latin typeface="Calibri"/>
                <a:ea typeface="Calibri"/>
                <a:cs typeface="Calibri"/>
              </a:rPr>
              <a:t>29.42 / 0.86</a:t>
            </a:r>
          </a:p>
        </p:txBody>
      </p:sp>
      <p:pic>
        <p:nvPicPr>
          <p:cNvPr id="73" name="">
            <a:extLst xmlns:a="http://schemas.openxmlformats.org/drawingml/2006/main">
              <a:ext uri="{FF2B5EF4-FFF2-40B4-BE49-F238E27FC236}">
                <a16:creationId xmlns:a16="http://schemas.microsoft.com/office/drawing/2014/main" id="{FA1E5856-FA4E-4C78-A95B-4A7464FE572E}"/>
              </a:ext>
            </a:extLst>
          </p:cNvPr>
          <p:cNvPicPr>
            <a:picLocks xmlns:a="http://schemas.openxmlformats.org/drawingml/2006/main" noChangeAspect="1"/>
          </p:cNvPicPr>
          <p:nvPr/>
        </p:nvPicPr>
        <p:blipFill>
          <a:blip xmlns:r="http://schemas.openxmlformats.org/officeDocument/2006/relationships" xmlns:a="http://schemas.openxmlformats.org/drawingml/2006/main" r:embed="Rf4f00027b6064d27"/>
          <a:stretch xmlns:a="http://schemas.openxmlformats.org/drawingml/2006/main"/>
        </p:blipFill>
        <p:spPr>
          <a:xfrm xmlns:a="http://schemas.openxmlformats.org/drawingml/2006/main">
            <a:off x="16411575" y="23479125"/>
            <a:ext cx="3714750" cy="3714750"/>
          </a:xfrm>
          <a:prstGeom xmlns:a="http://schemas.openxmlformats.org/drawingml/2006/main" prst="rect">
            <a:avLst/>
          </a:prstGeom>
        </p:spPr>
      </p:pic>
      <p:sp>
        <p:nvSpPr>
          <p:cNvPr id="74" name="text-47">
            <a:extLst xmlns:a="http://schemas.openxmlformats.org/drawingml/2006/main">
              <a:ext uri="{FF2B5EF4-FFF2-40B4-BE49-F238E27FC236}">
                <a16:creationId xmlns:a16="http://schemas.microsoft.com/office/drawing/2014/main" id="{67CA492D-BBDF-4E50-805F-BFFCABA7F44A}"/>
              </a:ext>
            </a:extLst>
          </p:cNvPr>
          <p:cNvSpPr>
            <a:spLocks xmlns:a="http://schemas.openxmlformats.org/drawingml/2006/main" noGrp="1"/>
          </p:cNvSpPr>
          <p:nvPr/>
        </p:nvSpPr>
        <p:spPr>
          <a:xfrm xmlns:a="http://schemas.openxmlformats.org/drawingml/2006/main">
            <a:off x="16411575" y="273081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0">
                <a:solidFill>
                  <a:srgbClr val="526675"/>
                </a:solidFill>
                <a:latin typeface="Calibri"/>
                <a:ea typeface="Calibri"/>
                <a:cs typeface="Calibri"/>
              </a:defRPr>
            </a:defPPr>
          </a:lstStyle>
          <a:p xmlns:a="http://schemas.openxmlformats.org/drawingml/2006/main">
            <a:pPr algn="ctr">
              <a:defRPr sz="2775" b="0">
                <a:solidFill>
                  <a:srgbClr val="526675"/>
                </a:solidFill>
                <a:latin typeface="Calibri"/>
                <a:ea typeface="Calibri"/>
                <a:cs typeface="Calibri"/>
              </a:defRPr>
            </a:pPr>
            <a:r>
              <a:rPr sz="2775" b="0">
                <a:solidFill>
                  <a:srgbClr val="526675"/>
                </a:solidFill>
                <a:latin typeface="Calibri"/>
                <a:ea typeface="Calibri"/>
                <a:cs typeface="Calibri"/>
              </a:rPr>
              <a:t>14.33 / 0.63</a:t>
            </a:r>
          </a:p>
        </p:txBody>
      </p:sp>
      <p:pic>
        <p:nvPicPr>
          <p:cNvPr id="75" name="">
            <a:extLst xmlns:a="http://schemas.openxmlformats.org/drawingml/2006/main">
              <a:ext uri="{FF2B5EF4-FFF2-40B4-BE49-F238E27FC236}">
                <a16:creationId xmlns:a16="http://schemas.microsoft.com/office/drawing/2014/main" id="{763863F4-313F-40F3-AE4D-0249208DD763}"/>
              </a:ext>
            </a:extLst>
          </p:cNvPr>
          <p:cNvPicPr>
            <a:picLocks xmlns:a="http://schemas.openxmlformats.org/drawingml/2006/main" noChangeAspect="1"/>
          </p:cNvPicPr>
          <p:nvPr/>
        </p:nvPicPr>
        <p:blipFill>
          <a:blip xmlns:r="http://schemas.openxmlformats.org/officeDocument/2006/relationships" xmlns:a="http://schemas.openxmlformats.org/drawingml/2006/main" r:embed="R90d3152e6ed84b61"/>
          <a:stretch xmlns:a="http://schemas.openxmlformats.org/drawingml/2006/main"/>
        </p:blipFill>
        <p:spPr>
          <a:xfrm xmlns:a="http://schemas.openxmlformats.org/drawingml/2006/main">
            <a:off x="20535900" y="23479125"/>
            <a:ext cx="3714750" cy="3714750"/>
          </a:xfrm>
          <a:prstGeom xmlns:a="http://schemas.openxmlformats.org/drawingml/2006/main" prst="rect">
            <a:avLst/>
          </a:prstGeom>
        </p:spPr>
      </p:pic>
      <p:sp>
        <p:nvSpPr>
          <p:cNvPr id="76" name="text-48">
            <a:extLst xmlns:a="http://schemas.openxmlformats.org/drawingml/2006/main">
              <a:ext uri="{FF2B5EF4-FFF2-40B4-BE49-F238E27FC236}">
                <a16:creationId xmlns:a16="http://schemas.microsoft.com/office/drawing/2014/main" id="{2DE02F5C-459D-44B8-B504-91ECAB34D715}"/>
              </a:ext>
            </a:extLst>
          </p:cNvPr>
          <p:cNvSpPr>
            <a:spLocks xmlns:a="http://schemas.openxmlformats.org/drawingml/2006/main" noGrp="1"/>
          </p:cNvSpPr>
          <p:nvPr/>
        </p:nvSpPr>
        <p:spPr>
          <a:xfrm xmlns:a="http://schemas.openxmlformats.org/drawingml/2006/main">
            <a:off x="20535900" y="273081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0">
                <a:solidFill>
                  <a:srgbClr val="526675"/>
                </a:solidFill>
                <a:latin typeface="Calibri"/>
                <a:ea typeface="Calibri"/>
                <a:cs typeface="Calibri"/>
              </a:defRPr>
            </a:defPPr>
          </a:lstStyle>
          <a:p xmlns:a="http://schemas.openxmlformats.org/drawingml/2006/main">
            <a:pPr algn="ctr">
              <a:defRPr sz="2775" b="0">
                <a:solidFill>
                  <a:srgbClr val="526675"/>
                </a:solidFill>
                <a:latin typeface="Calibri"/>
                <a:ea typeface="Calibri"/>
                <a:cs typeface="Calibri"/>
              </a:defRPr>
            </a:pPr>
            <a:r>
              <a:rPr sz="2775" b="0">
                <a:solidFill>
                  <a:srgbClr val="526675"/>
                </a:solidFill>
                <a:latin typeface="Calibri"/>
                <a:ea typeface="Calibri"/>
                <a:cs typeface="Calibri"/>
              </a:rPr>
              <a:t>9.48 / 0.16</a:t>
            </a:r>
          </a:p>
        </p:txBody>
      </p:sp>
      <p:sp>
        <p:nvSpPr>
          <p:cNvPr id="77" name="Undecodable SSCC frame, represented as mid-gray">
            <a:extLst xmlns:a="http://schemas.openxmlformats.org/drawingml/2006/main">
              <a:ext uri="{FF2B5EF4-FFF2-40B4-BE49-F238E27FC236}">
                <a16:creationId xmlns:a16="http://schemas.microsoft.com/office/drawing/2014/main" id="{12B37DC0-DB6F-4041-85C4-F9B2D0F2158D}"/>
              </a:ext>
            </a:extLst>
          </p:cNvPr>
          <p:cNvSpPr>
            <a:spLocks xmlns:a="http://schemas.openxmlformats.org/drawingml/2006/main" noGrp="1"/>
          </p:cNvSpPr>
          <p:nvPr/>
        </p:nvSpPr>
        <p:spPr>
          <a:xfrm xmlns:a="http://schemas.openxmlformats.org/drawingml/2006/main">
            <a:off x="24660225" y="23479125"/>
            <a:ext cx="3714750" cy="3714750"/>
          </a:xfrm>
          <a:prstGeom xmlns:a="http://schemas.openxmlformats.org/drawingml/2006/main" prst="rect">
            <a:avLst/>
          </a:prstGeom>
          <a:solidFill xmlns:a="http://schemas.openxmlformats.org/drawingml/2006/main">
            <a:srgbClr val="808080"/>
          </a:solidFill>
          <a:ln xmlns:a="http://schemas.openxmlformats.org/drawingml/2006/main" w="0">
            <a:noFill/>
          </a:ln>
        </p:spPr>
        <p:txBody xmlns:a="http://schemas.openxmlformats.org/drawingml/2006/main">
          <a:bodyPr/>
          <a:p/>
        </p:txBody>
      </p:sp>
      <p:sp>
        <p:nvSpPr>
          <p:cNvPr id="78" name="text-49">
            <a:extLst xmlns:a="http://schemas.openxmlformats.org/drawingml/2006/main">
              <a:ext uri="{FF2B5EF4-FFF2-40B4-BE49-F238E27FC236}">
                <a16:creationId xmlns:a16="http://schemas.microsoft.com/office/drawing/2014/main" id="{9FECBD94-F5ED-44D6-9EA1-0006F729AE9E}"/>
              </a:ext>
            </a:extLst>
          </p:cNvPr>
          <p:cNvSpPr>
            <a:spLocks xmlns:a="http://schemas.openxmlformats.org/drawingml/2006/main" noGrp="1"/>
          </p:cNvSpPr>
          <p:nvPr/>
        </p:nvSpPr>
        <p:spPr>
          <a:xfrm xmlns:a="http://schemas.openxmlformats.org/drawingml/2006/main">
            <a:off x="24898350" y="2488882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850" b="1">
                <a:solidFill>
                  <a:srgbClr val="FFFFFF"/>
                </a:solidFill>
                <a:latin typeface="Calibri"/>
                <a:ea typeface="Calibri"/>
                <a:cs typeface="Calibri"/>
              </a:defRPr>
            </a:defPPr>
          </a:lstStyle>
          <a:p xmlns:a="http://schemas.openxmlformats.org/drawingml/2006/main">
            <a:pPr algn="ctr">
              <a:defRPr sz="2850" b="1">
                <a:solidFill>
                  <a:srgbClr val="FFFFFF"/>
                </a:solidFill>
                <a:latin typeface="Calibri"/>
                <a:ea typeface="Calibri"/>
                <a:cs typeface="Calibri"/>
              </a:defRPr>
            </a:pPr>
            <a:r>
              <a:rPr sz="2850" b="1">
                <a:solidFill>
                  <a:srgbClr val="FFFFFF"/>
                </a:solidFill>
                <a:latin typeface="Calibri"/>
                <a:ea typeface="Calibri"/>
                <a:cs typeface="Calibri"/>
              </a:rPr>
              <a:t>No decodable</a:t>
            </a:r>
          </a:p>
          <a:p xmlns:a="http://schemas.openxmlformats.org/drawingml/2006/main">
            <a:pPr algn="ctr">
              <a:defRPr sz="2850" b="1">
                <a:solidFill>
                  <a:srgbClr val="FFFFFF"/>
                </a:solidFill>
                <a:latin typeface="Calibri"/>
                <a:ea typeface="Calibri"/>
                <a:cs typeface="Calibri"/>
              </a:defRPr>
            </a:pPr>
            <a:r>
              <a:rPr sz="2850" b="1">
                <a:solidFill>
                  <a:srgbClr val="FFFFFF"/>
                </a:solidFill>
                <a:latin typeface="Calibri"/>
                <a:ea typeface="Calibri"/>
                <a:cs typeface="Calibri"/>
              </a:rPr>
              <a:t>frame</a:t>
            </a:r>
          </a:p>
        </p:txBody>
      </p:sp>
      <p:sp>
        <p:nvSpPr>
          <p:cNvPr id="79" name="text-50">
            <a:extLst xmlns:a="http://schemas.openxmlformats.org/drawingml/2006/main">
              <a:ext uri="{FF2B5EF4-FFF2-40B4-BE49-F238E27FC236}">
                <a16:creationId xmlns:a16="http://schemas.microsoft.com/office/drawing/2014/main" id="{52D60D53-9884-4559-B3D5-4F507801E66A}"/>
              </a:ext>
            </a:extLst>
          </p:cNvPr>
          <p:cNvSpPr>
            <a:spLocks xmlns:a="http://schemas.openxmlformats.org/drawingml/2006/main" noGrp="1"/>
          </p:cNvSpPr>
          <p:nvPr/>
        </p:nvSpPr>
        <p:spPr>
          <a:xfrm xmlns:a="http://schemas.openxmlformats.org/drawingml/2006/main">
            <a:off x="24660225" y="273081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75" b="0">
                <a:solidFill>
                  <a:srgbClr val="526675"/>
                </a:solidFill>
                <a:latin typeface="Calibri"/>
                <a:ea typeface="Calibri"/>
                <a:cs typeface="Calibri"/>
              </a:defRPr>
            </a:defPPr>
          </a:lstStyle>
          <a:p xmlns:a="http://schemas.openxmlformats.org/drawingml/2006/main">
            <a:pPr algn="ctr">
              <a:defRPr sz="2775" b="0">
                <a:solidFill>
                  <a:srgbClr val="526675"/>
                </a:solidFill>
                <a:latin typeface="Calibri"/>
                <a:ea typeface="Calibri"/>
                <a:cs typeface="Calibri"/>
              </a:defRPr>
            </a:pPr>
            <a:r>
              <a:rPr sz="2775" b="0">
                <a:solidFill>
                  <a:srgbClr val="526675"/>
                </a:solidFill>
                <a:latin typeface="Calibri"/>
                <a:ea typeface="Calibri"/>
                <a:cs typeface="Calibri"/>
              </a:rPr>
              <a:t>N/A</a:t>
            </a:r>
          </a:p>
        </p:txBody>
      </p:sp>
      <p:sp>
        <p:nvSpPr>
          <p:cNvPr id="80" name="text-51">
            <a:extLst xmlns:a="http://schemas.openxmlformats.org/drawingml/2006/main">
              <a:ext uri="{FF2B5EF4-FFF2-40B4-BE49-F238E27FC236}">
                <a16:creationId xmlns:a16="http://schemas.microsoft.com/office/drawing/2014/main" id="{2A1D9E89-27FE-4AEA-A298-8C14A6C49131}"/>
              </a:ext>
            </a:extLst>
          </p:cNvPr>
          <p:cNvSpPr>
            <a:spLocks xmlns:a="http://schemas.openxmlformats.org/drawingml/2006/main" noGrp="1"/>
          </p:cNvSpPr>
          <p:nvPr/>
        </p:nvSpPr>
        <p:spPr>
          <a:xfrm xmlns:a="http://schemas.openxmlformats.org/drawingml/2006/main">
            <a:off x="10477500" y="28003500"/>
            <a:ext cx="1873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526675"/>
                </a:solidFill>
                <a:latin typeface="Calibri"/>
                <a:ea typeface="Calibri"/>
                <a:cs typeface="Calibri"/>
              </a:defRPr>
            </a:defPPr>
          </a:lstStyle>
          <a:p xmlns:a="http://schemas.openxmlformats.org/drawingml/2006/main">
            <a:pPr algn="l">
              <a:defRPr sz="2625" b="0">
                <a:solidFill>
                  <a:srgbClr val="526675"/>
                </a:solidFill>
                <a:latin typeface="Calibri"/>
                <a:ea typeface="Calibri"/>
                <a:cs typeface="Calibri"/>
              </a:defRPr>
            </a:pPr>
            <a:r>
              <a:rPr sz="2625" b="0">
                <a:solidFill>
                  <a:srgbClr val="526675"/>
                </a:solidFill>
                <a:latin typeface="Calibri"/>
                <a:ea typeface="Calibri"/>
                <a:cs typeface="Calibri"/>
              </a:rPr>
              <a:t>Matched TX attenuation; headings show the measured SNR of the DeepJSCC-Q frames.</a:t>
            </a:r>
          </a:p>
          <a:p xmlns:a="http://schemas.openxmlformats.org/drawingml/2006/main">
            <a:pPr algn="l">
              <a:defRPr sz="2625" b="0">
                <a:solidFill>
                  <a:srgbClr val="526675"/>
                </a:solidFill>
                <a:latin typeface="Calibri"/>
                <a:ea typeface="Calibri"/>
                <a:cs typeface="Calibri"/>
              </a:defRPr>
            </a:pPr>
            <a:r>
              <a:rPr sz="2625" b="0">
                <a:solidFill>
                  <a:srgbClr val="526675"/>
                </a:solidFill>
                <a:latin typeface="Calibri"/>
                <a:ea typeface="Calibri"/>
                <a:cs typeface="Calibri"/>
              </a:rPr>
              <a:t>Image labels: single-frame PSNR (dB) / SSIM. Undecodable frames are scored as mid-gray.</a:t>
            </a:r>
          </a:p>
        </p:txBody>
      </p:sp>
      <p:sp>
        <p:nvSpPr>
          <p:cNvPr id="81" name="text-52">
            <a:extLst xmlns:a="http://schemas.openxmlformats.org/drawingml/2006/main">
              <a:ext uri="{FF2B5EF4-FFF2-40B4-BE49-F238E27FC236}">
                <a16:creationId xmlns:a16="http://schemas.microsoft.com/office/drawing/2014/main" id="{86B34049-A302-4342-B1C4-D9FE90A4696A}"/>
              </a:ext>
            </a:extLst>
          </p:cNvPr>
          <p:cNvSpPr>
            <a:spLocks xmlns:a="http://schemas.openxmlformats.org/drawingml/2006/main" noGrp="1"/>
          </p:cNvSpPr>
          <p:nvPr/>
        </p:nvSpPr>
        <p:spPr>
          <a:xfrm xmlns:a="http://schemas.openxmlformats.org/drawingml/2006/main">
            <a:off x="1066800" y="29813250"/>
            <a:ext cx="13573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B4F8A"/>
                </a:solidFill>
                <a:latin typeface="Calibri"/>
                <a:ea typeface="Calibri"/>
                <a:cs typeface="Calibri"/>
              </a:defRPr>
            </a:defPPr>
          </a:lstStyle>
          <a:p xmlns:a="http://schemas.openxmlformats.org/drawingml/2006/main">
            <a:pPr algn="l">
              <a:defRPr sz="4725" b="1">
                <a:solidFill>
                  <a:srgbClr val="0B4F8A"/>
                </a:solidFill>
                <a:latin typeface="Calibri"/>
                <a:ea typeface="Calibri"/>
                <a:cs typeface="Calibri"/>
              </a:defRPr>
            </a:pPr>
            <a:r>
              <a:rPr sz="4725" b="1">
                <a:solidFill>
                  <a:srgbClr val="0B4F8A"/>
                </a:solidFill>
                <a:latin typeface="Calibri"/>
                <a:ea typeface="Calibri"/>
                <a:cs typeface="Calibri"/>
              </a:rPr>
              <a:t>Streaming FPGA implementation</a:t>
            </a:r>
          </a:p>
        </p:txBody>
      </p:sp>
      <p:sp>
        <p:nvSpPr>
          <p:cNvPr id="82" name="text-53">
            <a:extLst xmlns:a="http://schemas.openxmlformats.org/drawingml/2006/main">
              <a:ext uri="{FF2B5EF4-FFF2-40B4-BE49-F238E27FC236}">
                <a16:creationId xmlns:a16="http://schemas.microsoft.com/office/drawing/2014/main" id="{78FC9EAD-454E-4ADE-93F1-1C5A4B32427E}"/>
              </a:ext>
            </a:extLst>
          </p:cNvPr>
          <p:cNvSpPr>
            <a:spLocks xmlns:a="http://schemas.openxmlformats.org/drawingml/2006/main" noGrp="1"/>
          </p:cNvSpPr>
          <p:nvPr/>
        </p:nvSpPr>
        <p:spPr>
          <a:xfrm xmlns:a="http://schemas.openxmlformats.org/drawingml/2006/main">
            <a:off x="1066800" y="30689550"/>
            <a:ext cx="13573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526675"/>
                </a:solidFill>
                <a:latin typeface="Calibri"/>
                <a:ea typeface="Calibri"/>
                <a:cs typeface="Calibri"/>
              </a:defRPr>
            </a:defPPr>
          </a:lstStyle>
          <a:p xmlns:a="http://schemas.openxmlformats.org/drawingml/2006/main">
            <a:pPr algn="l">
              <a:defRPr sz="3300" b="0">
                <a:solidFill>
                  <a:srgbClr val="526675"/>
                </a:solidFill>
                <a:latin typeface="Calibri"/>
                <a:ea typeface="Calibri"/>
                <a:cs typeface="Calibri"/>
              </a:defRPr>
            </a:pPr>
            <a:r>
              <a:rPr sz="3300" b="0">
                <a:solidFill>
                  <a:srgbClr val="526675"/>
                </a:solidFill>
                <a:latin typeface="Calibri"/>
                <a:ea typeface="Calibri"/>
                <a:cs typeface="Calibri"/>
              </a:rPr>
              <a:t>250 MHz, W8A12, 1.15 GMAC per frame</a:t>
            </a:r>
          </a:p>
        </p:txBody>
      </p:sp>
      <p:sp>
        <p:nvSpPr>
          <p:cNvPr id="83" name="module-Line buffer">
            <a:extLst xmlns:a="http://schemas.openxmlformats.org/drawingml/2006/main">
              <a:ext uri="{FF2B5EF4-FFF2-40B4-BE49-F238E27FC236}">
                <a16:creationId xmlns:a16="http://schemas.microsoft.com/office/drawing/2014/main" id="{C6ED029D-D2CE-4725-BA9D-CD8531F35200}"/>
              </a:ext>
            </a:extLst>
          </p:cNvPr>
          <p:cNvSpPr>
            <a:spLocks xmlns:a="http://schemas.openxmlformats.org/drawingml/2006/main" noGrp="1"/>
          </p:cNvSpPr>
          <p:nvPr/>
        </p:nvSpPr>
        <p:spPr>
          <a:xfrm xmlns:a="http://schemas.openxmlformats.org/drawingml/2006/main">
            <a:off x="1066800" y="33004125"/>
            <a:ext cx="2781300" cy="1362075"/>
          </a:xfrm>
          <a:prstGeom xmlns:a="http://schemas.openxmlformats.org/drawingml/2006/main" prst="rect">
            <a:avLst/>
          </a:prstGeom>
          <a:solidFill xmlns:a="http://schemas.openxmlformats.org/drawingml/2006/main">
            <a:srgbClr val="EEF4F8"/>
          </a:solidFill>
          <a:ln xmlns:a="http://schemas.openxmlformats.org/drawingml/2006/main" w="22860">
            <a:solidFill>
              <a:srgbClr val="0B4F8A"/>
            </a:solidFill>
          </a:ln>
        </p:spPr>
        <p:txBody xmlns:a="http://schemas.openxmlformats.org/drawingml/2006/main">
          <a:bodyPr/>
          <a:p/>
        </p:txBody>
      </p:sp>
      <p:sp>
        <p:nvSpPr>
          <p:cNvPr id="84" name="text-54">
            <a:extLst xmlns:a="http://schemas.openxmlformats.org/drawingml/2006/main">
              <a:ext uri="{FF2B5EF4-FFF2-40B4-BE49-F238E27FC236}">
                <a16:creationId xmlns:a16="http://schemas.microsoft.com/office/drawing/2014/main" id="{3CAF8B85-70F2-431A-949F-40838D9CAF9B}"/>
              </a:ext>
            </a:extLst>
          </p:cNvPr>
          <p:cNvSpPr>
            <a:spLocks xmlns:a="http://schemas.openxmlformats.org/drawingml/2006/main" noGrp="1"/>
          </p:cNvSpPr>
          <p:nvPr/>
        </p:nvSpPr>
        <p:spPr>
          <a:xfrm xmlns:a="http://schemas.openxmlformats.org/drawingml/2006/main">
            <a:off x="1181100" y="33156525"/>
            <a:ext cx="2552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Line buffer</a:t>
            </a:r>
          </a:p>
        </p:txBody>
      </p:sp>
      <p:sp>
        <p:nvSpPr>
          <p:cNvPr id="85" name="text-55">
            <a:extLst xmlns:a="http://schemas.openxmlformats.org/drawingml/2006/main">
              <a:ext uri="{FF2B5EF4-FFF2-40B4-BE49-F238E27FC236}">
                <a16:creationId xmlns:a16="http://schemas.microsoft.com/office/drawing/2014/main" id="{FD01B600-DCA4-46CB-8FD9-46839B375206}"/>
              </a:ext>
            </a:extLst>
          </p:cNvPr>
          <p:cNvSpPr>
            <a:spLocks xmlns:a="http://schemas.openxmlformats.org/drawingml/2006/main" noGrp="1"/>
          </p:cNvSpPr>
          <p:nvPr/>
        </p:nvSpPr>
        <p:spPr>
          <a:xfrm xmlns:a="http://schemas.openxmlformats.org/drawingml/2006/main">
            <a:off x="1181100" y="33689925"/>
            <a:ext cx="255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K or K+1 rows</a:t>
            </a:r>
          </a:p>
        </p:txBody>
      </p:sp>
      <p:sp>
        <p:nvSpPr>
          <p:cNvPr id="86" name="module-Window">
            <a:extLst xmlns:a="http://schemas.openxmlformats.org/drawingml/2006/main">
              <a:ext uri="{FF2B5EF4-FFF2-40B4-BE49-F238E27FC236}">
                <a16:creationId xmlns:a16="http://schemas.microsoft.com/office/drawing/2014/main" id="{B7FB7376-F6D6-4FAC-931C-5E34C8E4EE9D}"/>
              </a:ext>
            </a:extLst>
          </p:cNvPr>
          <p:cNvSpPr>
            <a:spLocks xmlns:a="http://schemas.openxmlformats.org/drawingml/2006/main" noGrp="1"/>
          </p:cNvSpPr>
          <p:nvPr/>
        </p:nvSpPr>
        <p:spPr>
          <a:xfrm xmlns:a="http://schemas.openxmlformats.org/drawingml/2006/main">
            <a:off x="4419600" y="33004125"/>
            <a:ext cx="2781300" cy="1362075"/>
          </a:xfrm>
          <a:prstGeom xmlns:a="http://schemas.openxmlformats.org/drawingml/2006/main" prst="rect">
            <a:avLst/>
          </a:prstGeom>
          <a:solidFill xmlns:a="http://schemas.openxmlformats.org/drawingml/2006/main">
            <a:srgbClr val="EEF4F8"/>
          </a:solidFill>
          <a:ln xmlns:a="http://schemas.openxmlformats.org/drawingml/2006/main" w="22860">
            <a:solidFill>
              <a:srgbClr val="0B4F8A"/>
            </a:solidFill>
          </a:ln>
        </p:spPr>
        <p:txBody xmlns:a="http://schemas.openxmlformats.org/drawingml/2006/main">
          <a:bodyPr/>
          <a:p/>
        </p:txBody>
      </p:sp>
      <p:sp>
        <p:nvSpPr>
          <p:cNvPr id="87" name="text-56">
            <a:extLst xmlns:a="http://schemas.openxmlformats.org/drawingml/2006/main">
              <a:ext uri="{FF2B5EF4-FFF2-40B4-BE49-F238E27FC236}">
                <a16:creationId xmlns:a16="http://schemas.microsoft.com/office/drawing/2014/main" id="{6A308B70-7D2A-48EE-B89F-358B54D9EBFA}"/>
              </a:ext>
            </a:extLst>
          </p:cNvPr>
          <p:cNvSpPr>
            <a:spLocks xmlns:a="http://schemas.openxmlformats.org/drawingml/2006/main" noGrp="1"/>
          </p:cNvSpPr>
          <p:nvPr/>
        </p:nvSpPr>
        <p:spPr>
          <a:xfrm xmlns:a="http://schemas.openxmlformats.org/drawingml/2006/main">
            <a:off x="4533900" y="33156525"/>
            <a:ext cx="2552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Window</a:t>
            </a:r>
          </a:p>
        </p:txBody>
      </p:sp>
      <p:sp>
        <p:nvSpPr>
          <p:cNvPr id="88" name="text-57">
            <a:extLst xmlns:a="http://schemas.openxmlformats.org/drawingml/2006/main">
              <a:ext uri="{FF2B5EF4-FFF2-40B4-BE49-F238E27FC236}">
                <a16:creationId xmlns:a16="http://schemas.microsoft.com/office/drawing/2014/main" id="{5278B521-0B41-4766-B2AE-E31F3E33D303}"/>
              </a:ext>
            </a:extLst>
          </p:cNvPr>
          <p:cNvSpPr>
            <a:spLocks xmlns:a="http://schemas.openxmlformats.org/drawingml/2006/main" noGrp="1"/>
          </p:cNvSpPr>
          <p:nvPr/>
        </p:nvSpPr>
        <p:spPr>
          <a:xfrm xmlns:a="http://schemas.openxmlformats.org/drawingml/2006/main">
            <a:off x="4533900" y="33689925"/>
            <a:ext cx="255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K × K × Cin</a:t>
            </a:r>
          </a:p>
        </p:txBody>
      </p:sp>
      <p:sp>
        <p:nvSpPr>
          <p:cNvPr id="89" name="module-P MAC lanes">
            <a:extLst xmlns:a="http://schemas.openxmlformats.org/drawingml/2006/main">
              <a:ext uri="{FF2B5EF4-FFF2-40B4-BE49-F238E27FC236}">
                <a16:creationId xmlns:a16="http://schemas.microsoft.com/office/drawing/2014/main" id="{4CC8540A-BDB7-4986-B1B8-3B51913C0AD7}"/>
              </a:ext>
            </a:extLst>
          </p:cNvPr>
          <p:cNvSpPr>
            <a:spLocks xmlns:a="http://schemas.openxmlformats.org/drawingml/2006/main" noGrp="1"/>
          </p:cNvSpPr>
          <p:nvPr/>
        </p:nvSpPr>
        <p:spPr>
          <a:xfrm xmlns:a="http://schemas.openxmlformats.org/drawingml/2006/main">
            <a:off x="7772400" y="33004125"/>
            <a:ext cx="2781300" cy="1362075"/>
          </a:xfrm>
          <a:prstGeom xmlns:a="http://schemas.openxmlformats.org/drawingml/2006/main" prst="rect">
            <a:avLst/>
          </a:prstGeom>
          <a:solidFill xmlns:a="http://schemas.openxmlformats.org/drawingml/2006/main">
            <a:srgbClr val="FFF3CC"/>
          </a:solidFill>
          <a:ln xmlns:a="http://schemas.openxmlformats.org/drawingml/2006/main" w="22860">
            <a:solidFill>
              <a:srgbClr val="0B4F8A"/>
            </a:solidFill>
          </a:ln>
        </p:spPr>
        <p:txBody xmlns:a="http://schemas.openxmlformats.org/drawingml/2006/main">
          <a:bodyPr/>
          <a:p/>
        </p:txBody>
      </p:sp>
      <p:sp>
        <p:nvSpPr>
          <p:cNvPr id="90" name="text-58">
            <a:extLst xmlns:a="http://schemas.openxmlformats.org/drawingml/2006/main">
              <a:ext uri="{FF2B5EF4-FFF2-40B4-BE49-F238E27FC236}">
                <a16:creationId xmlns:a16="http://schemas.microsoft.com/office/drawing/2014/main" id="{B1FCEFB9-068A-4CC9-AFB7-BE6D3FA82B1D}"/>
              </a:ext>
            </a:extLst>
          </p:cNvPr>
          <p:cNvSpPr>
            <a:spLocks xmlns:a="http://schemas.openxmlformats.org/drawingml/2006/main" noGrp="1"/>
          </p:cNvSpPr>
          <p:nvPr/>
        </p:nvSpPr>
        <p:spPr>
          <a:xfrm xmlns:a="http://schemas.openxmlformats.org/drawingml/2006/main">
            <a:off x="7886700" y="33156525"/>
            <a:ext cx="2552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P MAC lanes</a:t>
            </a:r>
          </a:p>
        </p:txBody>
      </p:sp>
      <p:sp>
        <p:nvSpPr>
          <p:cNvPr id="91" name="text-59">
            <a:extLst xmlns:a="http://schemas.openxmlformats.org/drawingml/2006/main">
              <a:ext uri="{FF2B5EF4-FFF2-40B4-BE49-F238E27FC236}">
                <a16:creationId xmlns:a16="http://schemas.microsoft.com/office/drawing/2014/main" id="{05AC71A6-93B1-464F-8CF5-582A7483523C}"/>
              </a:ext>
            </a:extLst>
          </p:cNvPr>
          <p:cNvSpPr>
            <a:spLocks xmlns:a="http://schemas.openxmlformats.org/drawingml/2006/main" noGrp="1"/>
          </p:cNvSpPr>
          <p:nvPr/>
        </p:nvSpPr>
        <p:spPr>
          <a:xfrm xmlns:a="http://schemas.openxmlformats.org/drawingml/2006/main">
            <a:off x="7886700" y="33689925"/>
            <a:ext cx="255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P accumulators</a:t>
            </a:r>
          </a:p>
        </p:txBody>
      </p:sp>
      <p:sp>
        <p:nvSpPr>
          <p:cNvPr id="92" name="module-Requantize">
            <a:extLst xmlns:a="http://schemas.openxmlformats.org/drawingml/2006/main">
              <a:ext uri="{FF2B5EF4-FFF2-40B4-BE49-F238E27FC236}">
                <a16:creationId xmlns:a16="http://schemas.microsoft.com/office/drawing/2014/main" id="{664BF14E-690E-40C0-8687-BA3EC63FE4DD}"/>
              </a:ext>
            </a:extLst>
          </p:cNvPr>
          <p:cNvSpPr>
            <a:spLocks xmlns:a="http://schemas.openxmlformats.org/drawingml/2006/main" noGrp="1"/>
          </p:cNvSpPr>
          <p:nvPr/>
        </p:nvSpPr>
        <p:spPr>
          <a:xfrm xmlns:a="http://schemas.openxmlformats.org/drawingml/2006/main">
            <a:off x="11125200" y="33004125"/>
            <a:ext cx="2781300" cy="1362075"/>
          </a:xfrm>
          <a:prstGeom xmlns:a="http://schemas.openxmlformats.org/drawingml/2006/main" prst="rect">
            <a:avLst/>
          </a:prstGeom>
          <a:solidFill xmlns:a="http://schemas.openxmlformats.org/drawingml/2006/main">
            <a:srgbClr val="FFF3CC"/>
          </a:solidFill>
          <a:ln xmlns:a="http://schemas.openxmlformats.org/drawingml/2006/main" w="22860">
            <a:solidFill>
              <a:srgbClr val="0B4F8A"/>
            </a:solidFill>
          </a:ln>
        </p:spPr>
        <p:txBody xmlns:a="http://schemas.openxmlformats.org/drawingml/2006/main">
          <a:bodyPr/>
          <a:p/>
        </p:txBody>
      </p:sp>
      <p:sp>
        <p:nvSpPr>
          <p:cNvPr id="93" name="text-60">
            <a:extLst xmlns:a="http://schemas.openxmlformats.org/drawingml/2006/main">
              <a:ext uri="{FF2B5EF4-FFF2-40B4-BE49-F238E27FC236}">
                <a16:creationId xmlns:a16="http://schemas.microsoft.com/office/drawing/2014/main" id="{90058749-5146-4D87-8B6C-2B8A6A5AAC96}"/>
              </a:ext>
            </a:extLst>
          </p:cNvPr>
          <p:cNvSpPr>
            <a:spLocks xmlns:a="http://schemas.openxmlformats.org/drawingml/2006/main" noGrp="1"/>
          </p:cNvSpPr>
          <p:nvPr/>
        </p:nvSpPr>
        <p:spPr>
          <a:xfrm xmlns:a="http://schemas.openxmlformats.org/drawingml/2006/main">
            <a:off x="11239500" y="33156525"/>
            <a:ext cx="2552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Requantize</a:t>
            </a:r>
          </a:p>
        </p:txBody>
      </p:sp>
      <p:sp>
        <p:nvSpPr>
          <p:cNvPr id="94" name="text-61">
            <a:extLst xmlns:a="http://schemas.openxmlformats.org/drawingml/2006/main">
              <a:ext uri="{FF2B5EF4-FFF2-40B4-BE49-F238E27FC236}">
                <a16:creationId xmlns:a16="http://schemas.microsoft.com/office/drawing/2014/main" id="{E340B44D-F6DF-4120-B611-1FE45567AB7D}"/>
              </a:ext>
            </a:extLst>
          </p:cNvPr>
          <p:cNvSpPr>
            <a:spLocks xmlns:a="http://schemas.openxmlformats.org/drawingml/2006/main" noGrp="1"/>
          </p:cNvSpPr>
          <p:nvPr/>
        </p:nvSpPr>
        <p:spPr>
          <a:xfrm xmlns:a="http://schemas.openxmlformats.org/drawingml/2006/main">
            <a:off x="11239500" y="33689925"/>
            <a:ext cx="255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526675"/>
                </a:solidFill>
                <a:latin typeface="Calibri"/>
                <a:ea typeface="Calibri"/>
                <a:cs typeface="Calibri"/>
              </a:defRPr>
            </a:defPPr>
          </a:lstStyle>
          <a:p xmlns:a="http://schemas.openxmlformats.org/drawingml/2006/main">
            <a:pPr algn="ctr">
              <a:defRPr sz="2475" b="0">
                <a:solidFill>
                  <a:srgbClr val="526675"/>
                </a:solidFill>
                <a:latin typeface="Calibri"/>
                <a:ea typeface="Calibri"/>
                <a:cs typeface="Calibri"/>
              </a:defRPr>
            </a:pPr>
            <a:r>
              <a:rPr sz="2475" b="0">
                <a:solidFill>
                  <a:srgbClr val="526675"/>
                </a:solidFill>
                <a:latin typeface="Calibri"/>
                <a:ea typeface="Calibri"/>
                <a:cs typeface="Calibri"/>
              </a:rPr>
              <a:t>Bias, act., shift</a:t>
            </a:r>
          </a:p>
        </p:txBody>
      </p:sp>
      <p:sp>
        <p:nvSpPr>
          <p:cNvPr id="98" name="module-Weight ROM">
            <a:extLst xmlns:a="http://schemas.openxmlformats.org/drawingml/2006/main">
              <a:ext uri="{FF2B5EF4-FFF2-40B4-BE49-F238E27FC236}">
                <a16:creationId xmlns:a16="http://schemas.microsoft.com/office/drawing/2014/main" id="{72FCCA81-253B-494F-AA3C-9D10EE05D35D}"/>
              </a:ext>
            </a:extLst>
          </p:cNvPr>
          <p:cNvSpPr>
            <a:spLocks xmlns:a="http://schemas.openxmlformats.org/drawingml/2006/main" noGrp="1"/>
          </p:cNvSpPr>
          <p:nvPr/>
        </p:nvSpPr>
        <p:spPr>
          <a:xfrm xmlns:a="http://schemas.openxmlformats.org/drawingml/2006/main">
            <a:off x="7772400" y="31670625"/>
            <a:ext cx="2781300" cy="904875"/>
          </a:xfrm>
          <a:prstGeom xmlns:a="http://schemas.openxmlformats.org/drawingml/2006/main" prst="rect">
            <a:avLst/>
          </a:prstGeom>
          <a:solidFill xmlns:a="http://schemas.openxmlformats.org/drawingml/2006/main">
            <a:srgbClr val="EAF1DE"/>
          </a:solidFill>
          <a:ln xmlns:a="http://schemas.openxmlformats.org/drawingml/2006/main" w="22860">
            <a:solidFill>
              <a:srgbClr val="0B4F8A"/>
            </a:solidFill>
          </a:ln>
        </p:spPr>
        <p:txBody xmlns:a="http://schemas.openxmlformats.org/drawingml/2006/main">
          <a:bodyPr/>
          <a:p/>
        </p:txBody>
      </p:sp>
      <p:sp>
        <p:nvSpPr>
          <p:cNvPr id="99" name="text-62">
            <a:extLst xmlns:a="http://schemas.openxmlformats.org/drawingml/2006/main">
              <a:ext uri="{FF2B5EF4-FFF2-40B4-BE49-F238E27FC236}">
                <a16:creationId xmlns:a16="http://schemas.microsoft.com/office/drawing/2014/main" id="{77936FD0-21A4-40B1-8ACB-D63C9EAA1E68}"/>
              </a:ext>
            </a:extLst>
          </p:cNvPr>
          <p:cNvSpPr>
            <a:spLocks xmlns:a="http://schemas.openxmlformats.org/drawingml/2006/main" noGrp="1"/>
          </p:cNvSpPr>
          <p:nvPr/>
        </p:nvSpPr>
        <p:spPr>
          <a:xfrm xmlns:a="http://schemas.openxmlformats.org/drawingml/2006/main">
            <a:off x="7886700" y="31823025"/>
            <a:ext cx="2552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925" b="1">
                <a:solidFill>
                  <a:srgbClr val="20303D"/>
                </a:solidFill>
                <a:latin typeface="Calibri"/>
                <a:ea typeface="Calibri"/>
                <a:cs typeface="Calibri"/>
              </a:defRPr>
            </a:defPPr>
          </a:lstStyle>
          <a:p xmlns:a="http://schemas.openxmlformats.org/drawingml/2006/main">
            <a:pPr algn="ctr">
              <a:defRPr sz="2925" b="1">
                <a:solidFill>
                  <a:srgbClr val="20303D"/>
                </a:solidFill>
                <a:latin typeface="Calibri"/>
                <a:ea typeface="Calibri"/>
                <a:cs typeface="Calibri"/>
              </a:defRPr>
            </a:pPr>
            <a:r>
              <a:rPr sz="2925" b="1">
                <a:solidFill>
                  <a:srgbClr val="20303D"/>
                </a:solidFill>
                <a:latin typeface="Calibri"/>
                <a:ea typeface="Calibri"/>
                <a:cs typeface="Calibri"/>
              </a:rPr>
              <a:t>Weight ROM</a:t>
            </a:r>
          </a:p>
        </p:txBody>
      </p:sp>
      <p:sp>
        <p:nvSpPr>
          <p:cNvPr id="101" name="text-63">
            <a:extLst xmlns:a="http://schemas.openxmlformats.org/drawingml/2006/main">
              <a:ext uri="{FF2B5EF4-FFF2-40B4-BE49-F238E27FC236}">
                <a16:creationId xmlns:a16="http://schemas.microsoft.com/office/drawing/2014/main" id="{6669C19A-93FD-4F1C-A64B-B3165B0302F4}"/>
              </a:ext>
            </a:extLst>
          </p:cNvPr>
          <p:cNvSpPr>
            <a:spLocks xmlns:a="http://schemas.openxmlformats.org/drawingml/2006/main" noGrp="1"/>
          </p:cNvSpPr>
          <p:nvPr/>
        </p:nvSpPr>
        <p:spPr>
          <a:xfrm xmlns:a="http://schemas.openxmlformats.org/drawingml/2006/main">
            <a:off x="1066800" y="34766250"/>
            <a:ext cx="1357312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20303D"/>
                </a:solidFill>
                <a:latin typeface="Calibri"/>
                <a:ea typeface="Calibri"/>
                <a:cs typeface="Calibri"/>
              </a:defRPr>
            </a:defPPr>
          </a:lstStyle>
          <a:p xmlns:a="http://schemas.openxmlformats.org/drawingml/2006/main">
            <a:pPr algn="l">
              <a:defRPr sz="3075" b="0">
                <a:solidFill>
                  <a:srgbClr val="20303D"/>
                </a:solidFill>
                <a:latin typeface="Calibri"/>
                <a:ea typeface="Calibri"/>
                <a:cs typeface="Calibri"/>
              </a:defRPr>
            </a:pPr>
            <a:r>
              <a:rPr sz="3075" b="0">
                <a:solidFill>
                  <a:srgbClr val="20303D"/>
                </a:solidFill>
                <a:latin typeface="Calibri"/>
                <a:ea typeface="Calibri"/>
                <a:cs typeface="Calibri"/>
              </a:rPr>
              <a:t>Dedicated engines form a layer pipeline. P is chosen to sustain 30 fps.</a:t>
            </a:r>
          </a:p>
          <a:p xmlns:a="http://schemas.openxmlformats.org/drawingml/2006/main">
            <a:pPr algn="l">
              <a:defRPr sz="3075" b="0">
                <a:solidFill>
                  <a:srgbClr val="20303D"/>
                </a:solidFill>
                <a:latin typeface="Calibri"/>
                <a:ea typeface="Calibri"/>
                <a:cs typeface="Calibri"/>
              </a:defRPr>
            </a:pPr>
            <a:r>
              <a:rPr sz="3075" b="0">
                <a:solidFill>
                  <a:srgbClr val="20303D"/>
                </a:solidFill>
                <a:latin typeface="Calibri"/>
                <a:ea typeface="Calibri"/>
                <a:cs typeface="Calibri"/>
              </a:rPr>
              <a:t>On-chip weights and buffers avoid storing full intermediate feature maps.</a:t>
            </a:r>
          </a:p>
        </p:txBody>
      </p:sp>
      <p:sp>
        <p:nvSpPr>
          <p:cNvPr id="102" name="text-64">
            <a:extLst xmlns:a="http://schemas.openxmlformats.org/drawingml/2006/main">
              <a:ext uri="{FF2B5EF4-FFF2-40B4-BE49-F238E27FC236}">
                <a16:creationId xmlns:a16="http://schemas.microsoft.com/office/drawing/2014/main" id="{616785C3-69A5-4288-8543-ABF30A8AF002}"/>
              </a:ext>
            </a:extLst>
          </p:cNvPr>
          <p:cNvSpPr>
            <a:spLocks xmlns:a="http://schemas.openxmlformats.org/drawingml/2006/main" noGrp="1"/>
          </p:cNvSpPr>
          <p:nvPr/>
        </p:nvSpPr>
        <p:spPr>
          <a:xfrm xmlns:a="http://schemas.openxmlformats.org/drawingml/2006/main">
            <a:off x="1066800" y="36385500"/>
            <a:ext cx="1357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4F8A"/>
                </a:solidFill>
                <a:latin typeface="Calibri"/>
                <a:ea typeface="Calibri"/>
                <a:cs typeface="Calibri"/>
              </a:defRPr>
            </a:defPPr>
          </a:lstStyle>
          <a:p xmlns:a="http://schemas.openxmlformats.org/drawingml/2006/main">
            <a:pPr algn="l">
              <a:defRPr sz="3225" b="1">
                <a:solidFill>
                  <a:srgbClr val="0B4F8A"/>
                </a:solidFill>
                <a:latin typeface="Calibri"/>
                <a:ea typeface="Calibri"/>
                <a:cs typeface="Calibri"/>
              </a:defRPr>
            </a:pPr>
            <a:r>
              <a:rPr sz="3225" b="1">
                <a:solidFill>
                  <a:srgbClr val="0B4F8A"/>
                </a:solidFill>
                <a:latin typeface="Calibri"/>
                <a:ea typeface="Calibri"/>
                <a:cs typeface="Calibri"/>
              </a:rPr>
              <a:t>Full TX / RX designs after routing (xczu5eg)</a:t>
            </a:r>
          </a:p>
        </p:txBody>
      </p:sp>
      <p:graphicFrame>
        <p:nvGraphicFramePr>
          <p:cNvPr id="103" name="">
            <a:extLst xmlns:a="http://schemas.openxmlformats.org/drawingml/2006/main">
              <a:ext uri="{FF2B5EF4-FFF2-40B4-BE49-F238E27FC236}">
                <a16:creationId xmlns:a16="http://schemas.microsoft.com/office/drawing/2014/main" id="{FC9D60F6-BAA8-475D-AE36-3E7AE9404C05}"/>
              </a:ext>
            </a:extLst>
          </p:cNvPr>
          <p:cNvGraphicFramePr/>
          <p:nvPr/>
        </p:nvGraphicFramePr>
        <p:xfrm>
          <a:off xmlns:a="http://schemas.openxmlformats.org/drawingml/2006/main" x="1066800" y="37195125"/>
          <a:ext xmlns:a="http://schemas.openxmlformats.org/drawingml/2006/main" cx="13573125" cy="2286000"/>
        </p:xfrm>
        <a:graphic xmlns:a="http://schemas.openxmlformats.org/drawingml/2006/main">
          <a:graphicData uri="http://schemas.openxmlformats.org/drawingml/2006/table">
            <a:tbl>
              <a:tblPr/>
              <a:tblGrid>
                <a:gridCol w="1905000"/>
                <a:gridCol w="3238500"/>
                <a:gridCol w="3143250"/>
                <a:gridCol w="2476500"/>
                <a:gridCol w="2809875"/>
              </a:tblGrid>
              <a:tr h="762000">
                <a:tc>
                  <a:txBody>
                    <a:bodyPr lIns="133350" tIns="133350" rIns="133350" bIns="133350"/>
                    <a:lstStyle/>
                    <a:p>
                      <a:pPr algn="l"/>
                      <a:r>
                        <a:rPr sz="2925" b="1">
                          <a:solidFill>
                            <a:srgbClr val="0B4F8A"/>
                          </a:solidFill>
                          <a:latin typeface="Calibri"/>
                          <a:ea typeface="Calibri"/>
                          <a:cs typeface="Calibri"/>
                        </a:rPr>
                        <a:t>Design</a:t>
                      </a:r>
                    </a:p>
                  </a:txBody>
                  <a:tcPr marL="91440" marR="91440" marT="45720" marB="45720" anchor="ctr">
                    <a:lnL w="11430">
                      <a:solidFill>
                        <a:srgbClr val="D3DEE6"/>
                      </a:solidFill>
                      <a:prstDash val="solid"/>
                    </a:lnL>
                    <a:lnR w="11430">
                      <a:solidFill>
                        <a:srgbClr val="D3DEE6"/>
                      </a:solidFill>
                      <a:prstDash val="solid"/>
                    </a:lnR>
                    <a:lnT w="11430">
                      <a:solidFill>
                        <a:srgbClr val="D3DEE6"/>
                      </a:solidFill>
                      <a:prstDash val="solid"/>
                    </a:lnT>
                    <a:lnB w="11430">
                      <a:solidFill>
                        <a:srgbClr val="D3DEE6"/>
                      </a:solidFill>
                      <a:prstDash val="solid"/>
                    </a:lnB>
                    <a:solidFill>
                      <a:srgbClr val="EEF4F8"/>
                    </a:solidFill>
                  </a:tcPr>
                </a:tc>
                <a:tc>
                  <a:txBody>
                    <a:bodyPr lIns="133350" tIns="133350" rIns="133350" bIns="133350"/>
                    <a:lstStyle/>
                    <a:p>
                      <a:pPr algn="ctr"/>
                      <a:r>
                        <a:rPr sz="2925" b="1">
                          <a:solidFill>
                            <a:srgbClr val="0B4F8A"/>
                          </a:solidFill>
                          <a:latin typeface="Calibri"/>
                          <a:ea typeface="Calibri"/>
                          <a:cs typeface="Calibri"/>
                        </a:rPr>
                        <a:t>LUT</a:t>
                      </a:r>
                    </a:p>
                  </a:txBody>
                  <a:tcPr marL="91440" marR="91440" marT="45720" marB="45720" anchor="ctr">
                    <a:lnR w="11430">
                      <a:solidFill>
                        <a:srgbClr val="D3DEE6"/>
                      </a:solidFill>
                      <a:prstDash val="solid"/>
                    </a:lnR>
                    <a:lnT w="11430">
                      <a:solidFill>
                        <a:srgbClr val="D3DEE6"/>
                      </a:solidFill>
                      <a:prstDash val="solid"/>
                    </a:lnT>
                    <a:lnB w="11430">
                      <a:solidFill>
                        <a:srgbClr val="D3DEE6"/>
                      </a:solidFill>
                      <a:prstDash val="solid"/>
                    </a:lnB>
                    <a:solidFill>
                      <a:srgbClr val="EEF4F8"/>
                    </a:solidFill>
                  </a:tcPr>
                </a:tc>
                <a:tc>
                  <a:txBody>
                    <a:bodyPr lIns="133350" tIns="133350" rIns="133350" bIns="133350"/>
                    <a:lstStyle/>
                    <a:p>
                      <a:pPr algn="ctr"/>
                      <a:r>
                        <a:rPr sz="2925" b="1">
                          <a:solidFill>
                            <a:srgbClr val="0B4F8A"/>
                          </a:solidFill>
                          <a:latin typeface="Calibri"/>
                          <a:ea typeface="Calibri"/>
                          <a:cs typeface="Calibri"/>
                        </a:rPr>
                        <a:t>BRAM36</a:t>
                      </a:r>
                    </a:p>
                  </a:txBody>
                  <a:tcPr marL="91440" marR="91440" marT="45720" marB="45720" anchor="ctr">
                    <a:lnR w="11430">
                      <a:solidFill>
                        <a:srgbClr val="D3DEE6"/>
                      </a:solidFill>
                      <a:prstDash val="solid"/>
                    </a:lnR>
                    <a:lnT w="11430">
                      <a:solidFill>
                        <a:srgbClr val="D3DEE6"/>
                      </a:solidFill>
                      <a:prstDash val="solid"/>
                    </a:lnT>
                    <a:lnB w="11430">
                      <a:solidFill>
                        <a:srgbClr val="D3DEE6"/>
                      </a:solidFill>
                      <a:prstDash val="solid"/>
                    </a:lnB>
                    <a:solidFill>
                      <a:srgbClr val="EEF4F8"/>
                    </a:solidFill>
                  </a:tcPr>
                </a:tc>
                <a:tc>
                  <a:txBody>
                    <a:bodyPr lIns="133350" tIns="133350" rIns="133350" bIns="133350"/>
                    <a:lstStyle/>
                    <a:p>
                      <a:pPr algn="ctr"/>
                      <a:r>
                        <a:rPr sz="2925" b="1">
                          <a:solidFill>
                            <a:srgbClr val="0B4F8A"/>
                          </a:solidFill>
                          <a:latin typeface="Calibri"/>
                          <a:ea typeface="Calibri"/>
                          <a:cs typeface="Calibri"/>
                        </a:rPr>
                        <a:t>URAM</a:t>
                      </a:r>
                    </a:p>
                  </a:txBody>
                  <a:tcPr marL="91440" marR="91440" marT="45720" marB="45720" anchor="ctr">
                    <a:lnR w="11430">
                      <a:solidFill>
                        <a:srgbClr val="D3DEE6"/>
                      </a:solidFill>
                      <a:prstDash val="solid"/>
                    </a:lnR>
                    <a:lnT w="11430">
                      <a:solidFill>
                        <a:srgbClr val="D3DEE6"/>
                      </a:solidFill>
                      <a:prstDash val="solid"/>
                    </a:lnT>
                    <a:lnB w="11430">
                      <a:solidFill>
                        <a:srgbClr val="D3DEE6"/>
                      </a:solidFill>
                      <a:prstDash val="solid"/>
                    </a:lnB>
                    <a:solidFill>
                      <a:srgbClr val="EEF4F8"/>
                    </a:solidFill>
                  </a:tcPr>
                </a:tc>
                <a:tc>
                  <a:txBody>
                    <a:bodyPr lIns="133350" tIns="133350" rIns="133350" bIns="133350"/>
                    <a:lstStyle/>
                    <a:p>
                      <a:pPr algn="ctr"/>
                      <a:r>
                        <a:rPr sz="2925" b="1">
                          <a:solidFill>
                            <a:srgbClr val="0B4F8A"/>
                          </a:solidFill>
                          <a:latin typeface="Calibri"/>
                          <a:ea typeface="Calibri"/>
                          <a:cs typeface="Calibri"/>
                        </a:rPr>
                        <a:t>DSP</a:t>
                      </a:r>
                    </a:p>
                  </a:txBody>
                  <a:tcPr marL="91440" marR="91440" marT="45720" marB="45720" anchor="ctr">
                    <a:lnR w="11430">
                      <a:solidFill>
                        <a:srgbClr val="D3DEE6"/>
                      </a:solidFill>
                      <a:prstDash val="solid"/>
                    </a:lnR>
                    <a:lnT w="11430">
                      <a:solidFill>
                        <a:srgbClr val="D3DEE6"/>
                      </a:solidFill>
                      <a:prstDash val="solid"/>
                    </a:lnT>
                    <a:lnB w="11430">
                      <a:solidFill>
                        <a:srgbClr val="D3DEE6"/>
                      </a:solidFill>
                      <a:prstDash val="solid"/>
                    </a:lnB>
                    <a:solidFill>
                      <a:srgbClr val="EEF4F8"/>
                    </a:solidFill>
                  </a:tcPr>
                </a:tc>
              </a:tr>
              <a:tr h="762000">
                <a:tc>
                  <a:txBody>
                    <a:bodyPr lIns="133350" tIns="133350" rIns="133350" bIns="133350"/>
                    <a:lstStyle/>
                    <a:p>
                      <a:pPr algn="l"/>
                      <a:r>
                        <a:rPr sz="2925" b="1">
                          <a:solidFill>
                            <a:srgbClr val="20303D"/>
                          </a:solidFill>
                          <a:latin typeface="Calibri"/>
                          <a:ea typeface="Calibri"/>
                          <a:cs typeface="Calibri"/>
                        </a:rPr>
                        <a:t>TX</a:t>
                      </a:r>
                    </a:p>
                  </a:txBody>
                  <a:tcPr marL="91440" marR="91440" marT="45720" marB="45720" anchor="ctr">
                    <a:lnL w="11430">
                      <a:solidFill>
                        <a:srgbClr val="D3DEE6"/>
                      </a:solidFill>
                      <a:prstDash val="solid"/>
                    </a:lnL>
                    <a:lnR w="11430">
                      <a:solidFill>
                        <a:srgbClr val="D3DEE6"/>
                      </a:solidFill>
                      <a:prstDash val="solid"/>
                    </a:lnR>
                    <a:lnB w="11430">
                      <a:solidFill>
                        <a:srgbClr val="D3DEE6"/>
                      </a:solidFill>
                      <a:prstDash val="solid"/>
                    </a:lnB>
                    <a:solidFill>
                      <a:srgbClr val="FFFFFF"/>
                    </a:solidFill>
                  </a:tcPr>
                </a:tc>
                <a:tc>
                  <a:txBody>
                    <a:bodyPr lIns="133350" tIns="133350" rIns="133350" bIns="133350"/>
                    <a:lstStyle/>
                    <a:p>
                      <a:pPr algn="ctr"/>
                      <a:r>
                        <a:rPr sz="2925" b="0">
                          <a:solidFill>
                            <a:srgbClr val="20303D"/>
                          </a:solidFill>
                          <a:latin typeface="Calibri"/>
                          <a:ea typeface="Calibri"/>
                          <a:cs typeface="Calibri"/>
                        </a:rPr>
                        <a:t>54,241</a:t>
                      </a:r>
                    </a:p>
                  </a:txBody>
                  <a:tcPr marL="91440" marR="91440" marT="45720" marB="45720" anchor="ctr">
                    <a:lnR w="11430">
                      <a:solidFill>
                        <a:srgbClr val="D3DEE6"/>
                      </a:solidFill>
                      <a:prstDash val="solid"/>
                    </a:lnR>
                    <a:lnB w="11430">
                      <a:solidFill>
                        <a:srgbClr val="D3DEE6"/>
                      </a:solidFill>
                      <a:prstDash val="solid"/>
                    </a:lnB>
                    <a:solidFill>
                      <a:srgbClr val="FFFFFF"/>
                    </a:solidFill>
                  </a:tcPr>
                </a:tc>
                <a:tc>
                  <a:txBody>
                    <a:bodyPr lIns="133350" tIns="133350" rIns="133350" bIns="133350"/>
                    <a:lstStyle/>
                    <a:p>
                      <a:pPr algn="ctr"/>
                      <a:r>
                        <a:rPr sz="2925" b="0">
                          <a:solidFill>
                            <a:srgbClr val="20303D"/>
                          </a:solidFill>
                          <a:latin typeface="Calibri"/>
                          <a:ea typeface="Calibri"/>
                          <a:cs typeface="Calibri"/>
                        </a:rPr>
                        <a:t>104.5</a:t>
                      </a:r>
                    </a:p>
                  </a:txBody>
                  <a:tcPr marL="91440" marR="91440" marT="45720" marB="45720" anchor="ctr">
                    <a:lnR w="11430">
                      <a:solidFill>
                        <a:srgbClr val="D3DEE6"/>
                      </a:solidFill>
                      <a:prstDash val="solid"/>
                    </a:lnR>
                    <a:lnB w="11430">
                      <a:solidFill>
                        <a:srgbClr val="D3DEE6"/>
                      </a:solidFill>
                      <a:prstDash val="solid"/>
                    </a:lnB>
                    <a:solidFill>
                      <a:srgbClr val="FFFFFF"/>
                    </a:solidFill>
                  </a:tcPr>
                </a:tc>
                <a:tc>
                  <a:txBody>
                    <a:bodyPr lIns="133350" tIns="133350" rIns="133350" bIns="133350"/>
                    <a:lstStyle/>
                    <a:p>
                      <a:pPr algn="ctr"/>
                      <a:r>
                        <a:rPr sz="2925" b="0">
                          <a:solidFill>
                            <a:srgbClr val="20303D"/>
                          </a:solidFill>
                          <a:latin typeface="Calibri"/>
                          <a:ea typeface="Calibri"/>
                          <a:cs typeface="Calibri"/>
                        </a:rPr>
                        <a:t>10</a:t>
                      </a:r>
                    </a:p>
                  </a:txBody>
                  <a:tcPr marL="91440" marR="91440" marT="45720" marB="45720" anchor="ctr">
                    <a:lnR w="11430">
                      <a:solidFill>
                        <a:srgbClr val="D3DEE6"/>
                      </a:solidFill>
                      <a:prstDash val="solid"/>
                    </a:lnR>
                    <a:lnB w="11430">
                      <a:solidFill>
                        <a:srgbClr val="D3DEE6"/>
                      </a:solidFill>
                      <a:prstDash val="solid"/>
                    </a:lnB>
                    <a:solidFill>
                      <a:srgbClr val="FFFFFF"/>
                    </a:solidFill>
                  </a:tcPr>
                </a:tc>
                <a:tc>
                  <a:txBody>
                    <a:bodyPr lIns="133350" tIns="133350" rIns="133350" bIns="133350"/>
                    <a:lstStyle/>
                    <a:p>
                      <a:pPr algn="ctr"/>
                      <a:r>
                        <a:rPr sz="2925" b="0">
                          <a:solidFill>
                            <a:srgbClr val="20303D"/>
                          </a:solidFill>
                          <a:latin typeface="Calibri"/>
                          <a:ea typeface="Calibri"/>
                          <a:cs typeface="Calibri"/>
                        </a:rPr>
                        <a:t>243</a:t>
                      </a:r>
                    </a:p>
                  </a:txBody>
                  <a:tcPr marL="91440" marR="91440" marT="45720" marB="45720" anchor="ctr">
                    <a:lnR w="11430">
                      <a:solidFill>
                        <a:srgbClr val="D3DEE6"/>
                      </a:solidFill>
                      <a:prstDash val="solid"/>
                    </a:lnR>
                    <a:lnB w="11430">
                      <a:solidFill>
                        <a:srgbClr val="D3DEE6"/>
                      </a:solidFill>
                      <a:prstDash val="solid"/>
                    </a:lnB>
                    <a:solidFill>
                      <a:srgbClr val="FFFFFF"/>
                    </a:solidFill>
                  </a:tcPr>
                </a:tc>
              </a:tr>
              <a:tr h="762000">
                <a:tc>
                  <a:txBody>
                    <a:bodyPr lIns="133350" tIns="133350" rIns="133350" bIns="133350"/>
                    <a:lstStyle/>
                    <a:p>
                      <a:pPr algn="l"/>
                      <a:r>
                        <a:rPr sz="2925" b="1">
                          <a:solidFill>
                            <a:srgbClr val="20303D"/>
                          </a:solidFill>
                          <a:latin typeface="Calibri"/>
                          <a:ea typeface="Calibri"/>
                          <a:cs typeface="Calibri"/>
                        </a:rPr>
                        <a:t>RX</a:t>
                      </a:r>
                    </a:p>
                  </a:txBody>
                  <a:tcPr marL="91440" marR="91440" marT="45720" marB="45720" anchor="ctr">
                    <a:lnL w="11430">
                      <a:solidFill>
                        <a:srgbClr val="D3DEE6"/>
                      </a:solidFill>
                      <a:prstDash val="solid"/>
                    </a:lnL>
                    <a:lnR w="11430">
                      <a:solidFill>
                        <a:srgbClr val="D3DEE6"/>
                      </a:solidFill>
                      <a:prstDash val="solid"/>
                    </a:lnR>
                    <a:lnB w="11430">
                      <a:solidFill>
                        <a:srgbClr val="D3DEE6"/>
                      </a:solidFill>
                      <a:prstDash val="solid"/>
                    </a:lnB>
                    <a:solidFill>
                      <a:srgbClr val="FFFFFF"/>
                    </a:solidFill>
                  </a:tcPr>
                </a:tc>
                <a:tc>
                  <a:txBody>
                    <a:bodyPr lIns="133350" tIns="133350" rIns="133350" bIns="133350"/>
                    <a:lstStyle/>
                    <a:p>
                      <a:pPr algn="ctr"/>
                      <a:r>
                        <a:rPr sz="2925" b="0">
                          <a:solidFill>
                            <a:srgbClr val="20303D"/>
                          </a:solidFill>
                          <a:latin typeface="Calibri"/>
                          <a:ea typeface="Calibri"/>
                          <a:cs typeface="Calibri"/>
                        </a:rPr>
                        <a:t>63,699</a:t>
                      </a:r>
                    </a:p>
                  </a:txBody>
                  <a:tcPr marL="91440" marR="91440" marT="45720" marB="45720" anchor="ctr">
                    <a:lnR w="11430">
                      <a:solidFill>
                        <a:srgbClr val="D3DEE6"/>
                      </a:solidFill>
                      <a:prstDash val="solid"/>
                    </a:lnR>
                    <a:lnB w="11430">
                      <a:solidFill>
                        <a:srgbClr val="D3DEE6"/>
                      </a:solidFill>
                      <a:prstDash val="solid"/>
                    </a:lnB>
                    <a:solidFill>
                      <a:srgbClr val="FFFFFF"/>
                    </a:solidFill>
                  </a:tcPr>
                </a:tc>
                <a:tc>
                  <a:txBody>
                    <a:bodyPr lIns="133350" tIns="133350" rIns="133350" bIns="133350"/>
                    <a:lstStyle/>
                    <a:p>
                      <a:pPr algn="ctr"/>
                      <a:r>
                        <a:rPr sz="2925" b="0">
                          <a:solidFill>
                            <a:srgbClr val="20303D"/>
                          </a:solidFill>
                          <a:latin typeface="Calibri"/>
                          <a:ea typeface="Calibri"/>
                          <a:cs typeface="Calibri"/>
                        </a:rPr>
                        <a:t>65.5</a:t>
                      </a:r>
                    </a:p>
                  </a:txBody>
                  <a:tcPr marL="91440" marR="91440" marT="45720" marB="45720" anchor="ctr">
                    <a:lnR w="11430">
                      <a:solidFill>
                        <a:srgbClr val="D3DEE6"/>
                      </a:solidFill>
                      <a:prstDash val="solid"/>
                    </a:lnR>
                    <a:lnB w="11430">
                      <a:solidFill>
                        <a:srgbClr val="D3DEE6"/>
                      </a:solidFill>
                      <a:prstDash val="solid"/>
                    </a:lnB>
                    <a:solidFill>
                      <a:srgbClr val="FFFFFF"/>
                    </a:solidFill>
                  </a:tcPr>
                </a:tc>
                <a:tc>
                  <a:txBody>
                    <a:bodyPr lIns="133350" tIns="133350" rIns="133350" bIns="133350"/>
                    <a:lstStyle/>
                    <a:p>
                      <a:pPr algn="ctr"/>
                      <a:r>
                        <a:rPr sz="2925" b="0">
                          <a:solidFill>
                            <a:srgbClr val="20303D"/>
                          </a:solidFill>
                          <a:latin typeface="Calibri"/>
                          <a:ea typeface="Calibri"/>
                          <a:cs typeface="Calibri"/>
                        </a:rPr>
                        <a:t>7</a:t>
                      </a:r>
                    </a:p>
                  </a:txBody>
                  <a:tcPr marL="91440" marR="91440" marT="45720" marB="45720" anchor="ctr">
                    <a:lnR w="11430">
                      <a:solidFill>
                        <a:srgbClr val="D3DEE6"/>
                      </a:solidFill>
                      <a:prstDash val="solid"/>
                    </a:lnR>
                    <a:lnB w="11430">
                      <a:solidFill>
                        <a:srgbClr val="D3DEE6"/>
                      </a:solidFill>
                      <a:prstDash val="solid"/>
                    </a:lnB>
                    <a:solidFill>
                      <a:srgbClr val="FFFFFF"/>
                    </a:solidFill>
                  </a:tcPr>
                </a:tc>
                <a:tc>
                  <a:txBody>
                    <a:bodyPr lIns="133350" tIns="133350" rIns="133350" bIns="133350"/>
                    <a:lstStyle/>
                    <a:p>
                      <a:pPr algn="ctr"/>
                      <a:r>
                        <a:rPr sz="2925" b="0">
                          <a:solidFill>
                            <a:srgbClr val="20303D"/>
                          </a:solidFill>
                          <a:latin typeface="Calibri"/>
                          <a:ea typeface="Calibri"/>
                          <a:cs typeface="Calibri"/>
                        </a:rPr>
                        <a:t>133</a:t>
                      </a:r>
                    </a:p>
                  </a:txBody>
                  <a:tcPr marL="91440" marR="91440" marT="45720" marB="45720" anchor="ctr">
                    <a:lnR w="11430">
                      <a:solidFill>
                        <a:srgbClr val="D3DEE6"/>
                      </a:solidFill>
                      <a:prstDash val="solid"/>
                    </a:lnR>
                    <a:lnB w="11430">
                      <a:solidFill>
                        <a:srgbClr val="D3DEE6"/>
                      </a:solidFill>
                      <a:prstDash val="solid"/>
                    </a:lnB>
                    <a:solidFill>
                      <a:srgbClr val="FFFFFF"/>
                    </a:solidFill>
                  </a:tcPr>
                </a:tc>
              </a:tr>
            </a:tbl>
          </a:graphicData>
        </a:graphic>
      </p:graphicFrame>
      <p:sp>
        <p:nvSpPr>
          <p:cNvPr id="104" name="text-65">
            <a:extLst xmlns:a="http://schemas.openxmlformats.org/drawingml/2006/main">
              <a:ext uri="{FF2B5EF4-FFF2-40B4-BE49-F238E27FC236}">
                <a16:creationId xmlns:a16="http://schemas.microsoft.com/office/drawing/2014/main" id="{9128ECD4-01A1-4351-986D-5BBA71B79EAB}"/>
              </a:ext>
            </a:extLst>
          </p:cNvPr>
          <p:cNvSpPr>
            <a:spLocks xmlns:a="http://schemas.openxmlformats.org/drawingml/2006/main" noGrp="1"/>
          </p:cNvSpPr>
          <p:nvPr/>
        </p:nvSpPr>
        <p:spPr>
          <a:xfrm xmlns:a="http://schemas.openxmlformats.org/drawingml/2006/main">
            <a:off x="1066800" y="39862125"/>
            <a:ext cx="13573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526675"/>
                </a:solidFill>
                <a:latin typeface="Calibri"/>
                <a:ea typeface="Calibri"/>
                <a:cs typeface="Calibri"/>
              </a:defRPr>
            </a:defPPr>
          </a:lstStyle>
          <a:p xmlns:a="http://schemas.openxmlformats.org/drawingml/2006/main">
            <a:pPr algn="l">
              <a:defRPr sz="2850" b="0">
                <a:solidFill>
                  <a:srgbClr val="526675"/>
                </a:solidFill>
                <a:latin typeface="Calibri"/>
                <a:ea typeface="Calibri"/>
                <a:cs typeface="Calibri"/>
              </a:defRPr>
            </a:pPr>
            <a:r>
              <a:rPr sz="2850" b="0">
                <a:solidFill>
                  <a:srgbClr val="526675"/>
                </a:solidFill>
                <a:latin typeface="Calibri"/>
                <a:ea typeface="Calibri"/>
                <a:cs typeface="Calibri"/>
              </a:rPr>
              <a:t>Measured rails: TX 3.07 W / RX 3.44 W</a:t>
            </a:r>
          </a:p>
          <a:p xmlns:a="http://schemas.openxmlformats.org/drawingml/2006/main">
            <a:pPr algn="l">
              <a:defRPr sz="2850" b="0">
                <a:solidFill>
                  <a:srgbClr val="526675"/>
                </a:solidFill>
                <a:latin typeface="Calibri"/>
                <a:ea typeface="Calibri"/>
                <a:cs typeface="Calibri"/>
              </a:defRPr>
            </a:pPr>
            <a:r>
              <a:rPr sz="2850" b="0">
                <a:solidFill>
                  <a:srgbClr val="526675"/>
                </a:solidFill>
                <a:latin typeface="Calibri"/>
                <a:ea typeface="Calibri"/>
                <a:cs typeface="Calibri"/>
              </a:rPr>
              <a:t>PL + PS + DDR; excludes RF and input conversion losses.</a:t>
            </a:r>
          </a:p>
        </p:txBody>
      </p:sp>
      <p:sp>
        <p:nvSpPr>
          <p:cNvPr id="105" name="text-66">
            <a:extLst xmlns:a="http://schemas.openxmlformats.org/drawingml/2006/main">
              <a:ext uri="{FF2B5EF4-FFF2-40B4-BE49-F238E27FC236}">
                <a16:creationId xmlns:a16="http://schemas.microsoft.com/office/drawing/2014/main" id="{E1A7DE2D-37C3-4DB3-96D9-6E19918ABCE5}"/>
              </a:ext>
            </a:extLst>
          </p:cNvPr>
          <p:cNvSpPr>
            <a:spLocks xmlns:a="http://schemas.openxmlformats.org/drawingml/2006/main" noGrp="1"/>
          </p:cNvSpPr>
          <p:nvPr/>
        </p:nvSpPr>
        <p:spPr>
          <a:xfrm xmlns:a="http://schemas.openxmlformats.org/drawingml/2006/main">
            <a:off x="15716250" y="29813250"/>
            <a:ext cx="1349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B4F8A"/>
                </a:solidFill>
                <a:latin typeface="Calibri"/>
                <a:ea typeface="Calibri"/>
                <a:cs typeface="Calibri"/>
              </a:defRPr>
            </a:defPPr>
          </a:lstStyle>
          <a:p xmlns:a="http://schemas.openxmlformats.org/drawingml/2006/main">
            <a:pPr algn="l">
              <a:defRPr sz="4725" b="1">
                <a:solidFill>
                  <a:srgbClr val="0B4F8A"/>
                </a:solidFill>
                <a:latin typeface="Calibri"/>
                <a:ea typeface="Calibri"/>
                <a:cs typeface="Calibri"/>
              </a:defRPr>
            </a:pPr>
            <a:r>
              <a:rPr sz="4725" b="1">
                <a:solidFill>
                  <a:srgbClr val="0B4F8A"/>
                </a:solidFill>
                <a:latin typeface="Calibri"/>
                <a:ea typeface="Calibri"/>
                <a:cs typeface="Calibri"/>
              </a:rPr>
              <a:t>PL frame latency: 67.5 ms</a:t>
            </a:r>
          </a:p>
        </p:txBody>
      </p:sp>
      <p:graphicFrame>
        <p:nvGraphicFramePr>
          <p:cNvPr id="106" name="Chart">
            <a:extLst xmlns:a="http://schemas.openxmlformats.org/drawingml/2006/main">
              <a:ext uri="{FF2B5EF4-FFF2-40B4-BE49-F238E27FC236}">
                <a16:creationId xmlns:a16="http://schemas.microsoft.com/office/drawing/2014/main" id="{06986DE3-11C1-460A-B8B1-6AA186591A83}"/>
              </a:ext>
            </a:extLst>
          </p:cNvPr>
          <p:cNvGraphicFramePr/>
          <p:nvPr/>
        </p:nvGraphicFramePr>
        <p:xfrm>
          <a:off xmlns:a="http://schemas.openxmlformats.org/drawingml/2006/main" x="15716250" y="30670500"/>
          <a:ext xmlns:a="http://schemas.openxmlformats.org/drawingml/2006/main" cx="13493750" cy="1476375"/>
        </p:xfrm>
        <a:graphic xmlns:a="http://schemas.openxmlformats.org/drawingml/2006/main">
          <a:graphicData uri="http://schemas.openxmlformats.org/drawingml/2006/chart">
            <c:chart xmlns:r="http://schemas.openxmlformats.org/officeDocument/2006/relationships" xmlns:c="http://schemas.openxmlformats.org/drawingml/2006/chart" r:id="Rf1e163543142468a"/>
          </a:graphicData>
        </a:graphic>
      </p:graphicFrame>
      <p:sp>
        <p:nvSpPr>
          <p:cNvPr id="107" name="text-67">
            <a:extLst xmlns:a="http://schemas.openxmlformats.org/drawingml/2006/main">
              <a:ext uri="{FF2B5EF4-FFF2-40B4-BE49-F238E27FC236}">
                <a16:creationId xmlns:a16="http://schemas.microsoft.com/office/drawing/2014/main" id="{512977CF-CB24-453A-A41F-B308579971F6}"/>
              </a:ext>
            </a:extLst>
          </p:cNvPr>
          <p:cNvSpPr>
            <a:spLocks xmlns:a="http://schemas.openxmlformats.org/drawingml/2006/main" noGrp="1"/>
          </p:cNvSpPr>
          <p:nvPr/>
        </p:nvSpPr>
        <p:spPr>
          <a:xfrm xmlns:a="http://schemas.openxmlformats.org/drawingml/2006/main">
            <a:off x="15716250" y="32270700"/>
            <a:ext cx="1349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526675"/>
                </a:solidFill>
                <a:latin typeface="Calibri"/>
                <a:ea typeface="Calibri"/>
                <a:cs typeface="Calibri"/>
              </a:defRPr>
            </a:defPPr>
          </a:lstStyle>
          <a:p xmlns:a="http://schemas.openxmlformats.org/drawingml/2006/main">
            <a:pPr algn="l">
              <a:defRPr sz="2550" b="0">
                <a:solidFill>
                  <a:srgbClr val="526675"/>
                </a:solidFill>
                <a:latin typeface="Calibri"/>
                <a:ea typeface="Calibri"/>
                <a:cs typeface="Calibri"/>
              </a:defRPr>
            </a:pPr>
            <a:r>
              <a:rPr sz="2550" b="0">
                <a:solidFill>
                  <a:srgbClr val="526675"/>
                </a:solidFill>
                <a:latin typeface="Calibri"/>
                <a:ea typeface="Calibri"/>
                <a:cs typeface="Calibri"/>
              </a:rPr>
              <a:t>Transfer includes buffering and the RX PHY. Frames overlap in the pipeline.</a:t>
            </a:r>
          </a:p>
        </p:txBody>
      </p:sp>
      <p:sp>
        <p:nvSpPr>
          <p:cNvPr id="108" name="text-68">
            <a:extLst xmlns:a="http://schemas.openxmlformats.org/drawingml/2006/main">
              <a:ext uri="{FF2B5EF4-FFF2-40B4-BE49-F238E27FC236}">
                <a16:creationId xmlns:a16="http://schemas.microsoft.com/office/drawing/2014/main" id="{2789EDD9-CA35-4249-B300-75FE9560CC5B}"/>
              </a:ext>
            </a:extLst>
          </p:cNvPr>
          <p:cNvSpPr>
            <a:spLocks xmlns:a="http://schemas.openxmlformats.org/drawingml/2006/main" noGrp="1"/>
          </p:cNvSpPr>
          <p:nvPr/>
        </p:nvSpPr>
        <p:spPr>
          <a:xfrm xmlns:a="http://schemas.openxmlformats.org/drawingml/2006/main">
            <a:off x="15716250" y="33413700"/>
            <a:ext cx="1349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B4F8A"/>
                </a:solidFill>
                <a:latin typeface="Calibri"/>
                <a:ea typeface="Calibri"/>
                <a:cs typeface="Calibri"/>
              </a:defRPr>
            </a:defPPr>
          </a:lstStyle>
          <a:p xmlns:a="http://schemas.openxmlformats.org/drawingml/2006/main">
            <a:pPr algn="l">
              <a:defRPr sz="4725" b="1">
                <a:solidFill>
                  <a:srgbClr val="0B4F8A"/>
                </a:solidFill>
                <a:latin typeface="Calibri"/>
                <a:ea typeface="Calibri"/>
                <a:cs typeface="Calibri"/>
              </a:defRPr>
            </a:pPr>
            <a:r>
              <a:rPr sz="4725" b="1">
                <a:solidFill>
                  <a:srgbClr val="0B4F8A"/>
                </a:solidFill>
                <a:latin typeface="Calibri"/>
                <a:ea typeface="Calibri"/>
                <a:cs typeface="Calibri"/>
              </a:rPr>
              <a:t>Live PHY diagnostics</a:t>
            </a:r>
          </a:p>
        </p:txBody>
      </p:sp>
      <p:pic>
        <p:nvPicPr>
          <p:cNvPr id="109" name="">
            <a:extLst xmlns:a="http://schemas.openxmlformats.org/drawingml/2006/main">
              <a:ext uri="{FF2B5EF4-FFF2-40B4-BE49-F238E27FC236}">
                <a16:creationId xmlns:a16="http://schemas.microsoft.com/office/drawing/2014/main" id="{748DE511-3F91-42DC-BE6E-1E451EC19FB1}"/>
              </a:ext>
            </a:extLst>
          </p:cNvPr>
          <p:cNvPicPr>
            <a:picLocks xmlns:a="http://schemas.openxmlformats.org/drawingml/2006/main" noChangeAspect="1"/>
          </p:cNvPicPr>
          <p:nvPr/>
        </p:nvPicPr>
        <p:blipFill>
          <a:blip xmlns:r="http://schemas.openxmlformats.org/officeDocument/2006/relationships" xmlns:a="http://schemas.openxmlformats.org/drawingml/2006/main" r:embed="R7d7330729b0c4b53"/>
          <a:stretch xmlns:a="http://schemas.openxmlformats.org/drawingml/2006/main"/>
        </p:blipFill>
        <p:spPr>
          <a:xfrm xmlns:a="http://schemas.openxmlformats.org/drawingml/2006/main">
            <a:off x="15906750" y="34301968"/>
            <a:ext cx="13112750" cy="7119813"/>
          </a:xfrm>
          <a:prstGeom xmlns:a="http://schemas.openxmlformats.org/drawingml/2006/main" prst="rect">
            <a:avLst/>
          </a:prstGeom>
        </p:spPr>
      </p:pic>
      <p:cxnSp>
        <p:nvCxnSpPr>
          <p:cNvPr id="110" name="">
            <a:extLst xmlns:a="http://schemas.openxmlformats.org/drawingml/2006/main">
              <a:ext uri="{FF2B5EF4-FFF2-40B4-BE49-F238E27FC236}">
                <a16:creationId xmlns:a16="http://schemas.microsoft.com/office/drawing/2014/main" id="{5AE5D61D-719F-4B58-9B60-4D1516A2E8D4}"/>
              </a:ext>
            </a:extLst>
          </p:cNvPr>
          <p:cNvCxnSpPr/>
          <p:nvPr/>
        </p:nvCxnSpPr>
        <p:spPr>
          <a:xfrm xmlns:a="http://schemas.openxmlformats.org/drawingml/2006/main">
            <a:off x="1066800" y="41814750"/>
            <a:ext cx="28143200" cy="0"/>
          </a:xfrm>
          <a:prstGeom xmlns:a="http://schemas.openxmlformats.org/drawingml/2006/main" prst="straightConnector1">
            <a:avLst/>
          </a:prstGeom>
          <a:ln xmlns:a="http://schemas.openxmlformats.org/drawingml/2006/main" w="14288">
            <a:solidFill>
              <a:srgbClr val="BCCBD5"/>
            </a:solidFill>
          </a:ln>
        </p:spPr>
      </p:cxnSp>
      <p:sp>
        <p:nvSpPr>
          <p:cNvPr id="111" name="text-69">
            <a:extLst xmlns:a="http://schemas.openxmlformats.org/drawingml/2006/main">
              <a:ext uri="{FF2B5EF4-FFF2-40B4-BE49-F238E27FC236}">
                <a16:creationId xmlns:a16="http://schemas.microsoft.com/office/drawing/2014/main" id="{ABF072DD-4AE3-40CD-9F4E-7E1B93279129}"/>
              </a:ext>
            </a:extLst>
          </p:cNvPr>
          <p:cNvSpPr>
            <a:spLocks xmlns:a="http://schemas.openxmlformats.org/drawingml/2006/main" noGrp="1"/>
          </p:cNvSpPr>
          <p:nvPr/>
        </p:nvSpPr>
        <p:spPr>
          <a:xfrm xmlns:a="http://schemas.openxmlformats.org/drawingml/2006/main">
            <a:off x="1066800" y="42005250"/>
            <a:ext cx="2809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675"/>
                </a:solidFill>
                <a:latin typeface="Calibri"/>
                <a:ea typeface="Calibri"/>
                <a:cs typeface="Calibri"/>
              </a:defRPr>
            </a:defPPr>
          </a:lstStyle>
          <a:p xmlns:a="http://schemas.openxmlformats.org/drawingml/2006/main">
            <a:pPr algn="l">
              <a:defRPr sz="2175" b="0">
                <a:solidFill>
                  <a:srgbClr val="526675"/>
                </a:solidFill>
                <a:latin typeface="Calibri"/>
                <a:ea typeface="Calibri"/>
                <a:cs typeface="Calibri"/>
              </a:defRPr>
            </a:pPr>
            <a:r>
              <a:rPr sz="2175" b="0">
                <a:solidFill>
                  <a:srgbClr val="526675"/>
                </a:solidFill>
                <a:latin typeface="Calibri"/>
                <a:ea typeface="Calibri"/>
                <a:cs typeface="Calibri"/>
              </a:rPr>
              <a:t>DeepJSCC: Bourtsoulatze et al., TCCN 2019.  DeepJSCC-Q: Tung et al., JSAIT 2022.  Developed with Claude Code and Codex under human direction.</a:t>
            </a:r>
          </a:p>
        </p:txBody>
      </p:sp>
    </p:spTree>
    <p:extLst>
      <p:ext uri="{BB962C8B-B14F-4D97-AF65-F5344CB8AC3E}">
        <p14:creationId xmlns:p14="http://schemas.microsoft.com/office/powerpoint/2010/main" val="1692970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2026-10-17T14:45:00.5140000Z</dcterms:created>
  <dcterms:modified xsi:type="dcterms:W3CDTF">2026-10-17T14:45:00.5140000Z</dcterms:modified>
</coreProperties>
</file>