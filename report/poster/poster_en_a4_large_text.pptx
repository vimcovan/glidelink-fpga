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f34bc2465db45a2" Type="http://schemas.openxmlformats.org/officeDocument/2006/relationships/officeDocument" Target="ppt/presentation.xml"/><Relationship Id="R85f3bc60b37f4f12" Type="http://schemas.openxmlformats.org/officeDocument/2006/relationships/extended-properties" Target="docProps/app.xml"/><Relationship Id="R9f4ae32d64f447c6"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bf24a293e55c44ce"/>
  </p:sldMasterIdLst>
  <p:notesMasterIdLst>
    <p:notesMasterId xmlns:r="http://schemas.openxmlformats.org/officeDocument/2006/relationships" r:id="Ra800000cab804fed"/>
  </p:notesMasterIdLst>
  <p:sldIdLst>
    <p:sldId xmlns:r="http://schemas.openxmlformats.org/officeDocument/2006/relationships" id="256" r:id="R713b78f96dcd4890"/>
  </p:sldIdLst>
  <p:sldSz cx="7560000" cy="106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2d2c5aa45a04a4d" Type="http://schemas.openxmlformats.org/officeDocument/2006/relationships/presProps" Target="presProps.xml"/><Relationship Id="R685f68124c784399" Type="http://schemas.openxmlformats.org/officeDocument/2006/relationships/theme" Target="theme/theme1.xml"/><Relationship Id="R713b78f96dcd4890" Type="http://schemas.openxmlformats.org/officeDocument/2006/relationships/slide" Target="slides/slide1.xml"/><Relationship Id="Ra800000cab804fed" Type="http://schemas.openxmlformats.org/officeDocument/2006/relationships/notesMaster" Target="notesMasters/notesMaster1.xml"/><Relationship Id="Rbf24a293e55c44ce" Type="http://schemas.openxmlformats.org/officeDocument/2006/relationships/slideMaster" Target="slideMasters/slideMaster1.xml"/><Relationship Id="Rf8a0c9aab0a6456b"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c593158defb3423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ad24ad2f2f24972" Type="http://schemas.openxmlformats.org/officeDocument/2006/relationships/slide" Target="../slides/slide1.xml"/><Relationship Id="Rc23ff4aac17944cb"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A4 edition reflowed for print readability from the approved A0 poster. Text is larger, repeated statements are consolidated, and all archived scientific evidence is retained.</a:t>
            </a:r>
          </a:p>
          <a:p xmlns:a="http://schemas.openxmlformats.org/drawingml/2006/main">
            <a:r>
              <a:t/>
            </a:r>
          </a:p>
          <a:p xmlns:a="http://schemas.openxmlformats.org/drawingml/2006/main">
            <a:r>
              <a:t>All photographs, reference images and reconstructions are repository assets. No image content has been synthesized or retouched.</a:t>
            </a:r>
          </a:p>
          <a:p xmlns:a="http://schemas.openxmlformats.org/drawingml/2006/main">
            <a:r>
              <a:t/>
            </a:r>
          </a:p>
          <a:p xmlns:a="http://schemas.openxmlformats.org/drawingml/2006/main">
            <a:r>
              <a:t>PSNR chart: data/measurements/psnr_snr/k0802_v3_da.json, results[].snr_da_db against results[].psnr_shown, separately for mode jscc and sscc. Each point is the archived measurement window mean.</a:t>
            </a:r>
          </a:p>
          <a:p xmlns:a="http://schemas.openxmlformats.org/drawingml/2006/main">
            <a:r>
              <a:t/>
            </a:r>
          </a:p>
          <a:p xmlns:a="http://schemas.openxmlformats.org/drawingml/2006/main">
            <a:r>
              <a:t>Image comparison: decoded_img/tx_reference.png and jscc/sscc_00.00db_p0.png, _20.00db_p0.png, _24.00db_p0.png, _32.00db_p0.png. These suffixes denote TX additional attenuation, not SNR. Labels 32.3,17.4,13.1,5.5 dB are mean SNR across the two schemes at matching attenuation. SSCC has no decoded image at 32 dB attenuation; the gray field is a failure placeholder, not a recovered image. PSNR/SSIM are representative single-frame values, not curve means.</a:t>
            </a:r>
          </a:p>
          <a:p xmlns:a="http://schemas.openxmlformats.org/drawingml/2006/main">
            <a:r>
              <a:t/>
            </a:r>
          </a:p>
          <a:p xmlns:a="http://schemas.openxmlformats.org/drawingml/2006/main">
            <a:r>
              <a:t>Main gain claim: 31.99-28.23=3.76 dB, rounded to 3.8 dB. This is high-SNR performance on the single DIV2K 0802 image under matched PHY and 32768 complex symbols/image. It is not a dataset-wide gain or a fixed gain at every SNR.</a:t>
            </a:r>
          </a:p>
          <a:p xmlns:a="http://schemas.openxmlformats.org/drawingml/2006/main">
            <a:r>
              <a:t/>
            </a:r>
          </a:p>
          <a:p xmlns:a="http://schemas.openxmlformats.org/drawingml/2006/main">
            <a:r>
              <a:t>Latency source: report/sections/30_results.md, table 3-6. Medians: encoding 38.20ms, transfer 2.87ms, decoding 30.39ms, separately measured PL total71.47ms. Transfer includes frame buffering, air transmission, synchronization and equalization. Pure airtime2.748ms. PL latency excludes application and display latency. Throughput30fps is possible because frames overlap in the layer pipeline.</a:t>
            </a:r>
          </a:p>
          <a:p xmlns:a="http://schemas.openxmlformats.org/drawingml/2006/main">
            <a:r>
              <a:t/>
            </a:r>
          </a:p>
          <a:p xmlns:a="http://schemas.openxmlformats.org/drawingml/2006/main">
            <a:r>
              <a:t>Resource source: report/sections/30_results.md table3-1 and build/reports/tx_utilization.rpt, rx_utilization.rpt routed totals. Power source: data/measurements/power/tx_rails.json and rx_rails.json. Values3.06/3.71W sum selected PL,PS,auxiliary andDDR rails. RF daughterboards and12V input conversion losses excluded.</a:t>
            </a:r>
          </a:p>
          <a:p xmlns:a="http://schemas.openxmlformats.org/drawingml/2006/main">
            <a:r>
              <a:t/>
            </a:r>
          </a:p>
          <a:p xmlns:a="http://schemas.openxmlformats.org/drawingml/2006/main">
            <a:r>
              <a:t>Model/architecture source: report/sections/22_hardware.md. Line buffering abstraction is per convolution engine, not a replacement for the system PHY frame buffers. Full intermediate feature maps are not stored between CNN layers.</a:t>
            </a:r>
          </a:p>
          <a:p xmlns:a="http://schemas.openxmlformats.org/drawingml/2006/main">
            <a:r>
              <a:t/>
            </a:r>
          </a:p>
          <a:p xmlns:a="http://schemas.openxmlformats.org/drawingml/2006/main">
            <a:r>
              <a:t>Research references: E. Bourtsoulatze, D.B. Kurka, D. Gunduz, Deep Joint Source-Channel Coding for Wireless Image Transmission, IEEE TCCN,2019. T.-Y. Tung,D.B. Kurka,M. Jankowski,D. Gunduz, DeepJSCC-Q, IEEE JSAIT,2022.</a:t>
            </a:r>
          </a:p>
          <a:p xmlns:a="http://schemas.openxmlformats.org/drawingml/2006/main">
            <a:r>
              <a:t/>
            </a:r>
          </a:p>
          <a:p xmlns:a="http://schemas.openxmlformats.org/drawingml/2006/main">
            <a:r>
              <a:t>Layout references consulted: https://mitcommlab.mit.edu/aeroastro/commkit/research-posters/ and https://mitcommlab.mit.edu/be/2023/09/27/toward-an-evenbetterposter-improving-the-betterposter-template/ . No external artwork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65fa417a419748c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95da1307758f4f7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b3e11f68f31b4147"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ca146d8b1f53448f"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d16462b4974d4dde"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fdccb06eaafe4ebf"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A283AC-8DA1-4988-BE83-68BF636B170A}"/>
              </a:ext>
            </a:extLst>
          </p:cNvPr>
          <p:cNvSpPr>
            <a:spLocks xmlns:a="http://schemas.openxmlformats.org/drawingml/2006/main" noGrp="1"/>
          </p:cNvSpPr>
          <p:nvPr>
            <p:ph type="title" idx="0"/>
          </p:nvPr>
        </p:nvSpPr>
        <p:spPr>
          <a:xfrm xmlns:a="http://schemas.openxmlformats.org/drawingml/2006/main">
            <a:off x="756000" y="4039200"/>
            <a:ext cx="6048000" cy="154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97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86F7130-8ADF-4754-B5A7-5040E96FD39B}"/>
              </a:ext>
            </a:extLst>
          </p:cNvPr>
          <p:cNvSpPr>
            <a:spLocks xmlns:a="http://schemas.openxmlformats.org/drawingml/2006/main" noGrp="1"/>
          </p:cNvSpPr>
          <p:nvPr>
            <p:ph type="subTitle" idx="1"/>
          </p:nvPr>
        </p:nvSpPr>
        <p:spPr>
          <a:xfrm xmlns:a="http://schemas.openxmlformats.org/drawingml/2006/main">
            <a:off x="1134000" y="5880600"/>
            <a:ext cx="5292000" cy="1188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02"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28299C-025B-4640-9683-59482FABF612}"/>
              </a:ext>
            </a:extLst>
          </p:cNvPr>
          <p:cNvSpPr>
            <a:spLocks xmlns:a="http://schemas.openxmlformats.org/drawingml/2006/main" noGrp="1"/>
          </p:cNvSpPr>
          <p:nvPr>
            <p:ph type="title" idx="0"/>
          </p:nvPr>
        </p:nvSpPr>
        <p:spPr>
          <a:xfrm xmlns:a="http://schemas.openxmlformats.org/drawingml/2006/main">
            <a:off x="756000" y="4455000"/>
            <a:ext cx="6048000" cy="178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0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459E66-A6FD-4A44-A7A4-B6879B07DB7D}"/>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80E2241-02D8-45F9-8009-ED0D040FE6C5}"/>
              </a:ext>
            </a:extLst>
          </p:cNvPr>
          <p:cNvSpPr>
            <a:spLocks xmlns:a="http://schemas.openxmlformats.org/drawingml/2006/main" noGrp="1"/>
          </p:cNvSpPr>
          <p:nvPr>
            <p:ph type="body" idx="1"/>
          </p:nvPr>
        </p:nvSpPr>
        <p:spPr>
          <a:xfrm xmlns:a="http://schemas.openxmlformats.org/drawingml/2006/main">
            <a:off x="425250" y="2970000"/>
            <a:ext cx="6709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5" b="0">
                <a:solidFill>
                  <a:schemeClr val="tx1"/>
                </a:solidFill>
                <a:latin typeface="+mn-lt"/>
                <a:ea typeface="+mn-lt"/>
                <a:cs typeface="+mn-lt"/>
              </a:defRPr>
            </a:defPPr>
            <a:lvl1pPr marL="141750" indent="-141750">
              <a:lnSpc>
                <a:spcPct val="110000"/>
              </a:lnSpc>
              <a:spcBef>
                <a:spcPts val="0"/>
              </a:spcBef>
              <a:spcAft>
                <a:spcPts val="744"/>
              </a:spcAft>
              <a:buChar char="•"/>
            </a:lvl1pPr>
            <a:lvl2pPr marL="330750" indent="-141750">
              <a:lnSpc>
                <a:spcPct val="110000"/>
              </a:lnSpc>
              <a:spcBef>
                <a:spcPts val="0"/>
              </a:spcBef>
              <a:spcAft>
                <a:spcPts val="744"/>
              </a:spcAft>
              <a:buChar char="•"/>
            </a:lvl2pPr>
            <a:lvl3pPr marL="519750" indent="-141750">
              <a:lnSpc>
                <a:spcPct val="110000"/>
              </a:lnSpc>
              <a:spcBef>
                <a:spcPts val="0"/>
              </a:spcBef>
              <a:spcAft>
                <a:spcPts val="744"/>
              </a:spcAft>
              <a:buChar char="•"/>
            </a:lvl3pPr>
            <a:lvl4pPr marL="708750" indent="-141750">
              <a:lnSpc>
                <a:spcPct val="110000"/>
              </a:lnSpc>
              <a:spcBef>
                <a:spcPts val="0"/>
              </a:spcBef>
              <a:spcAft>
                <a:spcPts val="744"/>
              </a:spcAft>
              <a:buChar char="•"/>
            </a:lvl4pPr>
            <a:lvl5pPr marL="897750" indent="-141750">
              <a:lnSpc>
                <a:spcPct val="110000"/>
              </a:lnSpc>
              <a:spcBef>
                <a:spcPts val="0"/>
              </a:spcBef>
              <a:spcAft>
                <a:spcPts val="744"/>
              </a:spcAft>
              <a:buChar char="•"/>
            </a:lvl5pPr>
            <a:lvl6pPr marL="1086750" indent="-141750">
              <a:lnSpc>
                <a:spcPct val="110000"/>
              </a:lnSpc>
              <a:spcBef>
                <a:spcPts val="0"/>
              </a:spcBef>
              <a:spcAft>
                <a:spcPts val="744"/>
              </a:spcAft>
              <a:buChar char="•"/>
            </a:lvl6pPr>
            <a:lvl7pPr marL="1275750" indent="-141750">
              <a:lnSpc>
                <a:spcPct val="110000"/>
              </a:lnSpc>
              <a:spcBef>
                <a:spcPts val="0"/>
              </a:spcBef>
              <a:spcAft>
                <a:spcPts val="744"/>
              </a:spcAft>
              <a:buChar char="•"/>
            </a:lvl7pPr>
            <a:lvl8pPr marL="1464750" indent="-141750">
              <a:lnSpc>
                <a:spcPct val="110000"/>
              </a:lnSpc>
              <a:spcBef>
                <a:spcPts val="0"/>
              </a:spcBef>
              <a:spcAft>
                <a:spcPts val="744"/>
              </a:spcAft>
              <a:buChar char="•"/>
            </a:lvl8pPr>
            <a:lvl9pPr marL="1653750" indent="-141750">
              <a:lnSpc>
                <a:spcPct val="110000"/>
              </a:lnSpc>
              <a:spcBef>
                <a:spcPts val="0"/>
              </a:spcBef>
              <a:spcAft>
                <a:spcPts val="744"/>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ABBF8B-29E0-45BC-AB20-86C40669F182}"/>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3BC341-F63B-45AA-A118-6896223EA743}"/>
              </a:ext>
            </a:extLst>
          </p:cNvPr>
          <p:cNvSpPr>
            <a:spLocks xmlns:a="http://schemas.openxmlformats.org/drawingml/2006/main" noGrp="1"/>
          </p:cNvSpPr>
          <p:nvPr>
            <p:ph type="body" idx="1"/>
          </p:nvPr>
        </p:nvSpPr>
        <p:spPr>
          <a:xfrm xmlns:a="http://schemas.openxmlformats.org/drawingml/2006/main">
            <a:off x="425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2" b="0">
                <a:solidFill>
                  <a:schemeClr val="tx1"/>
                </a:solidFill>
                <a:latin typeface="+mn-lt"/>
                <a:ea typeface="+mn-lt"/>
                <a:cs typeface="+mn-lt"/>
              </a:defRPr>
            </a:defPPr>
            <a:lvl1pPr marL="141750" indent="-141750">
              <a:lnSpc>
                <a:spcPct val="110000"/>
              </a:lnSpc>
              <a:spcBef>
                <a:spcPts val="0"/>
              </a:spcBef>
              <a:spcAft>
                <a:spcPts val="744"/>
              </a:spcAft>
              <a:buChar char="•"/>
            </a:lvl1pPr>
            <a:lvl2pPr marL="330750" indent="-141750">
              <a:lnSpc>
                <a:spcPct val="110000"/>
              </a:lnSpc>
              <a:spcBef>
                <a:spcPts val="0"/>
              </a:spcBef>
              <a:spcAft>
                <a:spcPts val="744"/>
              </a:spcAft>
              <a:buChar char="•"/>
            </a:lvl2pPr>
            <a:lvl3pPr marL="519750" indent="-141750">
              <a:lnSpc>
                <a:spcPct val="110000"/>
              </a:lnSpc>
              <a:spcBef>
                <a:spcPts val="0"/>
              </a:spcBef>
              <a:spcAft>
                <a:spcPts val="744"/>
              </a:spcAft>
              <a:buChar char="•"/>
            </a:lvl3pPr>
            <a:lvl4pPr marL="708750" indent="-141750">
              <a:lnSpc>
                <a:spcPct val="110000"/>
              </a:lnSpc>
              <a:spcBef>
                <a:spcPts val="0"/>
              </a:spcBef>
              <a:spcAft>
                <a:spcPts val="744"/>
              </a:spcAft>
              <a:buChar char="•"/>
            </a:lvl4pPr>
            <a:lvl5pPr marL="897750" indent="-141750">
              <a:lnSpc>
                <a:spcPct val="110000"/>
              </a:lnSpc>
              <a:spcBef>
                <a:spcPts val="0"/>
              </a:spcBef>
              <a:spcAft>
                <a:spcPts val="744"/>
              </a:spcAft>
              <a:buChar char="•"/>
            </a:lvl5pPr>
            <a:lvl6pPr marL="1086750" indent="-141750">
              <a:lnSpc>
                <a:spcPct val="110000"/>
              </a:lnSpc>
              <a:spcBef>
                <a:spcPts val="0"/>
              </a:spcBef>
              <a:spcAft>
                <a:spcPts val="744"/>
              </a:spcAft>
              <a:buChar char="•"/>
            </a:lvl6pPr>
            <a:lvl7pPr marL="1275750" indent="-141750">
              <a:lnSpc>
                <a:spcPct val="110000"/>
              </a:lnSpc>
              <a:spcBef>
                <a:spcPts val="0"/>
              </a:spcBef>
              <a:spcAft>
                <a:spcPts val="744"/>
              </a:spcAft>
              <a:buChar char="•"/>
            </a:lvl7pPr>
            <a:lvl8pPr marL="1464750" indent="-141750">
              <a:lnSpc>
                <a:spcPct val="110000"/>
              </a:lnSpc>
              <a:spcBef>
                <a:spcPts val="0"/>
              </a:spcBef>
              <a:spcAft>
                <a:spcPts val="744"/>
              </a:spcAft>
              <a:buChar char="•"/>
            </a:lvl8pPr>
            <a:lvl9pPr marL="1653750" indent="-141750">
              <a:lnSpc>
                <a:spcPct val="110000"/>
              </a:lnSpc>
              <a:spcBef>
                <a:spcPts val="0"/>
              </a:spcBef>
              <a:spcAft>
                <a:spcPts val="744"/>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91F852-2FAF-45C0-8874-AC9AA275F4FA}"/>
              </a:ext>
            </a:extLst>
          </p:cNvPr>
          <p:cNvSpPr>
            <a:spLocks xmlns:a="http://schemas.openxmlformats.org/drawingml/2006/main" noGrp="1"/>
          </p:cNvSpPr>
          <p:nvPr>
            <p:ph type="body" idx="2"/>
          </p:nvPr>
        </p:nvSpPr>
        <p:spPr>
          <a:xfrm xmlns:a="http://schemas.openxmlformats.org/drawingml/2006/main">
            <a:off x="4016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2" b="0">
                <a:solidFill>
                  <a:schemeClr val="tx1"/>
                </a:solidFill>
                <a:latin typeface="+mn-lt"/>
                <a:ea typeface="+mn-lt"/>
                <a:cs typeface="+mn-lt"/>
              </a:defRPr>
            </a:defPPr>
            <a:lvl1pPr marL="141750" indent="-141750">
              <a:lnSpc>
                <a:spcPct val="110000"/>
              </a:lnSpc>
              <a:spcBef>
                <a:spcPts val="0"/>
              </a:spcBef>
              <a:spcAft>
                <a:spcPts val="744"/>
              </a:spcAft>
              <a:buChar char="•"/>
            </a:lvl1pPr>
            <a:lvl2pPr marL="330750" indent="-141750">
              <a:lnSpc>
                <a:spcPct val="110000"/>
              </a:lnSpc>
              <a:spcBef>
                <a:spcPts val="0"/>
              </a:spcBef>
              <a:spcAft>
                <a:spcPts val="744"/>
              </a:spcAft>
              <a:buChar char="•"/>
            </a:lvl2pPr>
            <a:lvl3pPr marL="519750" indent="-141750">
              <a:lnSpc>
                <a:spcPct val="110000"/>
              </a:lnSpc>
              <a:spcBef>
                <a:spcPts val="0"/>
              </a:spcBef>
              <a:spcAft>
                <a:spcPts val="744"/>
              </a:spcAft>
              <a:buChar char="•"/>
            </a:lvl3pPr>
            <a:lvl4pPr marL="708750" indent="-141750">
              <a:lnSpc>
                <a:spcPct val="110000"/>
              </a:lnSpc>
              <a:spcBef>
                <a:spcPts val="0"/>
              </a:spcBef>
              <a:spcAft>
                <a:spcPts val="744"/>
              </a:spcAft>
              <a:buChar char="•"/>
            </a:lvl4pPr>
            <a:lvl5pPr marL="897750" indent="-141750">
              <a:lnSpc>
                <a:spcPct val="110000"/>
              </a:lnSpc>
              <a:spcBef>
                <a:spcPts val="0"/>
              </a:spcBef>
              <a:spcAft>
                <a:spcPts val="744"/>
              </a:spcAft>
              <a:buChar char="•"/>
            </a:lvl5pPr>
            <a:lvl6pPr marL="1086750" indent="-141750">
              <a:lnSpc>
                <a:spcPct val="110000"/>
              </a:lnSpc>
              <a:spcBef>
                <a:spcPts val="0"/>
              </a:spcBef>
              <a:spcAft>
                <a:spcPts val="744"/>
              </a:spcAft>
              <a:buChar char="•"/>
            </a:lvl6pPr>
            <a:lvl7pPr marL="1275750" indent="-141750">
              <a:lnSpc>
                <a:spcPct val="110000"/>
              </a:lnSpc>
              <a:spcBef>
                <a:spcPts val="0"/>
              </a:spcBef>
              <a:spcAft>
                <a:spcPts val="744"/>
              </a:spcAft>
              <a:buChar char="•"/>
            </a:lvl7pPr>
            <a:lvl8pPr marL="1464750" indent="-141750">
              <a:lnSpc>
                <a:spcPct val="110000"/>
              </a:lnSpc>
              <a:spcBef>
                <a:spcPts val="0"/>
              </a:spcBef>
              <a:spcAft>
                <a:spcPts val="744"/>
              </a:spcAft>
              <a:buChar char="•"/>
            </a:lvl8pPr>
            <a:lvl9pPr marL="1653750" indent="-141750">
              <a:lnSpc>
                <a:spcPct val="110000"/>
              </a:lnSpc>
              <a:spcBef>
                <a:spcPts val="0"/>
              </a:spcBef>
              <a:spcAft>
                <a:spcPts val="744"/>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9B735F-8573-4722-98BB-EA918F15BDF2}"/>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7CA8509-DC7C-4754-93F7-F6ADB5A1CF60}"/>
              </a:ext>
            </a:extLst>
          </p:cNvPr>
          <p:cNvSpPr>
            <a:spLocks xmlns:a="http://schemas.openxmlformats.org/drawingml/2006/main" noGrp="1"/>
          </p:cNvSpPr>
          <p:nvPr>
            <p:ph type="body" idx="1"/>
          </p:nvPr>
        </p:nvSpPr>
        <p:spPr>
          <a:xfrm xmlns:a="http://schemas.openxmlformats.org/drawingml/2006/main">
            <a:off x="425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5" b="0">
                <a:solidFill>
                  <a:schemeClr val="tx1"/>
                </a:solidFill>
                <a:latin typeface="+mn-lt"/>
                <a:ea typeface="+mn-lt"/>
                <a:cs typeface="+mn-lt"/>
              </a:defRPr>
            </a:defPPr>
            <a:lvl1pPr marL="141750" indent="-141750">
              <a:lnSpc>
                <a:spcPct val="110000"/>
              </a:lnSpc>
              <a:spcBef>
                <a:spcPts val="0"/>
              </a:spcBef>
              <a:spcAft>
                <a:spcPts val="744"/>
              </a:spcAft>
              <a:buChar char="•"/>
            </a:lvl1pPr>
            <a:lvl2pPr marL="330750" indent="-141750">
              <a:lnSpc>
                <a:spcPct val="110000"/>
              </a:lnSpc>
              <a:spcBef>
                <a:spcPts val="0"/>
              </a:spcBef>
              <a:spcAft>
                <a:spcPts val="744"/>
              </a:spcAft>
              <a:buChar char="•"/>
            </a:lvl2pPr>
            <a:lvl3pPr marL="519750" indent="-141750">
              <a:lnSpc>
                <a:spcPct val="110000"/>
              </a:lnSpc>
              <a:spcBef>
                <a:spcPts val="0"/>
              </a:spcBef>
              <a:spcAft>
                <a:spcPts val="744"/>
              </a:spcAft>
              <a:buChar char="•"/>
            </a:lvl3pPr>
            <a:lvl4pPr marL="708750" indent="-141750">
              <a:lnSpc>
                <a:spcPct val="110000"/>
              </a:lnSpc>
              <a:spcBef>
                <a:spcPts val="0"/>
              </a:spcBef>
              <a:spcAft>
                <a:spcPts val="744"/>
              </a:spcAft>
              <a:buChar char="•"/>
            </a:lvl4pPr>
            <a:lvl5pPr marL="897750" indent="-141750">
              <a:lnSpc>
                <a:spcPct val="110000"/>
              </a:lnSpc>
              <a:spcBef>
                <a:spcPts val="0"/>
              </a:spcBef>
              <a:spcAft>
                <a:spcPts val="744"/>
              </a:spcAft>
              <a:buChar char="•"/>
            </a:lvl5pPr>
            <a:lvl6pPr marL="1086750" indent="-141750">
              <a:lnSpc>
                <a:spcPct val="110000"/>
              </a:lnSpc>
              <a:spcBef>
                <a:spcPts val="0"/>
              </a:spcBef>
              <a:spcAft>
                <a:spcPts val="744"/>
              </a:spcAft>
              <a:buChar char="•"/>
            </a:lvl6pPr>
            <a:lvl7pPr marL="1275750" indent="-141750">
              <a:lnSpc>
                <a:spcPct val="110000"/>
              </a:lnSpc>
              <a:spcBef>
                <a:spcPts val="0"/>
              </a:spcBef>
              <a:spcAft>
                <a:spcPts val="744"/>
              </a:spcAft>
              <a:buChar char="•"/>
            </a:lvl7pPr>
            <a:lvl8pPr marL="1464750" indent="-141750">
              <a:lnSpc>
                <a:spcPct val="110000"/>
              </a:lnSpc>
              <a:spcBef>
                <a:spcPts val="0"/>
              </a:spcBef>
              <a:spcAft>
                <a:spcPts val="744"/>
              </a:spcAft>
              <a:buChar char="•"/>
            </a:lvl8pPr>
            <a:lvl9pPr marL="1653750" indent="-141750">
              <a:lnSpc>
                <a:spcPct val="110000"/>
              </a:lnSpc>
              <a:spcBef>
                <a:spcPts val="0"/>
              </a:spcBef>
              <a:spcAft>
                <a:spcPts val="744"/>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2d4ec5c9c174ae5" Type="http://schemas.openxmlformats.org/officeDocument/2006/relationships/slideLayout" Target="../slideLayouts/slideLayout1.xml"/><Relationship Id="R29182e549cfa48a7" Type="http://schemas.openxmlformats.org/officeDocument/2006/relationships/slideLayout" Target="../slideLayouts/slideLayout3.xml"/><Relationship Id="R3f83771f02344f0b" Type="http://schemas.openxmlformats.org/officeDocument/2006/relationships/slideLayout" Target="../slideLayouts/slideLayout2.xml"/><Relationship Id="R730b63fc01f04599" Type="http://schemas.openxmlformats.org/officeDocument/2006/relationships/theme" Target="theme/theme2.xml"/><Relationship Id="R97fb372c93a24bcf" Type="http://schemas.openxmlformats.org/officeDocument/2006/relationships/slideLayout" Target="../slideLayouts/slideLayout6.xml"/><Relationship Id="Rbf189d0a6c884984" Type="http://schemas.openxmlformats.org/officeDocument/2006/relationships/slideLayout" Target="../slideLayouts/slideLayout4.xml"/><Relationship Id="Rff86c6d3acb24b7f"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d4ec5c9c174ae5"/>
    <p:sldLayoutId xmlns:r="http://schemas.openxmlformats.org/officeDocument/2006/relationships" id="2147483650" r:id="R3f83771f02344f0b"/>
    <p:sldLayoutId xmlns:r="http://schemas.openxmlformats.org/officeDocument/2006/relationships" id="2147483651" r:id="R29182e549cfa48a7"/>
    <p:sldLayoutId xmlns:r="http://schemas.openxmlformats.org/officeDocument/2006/relationships" id="2147483652" r:id="Rbf189d0a6c884984"/>
    <p:sldLayoutId xmlns:r="http://schemas.openxmlformats.org/officeDocument/2006/relationships" id="2147483653" r:id="Rff86c6d3acb24b7f"/>
    <p:sldLayoutId xmlns:r="http://schemas.openxmlformats.org/officeDocument/2006/relationships" id="2147483654" r:id="R97fb372c93a24b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cf2e86c20334690" Type="http://schemas.openxmlformats.org/officeDocument/2006/relationships/image" Target="../media/image3.png"/><Relationship Id="R14fcd83ab1464873" Type="http://schemas.openxmlformats.org/officeDocument/2006/relationships/chart" Target="charts/chart2.xml"/><Relationship Id="R31a7012c4d4c4da4" Type="http://schemas.openxmlformats.org/officeDocument/2006/relationships/image" Target="../media/image4.png"/><Relationship Id="R79309156950d4613" Type="http://schemas.openxmlformats.org/officeDocument/2006/relationships/slideLayout" Target="../slideLayouts/slideLayout6.xml"/><Relationship Id="R8fa3476e81414cf3" Type="http://schemas.openxmlformats.org/officeDocument/2006/relationships/chart" Target="charts/chart1.xml"/><Relationship Id="R915e71eebf394a65" Type="http://schemas.openxmlformats.org/officeDocument/2006/relationships/image" Target="../media/image2.png"/><Relationship Id="R9f4cef52dcec4abe" Type="http://schemas.openxmlformats.org/officeDocument/2006/relationships/image" Target="../media/image8.png"/><Relationship Id="Rb6a229f99f99487f" Type="http://schemas.openxmlformats.org/officeDocument/2006/relationships/image" Target="../media/image7.png"/><Relationship Id="Rbd2a7222abf74831" Type="http://schemas.openxmlformats.org/officeDocument/2006/relationships/image" Target="../media/image6.png"/><Relationship Id="Rcc0ed3736f364ecc" Type="http://schemas.openxmlformats.org/officeDocument/2006/relationships/image" Target="../media/image.png"/><Relationship Id="Rcff13fd1cd914d80" Type="http://schemas.openxmlformats.org/officeDocument/2006/relationships/image" Target="../media/image.jpeg"/><Relationship Id="Rd3860ab6507a4863" Type="http://schemas.openxmlformats.org/officeDocument/2006/relationships/image" Target="../media/image5.png"/><Relationship Id="Re06e1778dced4606" Type="http://schemas.openxmlformats.org/officeDocument/2006/relationships/image" Target="../media/image9.png"/><Relationship Id="Rf8d93bba986e4db3" Type="http://schemas.openxmlformats.org/officeDocument/2006/relationships/notesSlide" Target="../notesSlides/notesSlide1.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strRef>
              <c:f>Sheet1!$B$1</c:f>
              <c:strCache>
                <c:ptCount val="1"/>
                <c:pt idx="0">
                  <c:v>DeepJSCC-Q</c:v>
                </c:pt>
              </c:strCache>
            </c:strRef>
          </c:tx>
          <c:spPr>
            <a:ln xmlns:a="http://schemas.openxmlformats.org/drawingml/2006/main" w="10160">
              <a:solidFill>
                <a:srgbClr val="237EAD"/>
              </a:solidFill>
            </a:ln>
          </c:spPr>
          <c:marker>
            <c:symbol val="circle"/>
            <c:size val="3"/>
            <c:spPr>
              <a:solidFill xmlns:a="http://schemas.openxmlformats.org/drawingml/2006/main">
                <a:srgbClr val="237EAD"/>
              </a:solidFill>
            </c:spPr>
          </c:marker>
          <c:xVal>
            <c:numRef>
              <c:f>Sheet1!$A$2:$A$36</c:f>
              <c:numCache>
                <c:formatCode>General</c:formatCode>
                <c:ptCount val="35"/>
                <c:pt idx="0">
                  <c:v>2.94</c:v>
                </c:pt>
                <c:pt idx="1">
                  <c:v>4.94</c:v>
                </c:pt>
                <c:pt idx="2">
                  <c:v>5.9</c:v>
                </c:pt>
                <c:pt idx="3">
                  <c:v>7.03</c:v>
                </c:pt>
                <c:pt idx="4">
                  <c:v>8.43</c:v>
                </c:pt>
                <c:pt idx="5">
                  <c:v>9.3</c:v>
                </c:pt>
                <c:pt idx="6">
                  <c:v>10.49</c:v>
                </c:pt>
                <c:pt idx="7">
                  <c:v>11.48</c:v>
                </c:pt>
                <c:pt idx="8">
                  <c:v>12.48</c:v>
                </c:pt>
                <c:pt idx="9">
                  <c:v>13.02</c:v>
                </c:pt>
                <c:pt idx="10">
                  <c:v>13.74</c:v>
                </c:pt>
                <c:pt idx="11">
                  <c:v>14.18</c:v>
                </c:pt>
                <c:pt idx="12">
                  <c:v>15.76</c:v>
                </c:pt>
                <c:pt idx="13">
                  <c:v>16.33</c:v>
                </c:pt>
                <c:pt idx="14">
                  <c:v>17.03</c:v>
                </c:pt>
                <c:pt idx="15">
                  <c:v>17.36</c:v>
                </c:pt>
                <c:pt idx="16">
                  <c:v>17.38</c:v>
                </c:pt>
                <c:pt idx="17">
                  <c:v>18.45</c:v>
                </c:pt>
                <c:pt idx="18">
                  <c:v>18.91</c:v>
                </c:pt>
                <c:pt idx="19">
                  <c:v>19.54</c:v>
                </c:pt>
                <c:pt idx="20">
                  <c:v>19.68</c:v>
                </c:pt>
                <c:pt idx="21">
                  <c:v>20.79</c:v>
                </c:pt>
                <c:pt idx="22">
                  <c:v>21.31</c:v>
                </c:pt>
                <c:pt idx="23">
                  <c:v>22.48</c:v>
                </c:pt>
                <c:pt idx="24">
                  <c:v>23.1</c:v>
                </c:pt>
                <c:pt idx="25">
                  <c:v>23.24</c:v>
                </c:pt>
                <c:pt idx="26">
                  <c:v>24.49</c:v>
                </c:pt>
                <c:pt idx="27">
                  <c:v>26.5</c:v>
                </c:pt>
                <c:pt idx="28">
                  <c:v>27.69</c:v>
                </c:pt>
                <c:pt idx="29">
                  <c:v>29.56</c:v>
                </c:pt>
                <c:pt idx="30">
                  <c:v>31.97</c:v>
                </c:pt>
                <c:pt idx="31">
                  <c:v>34.43</c:v>
                </c:pt>
                <c:pt idx="32">
                  <c:v>35.2</c:v>
                </c:pt>
                <c:pt idx="33">
                  <c:v>36.14</c:v>
                </c:pt>
                <c:pt idx="34">
                  <c:v>36.49</c:v>
                </c:pt>
              </c:numCache>
            </c:numRef>
          </c:xVal>
          <c:yVal>
            <c:numRef>
              <c:f>Sheet1!$B$2:$B$36</c:f>
              <c:numCache>
                <c:formatCode>General</c:formatCode>
                <c:ptCount val="35"/>
                <c:pt idx="0">
                  <c:v>23.51</c:v>
                </c:pt>
                <c:pt idx="1">
                  <c:v>25.58</c:v>
                </c:pt>
                <c:pt idx="2">
                  <c:v>26.94</c:v>
                </c:pt>
                <c:pt idx="3">
                  <c:v>28.22</c:v>
                </c:pt>
                <c:pt idx="4">
                  <c:v>29.1</c:v>
                </c:pt>
                <c:pt idx="5">
                  <c:v>29.77</c:v>
                </c:pt>
                <c:pt idx="6">
                  <c:v>30.4</c:v>
                </c:pt>
                <c:pt idx="7">
                  <c:v>30.72</c:v>
                </c:pt>
                <c:pt idx="8">
                  <c:v>30.96</c:v>
                </c:pt>
                <c:pt idx="9">
                  <c:v>31.01</c:v>
                </c:pt>
                <c:pt idx="10">
                  <c:v>31.22</c:v>
                </c:pt>
                <c:pt idx="11">
                  <c:v>31.46</c:v>
                </c:pt>
                <c:pt idx="12">
                  <c:v>31.49</c:v>
                </c:pt>
                <c:pt idx="13">
                  <c:v>31.68</c:v>
                </c:pt>
                <c:pt idx="14">
                  <c:v>31.74</c:v>
                </c:pt>
                <c:pt idx="15">
                  <c:v>31.79</c:v>
                </c:pt>
                <c:pt idx="16">
                  <c:v>31.8</c:v>
                </c:pt>
                <c:pt idx="17">
                  <c:v>31.87</c:v>
                </c:pt>
                <c:pt idx="18">
                  <c:v>31.91</c:v>
                </c:pt>
                <c:pt idx="19">
                  <c:v>31.94</c:v>
                </c:pt>
                <c:pt idx="20">
                  <c:v>31.95</c:v>
                </c:pt>
                <c:pt idx="21">
                  <c:v>32.0</c:v>
                </c:pt>
                <c:pt idx="22">
                  <c:v>32.03</c:v>
                </c:pt>
                <c:pt idx="23">
                  <c:v>32.07</c:v>
                </c:pt>
                <c:pt idx="24">
                  <c:v>32.09</c:v>
                </c:pt>
                <c:pt idx="25">
                  <c:v>32.1</c:v>
                </c:pt>
                <c:pt idx="26">
                  <c:v>32.13</c:v>
                </c:pt>
                <c:pt idx="27">
                  <c:v>32.16</c:v>
                </c:pt>
                <c:pt idx="28">
                  <c:v>32.17</c:v>
                </c:pt>
                <c:pt idx="29">
                  <c:v>32.19</c:v>
                </c:pt>
                <c:pt idx="30">
                  <c:v>32.2</c:v>
                </c:pt>
                <c:pt idx="31">
                  <c:v>32.21</c:v>
                </c:pt>
                <c:pt idx="32">
                  <c:v>32.21</c:v>
                </c:pt>
                <c:pt idx="33">
                  <c:v>32.21</c:v>
                </c:pt>
                <c:pt idx="34">
                  <c:v>32.21</c:v>
                </c:pt>
              </c:numCache>
            </c:numRef>
          </c:yVal>
          <c:smooth val="0"/>
        </c:ser>
        <c:ser>
          <c:idx val="1"/>
          <c:order val="1"/>
          <c:tx>
            <c:strRef>
              <c:f>Sheet1!$B$38</c:f>
              <c:strCache>
                <c:ptCount val="1"/>
                <c:pt idx="0">
                  <c:v>SSCC</c:v>
                </c:pt>
              </c:strCache>
            </c:strRef>
          </c:tx>
          <c:spPr>
            <a:ln xmlns:a="http://schemas.openxmlformats.org/drawingml/2006/main" w="10160">
              <a:solidFill>
                <a:srgbClr val="D9531E"/>
              </a:solidFill>
            </a:ln>
          </c:spPr>
          <c:marker>
            <c:symbol val="triangle"/>
            <c:size val="3"/>
            <c:spPr>
              <a:solidFill xmlns:a="http://schemas.openxmlformats.org/drawingml/2006/main">
                <a:srgbClr val="D9531E"/>
              </a:solidFill>
            </c:spPr>
          </c:marker>
          <c:xVal>
            <c:numRef>
              <c:f>Sheet1!$A$39:$A$70</c:f>
              <c:numCache>
                <c:formatCode>General</c:formatCode>
                <c:ptCount val="32"/>
                <c:pt idx="0">
                  <c:v>5.15</c:v>
                </c:pt>
                <c:pt idx="1">
                  <c:v>7.91</c:v>
                </c:pt>
                <c:pt idx="2">
                  <c:v>9.21</c:v>
                </c:pt>
                <c:pt idx="3">
                  <c:v>9.62</c:v>
                </c:pt>
                <c:pt idx="4">
                  <c:v>10.52</c:v>
                </c:pt>
                <c:pt idx="5">
                  <c:v>13.67</c:v>
                </c:pt>
                <c:pt idx="6">
                  <c:v>14.51</c:v>
                </c:pt>
                <c:pt idx="7">
                  <c:v>16.17</c:v>
                </c:pt>
                <c:pt idx="8">
                  <c:v>16.55</c:v>
                </c:pt>
                <c:pt idx="9">
                  <c:v>18.84</c:v>
                </c:pt>
                <c:pt idx="10">
                  <c:v>19.02</c:v>
                </c:pt>
                <c:pt idx="11">
                  <c:v>19.15</c:v>
                </c:pt>
                <c:pt idx="12">
                  <c:v>19.4</c:v>
                </c:pt>
                <c:pt idx="13">
                  <c:v>19.56</c:v>
                </c:pt>
                <c:pt idx="14">
                  <c:v>19.96</c:v>
                </c:pt>
                <c:pt idx="15">
                  <c:v>20.31</c:v>
                </c:pt>
                <c:pt idx="16">
                  <c:v>20.94</c:v>
                </c:pt>
                <c:pt idx="17">
                  <c:v>21.77</c:v>
                </c:pt>
                <c:pt idx="18">
                  <c:v>21.85</c:v>
                </c:pt>
                <c:pt idx="19">
                  <c:v>22.67</c:v>
                </c:pt>
                <c:pt idx="20">
                  <c:v>25.13</c:v>
                </c:pt>
                <c:pt idx="21">
                  <c:v>25.71</c:v>
                </c:pt>
                <c:pt idx="22">
                  <c:v>27.49</c:v>
                </c:pt>
                <c:pt idx="23">
                  <c:v>28.02</c:v>
                </c:pt>
                <c:pt idx="24">
                  <c:v>28.64</c:v>
                </c:pt>
                <c:pt idx="25">
                  <c:v>30.27</c:v>
                </c:pt>
                <c:pt idx="26">
                  <c:v>32.4</c:v>
                </c:pt>
                <c:pt idx="27">
                  <c:v>34.48</c:v>
                </c:pt>
                <c:pt idx="28">
                  <c:v>35.22</c:v>
                </c:pt>
                <c:pt idx="29">
                  <c:v>35.76</c:v>
                </c:pt>
                <c:pt idx="30">
                  <c:v>36.11</c:v>
                </c:pt>
                <c:pt idx="31">
                  <c:v>36.85</c:v>
                </c:pt>
              </c:numCache>
            </c:numRef>
          </c:xVal>
          <c:yVal>
            <c:numRef>
              <c:f>Sheet1!$B$39:$B$70</c:f>
              <c:numCache>
                <c:formatCode>General</c:formatCode>
                <c:ptCount val="32"/>
                <c:pt idx="0">
                  <c:v>9.62</c:v>
                </c:pt>
                <c:pt idx="1">
                  <c:v>9.54</c:v>
                </c:pt>
                <c:pt idx="2">
                  <c:v>9.59</c:v>
                </c:pt>
                <c:pt idx="3">
                  <c:v>9.65</c:v>
                </c:pt>
                <c:pt idx="4">
                  <c:v>9.64</c:v>
                </c:pt>
                <c:pt idx="5">
                  <c:v>14.04</c:v>
                </c:pt>
                <c:pt idx="6">
                  <c:v>9.5</c:v>
                </c:pt>
                <c:pt idx="7">
                  <c:v>9.12</c:v>
                </c:pt>
                <c:pt idx="8">
                  <c:v>9.34</c:v>
                </c:pt>
                <c:pt idx="9">
                  <c:v>27.78</c:v>
                </c:pt>
                <c:pt idx="10">
                  <c:v>28.3</c:v>
                </c:pt>
                <c:pt idx="11">
                  <c:v>28.15</c:v>
                </c:pt>
                <c:pt idx="12">
                  <c:v>25.04</c:v>
                </c:pt>
                <c:pt idx="13">
                  <c:v>28.99</c:v>
                </c:pt>
                <c:pt idx="14">
                  <c:v>29.18</c:v>
                </c:pt>
                <c:pt idx="15">
                  <c:v>29.34</c:v>
                </c:pt>
                <c:pt idx="16">
                  <c:v>29.42</c:v>
                </c:pt>
                <c:pt idx="17">
                  <c:v>29.42</c:v>
                </c:pt>
                <c:pt idx="18">
                  <c:v>29.42</c:v>
                </c:pt>
                <c:pt idx="19">
                  <c:v>29.42</c:v>
                </c:pt>
                <c:pt idx="20">
                  <c:v>29.42</c:v>
                </c:pt>
                <c:pt idx="21">
                  <c:v>29.34</c:v>
                </c:pt>
                <c:pt idx="22">
                  <c:v>29.42</c:v>
                </c:pt>
                <c:pt idx="23">
                  <c:v>29.42</c:v>
                </c:pt>
                <c:pt idx="24">
                  <c:v>29.42</c:v>
                </c:pt>
                <c:pt idx="25">
                  <c:v>29.42</c:v>
                </c:pt>
                <c:pt idx="26">
                  <c:v>29.42</c:v>
                </c:pt>
                <c:pt idx="27">
                  <c:v>29.42</c:v>
                </c:pt>
                <c:pt idx="28">
                  <c:v>29.42</c:v>
                </c:pt>
                <c:pt idx="29">
                  <c:v>29.42</c:v>
                </c:pt>
                <c:pt idx="30">
                  <c:v>29.42</c:v>
                </c:pt>
                <c:pt idx="31">
                  <c:v>29.42</c:v>
                </c:pt>
              </c:numCache>
            </c:numRef>
          </c:y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5"/>
        </c:scaling>
        <c:delete val="0"/>
        <c:axPos val="l"/>
        <c:majorGridlines>
          <c:spPr>
            <a:ln xmlns:a="http://schemas.openxmlformats.org/drawingml/2006/main" w="3810">
              <a:solidFill>
                <a:srgbClr val="DCE5EB"/>
              </a:solidFill>
            </a:ln>
          </c:spPr>
        </c:majorGridlines>
        <c:title>
          <c:tx>
            <c:rich>
              <a:bodyPr xmlns:a="http://schemas.openxmlformats.org/drawingml/2006/main"/>
              <a:lstStyle xmlns:a="http://schemas.openxmlformats.org/drawingml/2006/main"/>
              <a:p xmlns:a="http://schemas.openxmlformats.org/drawingml/2006/main">
                <a:r>
                  <a:rPr sz="900">
                    <a:solidFill>
                      <a:srgbClr val="20303D"/>
                    </a:solidFill>
                    <a:latin typeface="Calibri"/>
                    <a:ea typeface="Calibri"/>
                    <a:cs typeface="Calibri"/>
                  </a:rPr>
                  <a:t>PSNR (dB)</a:t>
                </a:r>
              </a:p>
            </c:rich>
          </c:tx>
          <c:overlay val="0"/>
          <c:txPr>
            <a:bodyPr xmlns:a="http://schemas.openxmlformats.org/drawingml/2006/main" anchorCtr="1"/>
            <a:lstStyle xmlns:a="http://schemas.openxmlformats.org/drawingml/2006/main"/>
            <a:p xmlns:a="http://schemas.openxmlformats.org/drawingml/2006/main">
              <a:pPr>
                <a:defRPr sz="900">
                  <a:solidFill>
                    <a:srgbClr val="20303D"/>
                  </a:solidFill>
                  <a:latin typeface="Calibri"/>
                  <a:ea typeface="Calibri"/>
                  <a:cs typeface="Calibri"/>
                </a:defRPr>
              </a:pPr>
            </a:p>
          </c:txPr>
        </c:title>
        <c:numFmt formatCode="0"/>
        <c:majorTickMark val="none"/>
        <c:minorTickMark val="none"/>
        <c:spPr>
          <a:ln xmlns:a="http://schemas.openxmlformats.org/drawingml/2006/main" w="5080">
            <a:solidFill>
              <a:srgbClr val="20303D"/>
            </a:solidFill>
          </a:ln>
        </c:spPr>
        <c:txPr>
          <a:bodyPr xmlns:a="http://schemas.openxmlformats.org/drawingml/2006/main" anchorCtr="1"/>
          <a:lstStyle xmlns:a="http://schemas.openxmlformats.org/drawingml/2006/main"/>
          <a:p xmlns:a="http://schemas.openxmlformats.org/drawingml/2006/main">
            <a:pPr>
              <a:defRPr sz="850">
                <a:solidFill>
                  <a:srgbClr val="20303D"/>
                </a:solidFill>
                <a:latin typeface="Calibri"/>
                <a:ea typeface="Calibri"/>
                <a:cs typeface="Calibri"/>
              </a:defRPr>
            </a:pPr>
          </a:p>
        </c:txPr>
        <c:crossAx val="48650112"/>
        <c:majorUnit val="5"/>
      </c:valAx>
      <c:valAx>
        <c:axId val="48650112"/>
        <c:scaling>
          <c:orientation val="minMax"/>
          <c:max val="40"/>
          <c:min val="0"/>
        </c:scaling>
        <c:delete val="0"/>
        <c:axPos val="b"/>
        <c:majorGridlines>
          <c:spPr>
            <a:ln xmlns:a="http://schemas.openxmlformats.org/drawingml/2006/main" w="3810">
              <a:solidFill>
                <a:srgbClr val="E3E9ED"/>
              </a:solidFill>
            </a:ln>
          </c:spPr>
        </c:majorGridlines>
        <c:title>
          <c:tx>
            <c:rich>
              <a:bodyPr xmlns:a="http://schemas.openxmlformats.org/drawingml/2006/main"/>
              <a:lstStyle xmlns:a="http://schemas.openxmlformats.org/drawingml/2006/main"/>
              <a:p xmlns:a="http://schemas.openxmlformats.org/drawingml/2006/main">
                <a:r>
                  <a:rPr sz="900">
                    <a:solidFill>
                      <a:srgbClr val="20303D"/>
                    </a:solidFill>
                    <a:latin typeface="Calibri"/>
                    <a:ea typeface="Calibri"/>
                    <a:cs typeface="Calibri"/>
                  </a:rPr>
                  <a:t>Data-aided SNR (dB)</a:t>
                </a:r>
              </a:p>
            </c:rich>
          </c:tx>
          <c:overlay val="0"/>
          <c:txPr>
            <a:bodyPr xmlns:a="http://schemas.openxmlformats.org/drawingml/2006/main" anchorCtr="1"/>
            <a:lstStyle xmlns:a="http://schemas.openxmlformats.org/drawingml/2006/main"/>
            <a:p xmlns:a="http://schemas.openxmlformats.org/drawingml/2006/main">
              <a:pPr>
                <a:defRPr sz="900">
                  <a:solidFill>
                    <a:srgbClr val="20303D"/>
                  </a:solidFill>
                  <a:latin typeface="Calibri"/>
                  <a:ea typeface="Calibri"/>
                  <a:cs typeface="Calibri"/>
                </a:defRPr>
              </a:pPr>
            </a:p>
          </c:txPr>
        </c:title>
        <c:numFmt formatCode="0"/>
        <c:majorTickMark val="none"/>
        <c:minorTickMark val="none"/>
        <c:spPr>
          <a:ln xmlns:a="http://schemas.openxmlformats.org/drawingml/2006/main" w="5080">
            <a:solidFill>
              <a:srgbClr val="20303D"/>
            </a:solidFill>
          </a:ln>
        </c:spPr>
        <c:txPr>
          <a:bodyPr xmlns:a="http://schemas.openxmlformats.org/drawingml/2006/main" anchorCtr="1"/>
          <a:lstStyle xmlns:a="http://schemas.openxmlformats.org/drawingml/2006/main"/>
          <a:p xmlns:a="http://schemas.openxmlformats.org/drawingml/2006/main">
            <a:pPr>
              <a:defRPr sz="850">
                <a:solidFill>
                  <a:srgbClr val="20303D"/>
                </a:solidFill>
                <a:latin typeface="Calibri"/>
                <a:ea typeface="Calibri"/>
                <a:cs typeface="Calibri"/>
              </a:defRPr>
            </a:pPr>
          </a:p>
        </c:txPr>
        <c:crossAx val="48672768"/>
        <c:majorUnit val="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20303D"/>
              </a:solidFill>
              <a:latin typeface="Calibri"/>
              <a:ea typeface="Calibri"/>
              <a:cs typeface="Calibri"/>
            </a:defRPr>
          </a:pPr>
        </a:p>
      </c:txPr>
    </c:legend>
    <c:plotVisOnly val="1"/>
  </c:chart>
  <c:spPr>
    <a:solidFill xmlns:a="http://schemas.openxmlformats.org/drawingml/2006/main">
      <a:srgbClr val="EEF3F8"/>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
          <c:y val="0"/>
          <c:w val="1"/>
          <c:h val="1"/>
        </c:manualLayout>
      </c:layout>
      <c:barChart>
        <c:barDir val="bar"/>
        <c:grouping val="stacked"/>
        <c:varyColors val="0"/>
        <c:ser>
          <c:idx val="0"/>
          <c:order val="0"/>
          <c:tx>
            <c:strRef>
              <c:f>Sheet1!$B$1</c:f>
              <c:strCache>
                <c:ptCount val="1"/>
                <c:pt idx="0">
                  <c:v>Encode 38.20 ms</c:v>
                </c:pt>
              </c:strCache>
            </c:strRef>
          </c:tx>
          <c:spPr>
            <a:solidFill xmlns:a="http://schemas.openxmlformats.org/drawingml/2006/main">
              <a:srgbClr val="0B4F8A"/>
            </a:solidFill>
            <a:ln xmlns:a="http://schemas.openxmlformats.org/drawingml/2006/main" w="0">
              <a:noFill/>
            </a:ln>
          </c:spPr>
          <c:invertIfNegative val="0"/>
          <c:cat>
            <c:strRef>
              <c:f>Sheet1!$A$2:$A$2</c:f>
              <c:strCache>
                <c:ptCount val="1"/>
                <c:pt idx="0">
                  <c:v>Frame</c:v>
                </c:pt>
              </c:strCache>
            </c:strRef>
          </c:cat>
          <c:val>
            <c:numRef>
              <c:f>Sheet1!$B$2:$B$2</c:f>
              <c:numCache>
                <c:formatCode>General</c:formatCode>
                <c:ptCount val="1"/>
                <c:pt idx="0">
                  <c:v>38.2</c:v>
                </c:pt>
              </c:numCache>
            </c:numRef>
          </c:val>
        </c:ser>
        <c:ser>
          <c:idx val="1"/>
          <c:order val="1"/>
          <c:tx>
            <c:strRef>
              <c:f>Sheet1!$C$1</c:f>
              <c:strCache>
                <c:ptCount val="1"/>
                <c:pt idx="0">
                  <c:v>Transfer 2.90 ms</c:v>
                </c:pt>
              </c:strCache>
            </c:strRef>
          </c:tx>
          <c:spPr>
            <a:solidFill xmlns:a="http://schemas.openxmlformats.org/drawingml/2006/main">
              <a:srgbClr val="D9531E"/>
            </a:solidFill>
            <a:ln xmlns:a="http://schemas.openxmlformats.org/drawingml/2006/main" w="0">
              <a:noFill/>
            </a:ln>
          </c:spPr>
          <c:invertIfNegative val="0"/>
          <c:cat>
            <c:strRef>
              <c:f>Sheet1!$A$2:$A$2</c:f>
              <c:strCache>
                <c:ptCount val="1"/>
                <c:pt idx="0">
                  <c:v>Frame</c:v>
                </c:pt>
              </c:strCache>
            </c:strRef>
          </c:cat>
          <c:val>
            <c:numRef>
              <c:f>Sheet1!$C$2:$C$2</c:f>
              <c:numCache>
                <c:formatCode>General</c:formatCode>
                <c:ptCount val="1"/>
                <c:pt idx="0">
                  <c:v>2.9</c:v>
                </c:pt>
              </c:numCache>
            </c:numRef>
          </c:val>
        </c:ser>
        <c:ser>
          <c:idx val="2"/>
          <c:order val="2"/>
          <c:tx>
            <c:strRef>
              <c:f>Sheet1!$D$1</c:f>
              <c:strCache>
                <c:ptCount val="1"/>
                <c:pt idx="0">
                  <c:v>Decode 26.39 ms</c:v>
                </c:pt>
              </c:strCache>
            </c:strRef>
          </c:tx>
          <c:spPr>
            <a:solidFill xmlns:a="http://schemas.openxmlformats.org/drawingml/2006/main">
              <a:srgbClr val="237EAD"/>
            </a:solidFill>
            <a:ln xmlns:a="http://schemas.openxmlformats.org/drawingml/2006/main" w="0">
              <a:noFill/>
            </a:ln>
          </c:spPr>
          <c:invertIfNegative val="0"/>
          <c:cat>
            <c:strRef>
              <c:f>Sheet1!$A$2:$A$2</c:f>
              <c:strCache>
                <c:ptCount val="1"/>
                <c:pt idx="0">
                  <c:v>Frame</c:v>
                </c:pt>
              </c:strCache>
            </c:strRef>
          </c:cat>
          <c:val>
            <c:numRef>
              <c:f>Sheet1!$D$2:$D$2</c:f>
              <c:numCache>
                <c:formatCode>General</c:formatCode>
                <c:ptCount val="1"/>
                <c:pt idx="0">
                  <c:v>26.39</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max val="71.46"/>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EEF3F8"/>
        </a:solidFill>
        <a:ln xmlns:a="http://schemas.openxmlformats.org/drawingml/2006/main" w="0">
          <a:noFill/>
        </a:ln>
      </c:spPr>
    </c:plotArea>
    <c:plotVisOnly val="1"/>
  </c:chart>
  <c:spPr>
    <a:solidFill xmlns:a="http://schemas.openxmlformats.org/drawingml/2006/main">
      <a:srgbClr val="EEF3F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 name="Card: PHY screenshot">
            <a:extLst xmlns:a="http://schemas.openxmlformats.org/drawingml/2006/main">
              <a:ext uri="{FF2B5EF4-FFF2-40B4-BE49-F238E27FC236}">
                <a16:creationId xmlns:a16="http://schemas.microsoft.com/office/drawing/2014/main" id="{DBCE3598-A3C6-4127-A412-F788613F4D2F}"/>
              </a:ext>
            </a:extLst>
          </p:cNvPr>
          <p:cNvSpPr>
            <a:spLocks xmlns:a="http://schemas.openxmlformats.org/drawingml/2006/main" noGrp="1"/>
          </p:cNvSpPr>
          <p:nvPr/>
        </p:nvSpPr>
        <p:spPr>
          <a:xfrm xmlns:a="http://schemas.openxmlformats.org/drawingml/2006/main">
            <a:off x="3816000" y="8262000"/>
            <a:ext cx="3528000" cy="2070000"/>
          </a:xfrm>
          <a:prstGeom xmlns:a="http://schemas.openxmlformats.org/drawingml/2006/main" prst="roundRect">
            <a:avLst>
              <a:gd name="adj" fmla="val 2609"/>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21" name="Card: Latency breakdown">
            <a:extLst xmlns:a="http://schemas.openxmlformats.org/drawingml/2006/main">
              <a:ext uri="{FF2B5EF4-FFF2-40B4-BE49-F238E27FC236}">
                <a16:creationId xmlns:a16="http://schemas.microsoft.com/office/drawing/2014/main" id="{4D92EED5-EFCB-446D-8515-4C04D7DA8890}"/>
              </a:ext>
            </a:extLst>
          </p:cNvPr>
          <p:cNvSpPr>
            <a:spLocks xmlns:a="http://schemas.openxmlformats.org/drawingml/2006/main" noGrp="1"/>
          </p:cNvSpPr>
          <p:nvPr/>
        </p:nvSpPr>
        <p:spPr>
          <a:xfrm xmlns:a="http://schemas.openxmlformats.org/drawingml/2006/main">
            <a:off x="3816000" y="7596000"/>
            <a:ext cx="3528000" cy="612000"/>
          </a:xfrm>
          <a:prstGeom xmlns:a="http://schemas.openxmlformats.org/drawingml/2006/main" prst="roundRect">
            <a:avLst>
              <a:gd name="adj" fmla="val 8824"/>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20" name="Card: Hardware">
            <a:extLst xmlns:a="http://schemas.openxmlformats.org/drawingml/2006/main">
              <a:ext uri="{FF2B5EF4-FFF2-40B4-BE49-F238E27FC236}">
                <a16:creationId xmlns:a16="http://schemas.microsoft.com/office/drawing/2014/main" id="{5079F598-C491-445E-A087-A7F3BB3284F3}"/>
              </a:ext>
            </a:extLst>
          </p:cNvPr>
          <p:cNvSpPr>
            <a:spLocks xmlns:a="http://schemas.openxmlformats.org/drawingml/2006/main" noGrp="1"/>
          </p:cNvSpPr>
          <p:nvPr/>
        </p:nvSpPr>
        <p:spPr>
          <a:xfrm xmlns:a="http://schemas.openxmlformats.org/drawingml/2006/main">
            <a:off x="216000" y="7596000"/>
            <a:ext cx="3492000" cy="2736000"/>
          </a:xfrm>
          <a:prstGeom xmlns:a="http://schemas.openxmlformats.org/drawingml/2006/main" prst="roundRect">
            <a:avLst>
              <a:gd name="adj" fmla="val 1974"/>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9" name="Card: Quality evidence">
            <a:extLst xmlns:a="http://schemas.openxmlformats.org/drawingml/2006/main">
              <a:ext uri="{FF2B5EF4-FFF2-40B4-BE49-F238E27FC236}">
                <a16:creationId xmlns:a16="http://schemas.microsoft.com/office/drawing/2014/main" id="{467B4C0C-D620-4067-806D-2513DD7F384D}"/>
              </a:ext>
            </a:extLst>
          </p:cNvPr>
          <p:cNvSpPr>
            <a:spLocks xmlns:a="http://schemas.openxmlformats.org/drawingml/2006/main" noGrp="1"/>
          </p:cNvSpPr>
          <p:nvPr/>
        </p:nvSpPr>
        <p:spPr>
          <a:xfrm xmlns:a="http://schemas.openxmlformats.org/drawingml/2006/main">
            <a:off x="2628000" y="1584000"/>
            <a:ext cx="4716000" cy="5904000"/>
          </a:xfrm>
          <a:prstGeom xmlns:a="http://schemas.openxmlformats.org/drawingml/2006/main" prst="roundRect">
            <a:avLst>
              <a:gd name="adj" fmla="val 1145"/>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8" name="Card: System">
            <a:extLst xmlns:a="http://schemas.openxmlformats.org/drawingml/2006/main">
              <a:ext uri="{FF2B5EF4-FFF2-40B4-BE49-F238E27FC236}">
                <a16:creationId xmlns:a16="http://schemas.microsoft.com/office/drawing/2014/main" id="{67768E24-02FD-42AE-BC56-3BA24DA9CE88}"/>
              </a:ext>
            </a:extLst>
          </p:cNvPr>
          <p:cNvSpPr>
            <a:spLocks xmlns:a="http://schemas.openxmlformats.org/drawingml/2006/main" noGrp="1"/>
          </p:cNvSpPr>
          <p:nvPr/>
        </p:nvSpPr>
        <p:spPr>
          <a:xfrm xmlns:a="http://schemas.openxmlformats.org/drawingml/2006/main">
            <a:off x="216000" y="1584000"/>
            <a:ext cx="2304000" cy="5904000"/>
          </a:xfrm>
          <a:prstGeom xmlns:a="http://schemas.openxmlformats.org/drawingml/2006/main" prst="roundRect">
            <a:avLst>
              <a:gd name="adj" fmla="val 2344"/>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7" name="Card: Quality gain">
            <a:extLst xmlns:a="http://schemas.openxmlformats.org/drawingml/2006/main">
              <a:ext uri="{FF2B5EF4-FFF2-40B4-BE49-F238E27FC236}">
                <a16:creationId xmlns:a16="http://schemas.microsoft.com/office/drawing/2014/main" id="{F0E722B2-2998-4CD6-87C6-515756C166C7}"/>
              </a:ext>
            </a:extLst>
          </p:cNvPr>
          <p:cNvSpPr>
            <a:spLocks xmlns:a="http://schemas.openxmlformats.org/drawingml/2006/main" noGrp="1"/>
          </p:cNvSpPr>
          <p:nvPr/>
        </p:nvSpPr>
        <p:spPr>
          <a:xfrm xmlns:a="http://schemas.openxmlformats.org/drawingml/2006/main">
            <a:off x="5040000" y="792000"/>
            <a:ext cx="2304000" cy="702000"/>
          </a:xfrm>
          <a:prstGeom xmlns:a="http://schemas.openxmlformats.org/drawingml/2006/main" prst="roundRect">
            <a:avLst>
              <a:gd name="adj" fmla="val 7692"/>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6" name="Card: Latency">
            <a:extLst xmlns:a="http://schemas.openxmlformats.org/drawingml/2006/main">
              <a:ext uri="{FF2B5EF4-FFF2-40B4-BE49-F238E27FC236}">
                <a16:creationId xmlns:a16="http://schemas.microsoft.com/office/drawing/2014/main" id="{DA86BB10-18F0-40F8-9CFF-45B3AB1E662D}"/>
              </a:ext>
            </a:extLst>
          </p:cNvPr>
          <p:cNvSpPr>
            <a:spLocks xmlns:a="http://schemas.openxmlformats.org/drawingml/2006/main" noGrp="1"/>
          </p:cNvSpPr>
          <p:nvPr/>
        </p:nvSpPr>
        <p:spPr>
          <a:xfrm xmlns:a="http://schemas.openxmlformats.org/drawingml/2006/main">
            <a:off x="2628000" y="792000"/>
            <a:ext cx="2304000" cy="702000"/>
          </a:xfrm>
          <a:prstGeom xmlns:a="http://schemas.openxmlformats.org/drawingml/2006/main" prst="roundRect">
            <a:avLst>
              <a:gd name="adj" fmla="val 7692"/>
            </a:avLst>
          </a:prstGeom>
          <a:solidFill xmlns:a="http://schemas.openxmlformats.org/drawingml/2006/main">
            <a:srgbClr val="EEF3F8"/>
          </a:solidFill>
          <a:ln xmlns:a="http://schemas.openxmlformats.org/drawingml/2006/main" w="0">
            <a:noFill/>
          </a:ln>
        </p:spPr>
        <p:txBody xmlns:a="http://schemas.openxmlformats.org/drawingml/2006/main">
          <a:bodyPr/>
          <a:p/>
        </p:txBody>
      </p:sp>
      <p:sp>
        <p:nvSpPr>
          <p:cNvPr id="115" name="Card: Throughput">
            <a:extLst xmlns:a="http://schemas.openxmlformats.org/drawingml/2006/main">
              <a:ext uri="{FF2B5EF4-FFF2-40B4-BE49-F238E27FC236}">
                <a16:creationId xmlns:a16="http://schemas.microsoft.com/office/drawing/2014/main" id="{E68805FB-5752-4088-B9A7-7F8821B1E71A}"/>
              </a:ext>
            </a:extLst>
          </p:cNvPr>
          <p:cNvSpPr>
            <a:spLocks xmlns:a="http://schemas.openxmlformats.org/drawingml/2006/main" noGrp="1"/>
          </p:cNvSpPr>
          <p:nvPr/>
        </p:nvSpPr>
        <p:spPr>
          <a:xfrm xmlns:a="http://schemas.openxmlformats.org/drawingml/2006/main">
            <a:off x="216000" y="792000"/>
            <a:ext cx="2304000" cy="702000"/>
          </a:xfrm>
          <a:prstGeom xmlns:a="http://schemas.openxmlformats.org/drawingml/2006/main" prst="roundRect">
            <a:avLst>
              <a:gd name="adj" fmla="val 7692"/>
            </a:avLst>
          </a:prstGeom>
          <a:solidFill xmlns:a="http://schemas.openxmlformats.org/drawingml/2006/main">
            <a:srgbClr val="EEF3F8"/>
          </a:solidFill>
          <a:ln xmlns:a="http://schemas.openxmlformats.org/drawingml/2006/main" w="0">
            <a:noFill/>
          </a:ln>
        </p:spPr>
        <p:txBody xmlns:a="http://schemas.openxmlformats.org/drawingml/2006/main">
          <a:bodyPr/>
          <a:p/>
        </p:txBody>
      </p:sp>
      <p:cxnSp>
        <p:nvCxnSpPr>
          <p:cNvPr id="99" name="">
            <a:extLst xmlns:a="http://schemas.openxmlformats.org/drawingml/2006/main">
              <a:ext uri="{FF2B5EF4-FFF2-40B4-BE49-F238E27FC236}">
                <a16:creationId xmlns:a16="http://schemas.microsoft.com/office/drawing/2014/main" id="{DA539F8E-F813-4F13-A3A7-3286905F2567}"/>
              </a:ext>
            </a:extLst>
          </p:cNvPr>
          <p:cNvCxnSpPr>
            <a:stCxn xmlns:a="http://schemas.openxmlformats.org/drawingml/2006/main" id="97" idx="2"/>
            <a:endCxn xmlns:a="http://schemas.openxmlformats.org/drawingml/2006/main" id="88" idx="0"/>
          </p:cNvCxnSpPr>
          <p:nvPr/>
        </p:nvCxnSpPr>
        <p:spPr>
          <a:xfrm xmlns:a="http://schemas.openxmlformats.org/drawingml/2006/main">
            <a:off x="2415600" y="8323200"/>
            <a:ext cx="0" cy="648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96" name="">
            <a:extLst xmlns:a="http://schemas.openxmlformats.org/drawingml/2006/main">
              <a:ext uri="{FF2B5EF4-FFF2-40B4-BE49-F238E27FC236}">
                <a16:creationId xmlns:a16="http://schemas.microsoft.com/office/drawing/2014/main" id="{621C4887-DB25-464A-B033-AF8BBE970ED3}"/>
              </a:ext>
            </a:extLst>
          </p:cNvPr>
          <p:cNvCxnSpPr>
            <a:stCxn xmlns:a="http://schemas.openxmlformats.org/drawingml/2006/main" id="88" idx="3"/>
            <a:endCxn xmlns:a="http://schemas.openxmlformats.org/drawingml/2006/main" id="91" idx="1"/>
          </p:cNvCxnSpPr>
          <p:nvPr/>
        </p:nvCxnSpPr>
        <p:spPr>
          <a:xfrm xmlns:a="http://schemas.openxmlformats.org/drawingml/2006/main">
            <a:off x="2793600" y="8568000"/>
            <a:ext cx="118800" cy="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95" name="">
            <a:extLst xmlns:a="http://schemas.openxmlformats.org/drawingml/2006/main">
              <a:ext uri="{FF2B5EF4-FFF2-40B4-BE49-F238E27FC236}">
                <a16:creationId xmlns:a16="http://schemas.microsoft.com/office/drawing/2014/main" id="{FF1359D2-E950-4B19-A8EC-720F4D134B4C}"/>
              </a:ext>
            </a:extLst>
          </p:cNvPr>
          <p:cNvCxnSpPr>
            <a:stCxn xmlns:a="http://schemas.openxmlformats.org/drawingml/2006/main" id="85" idx="3"/>
            <a:endCxn xmlns:a="http://schemas.openxmlformats.org/drawingml/2006/main" id="88" idx="1"/>
          </p:cNvCxnSpPr>
          <p:nvPr/>
        </p:nvCxnSpPr>
        <p:spPr>
          <a:xfrm xmlns:a="http://schemas.openxmlformats.org/drawingml/2006/main">
            <a:off x="1886400" y="8568000"/>
            <a:ext cx="151200" cy="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94" name="">
            <a:extLst xmlns:a="http://schemas.openxmlformats.org/drawingml/2006/main">
              <a:ext uri="{FF2B5EF4-FFF2-40B4-BE49-F238E27FC236}">
                <a16:creationId xmlns:a16="http://schemas.microsoft.com/office/drawing/2014/main" id="{2045F66E-8A09-487D-A9CD-94A3C22F85BA}"/>
              </a:ext>
            </a:extLst>
          </p:cNvPr>
          <p:cNvCxnSpPr>
            <a:stCxn xmlns:a="http://schemas.openxmlformats.org/drawingml/2006/main" id="82" idx="3"/>
            <a:endCxn xmlns:a="http://schemas.openxmlformats.org/drawingml/2006/main" id="85" idx="1"/>
          </p:cNvCxnSpPr>
          <p:nvPr/>
        </p:nvCxnSpPr>
        <p:spPr>
          <a:xfrm xmlns:a="http://schemas.openxmlformats.org/drawingml/2006/main">
            <a:off x="1011600" y="8568000"/>
            <a:ext cx="151200" cy="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44" name="">
            <a:extLst xmlns:a="http://schemas.openxmlformats.org/drawingml/2006/main">
              <a:ext uri="{FF2B5EF4-FFF2-40B4-BE49-F238E27FC236}">
                <a16:creationId xmlns:a16="http://schemas.microsoft.com/office/drawing/2014/main" id="{3A067008-9A11-47DF-BDE8-6DBF893459CF}"/>
              </a:ext>
            </a:extLst>
          </p:cNvPr>
          <p:cNvCxnSpPr>
            <a:stCxn xmlns:a="http://schemas.openxmlformats.org/drawingml/2006/main" id="23" idx="3"/>
            <a:endCxn xmlns:a="http://schemas.openxmlformats.org/drawingml/2006/main" id="35" idx="1"/>
          </p:cNvCxnSpPr>
          <p:nvPr/>
        </p:nvCxnSpPr>
        <p:spPr>
          <a:xfrm xmlns:a="http://schemas.openxmlformats.org/drawingml/2006/main">
            <a:off x="1188000" y="5742000"/>
            <a:ext cx="360000" cy="0"/>
          </a:xfrm>
          <a:prstGeom xmlns:a="http://schemas.openxmlformats.org/drawingml/2006/main" prst="straightConnector1">
            <a:avLst/>
          </a:prstGeom>
          <a:ln xmlns:a="http://schemas.openxmlformats.org/drawingml/2006/main" w="9525">
            <a:solidFill>
              <a:srgbClr val="D9531E"/>
            </a:solidFill>
            <a:tailEnd type="triangle" w="sm" len="sm"/>
          </a:ln>
        </p:spPr>
      </p:cxnSp>
      <p:cxnSp>
        <p:nvCxnSpPr>
          <p:cNvPr id="43" name="">
            <a:extLst xmlns:a="http://schemas.openxmlformats.org/drawingml/2006/main">
              <a:ext uri="{FF2B5EF4-FFF2-40B4-BE49-F238E27FC236}">
                <a16:creationId xmlns:a16="http://schemas.microsoft.com/office/drawing/2014/main" id="{521D5F3D-9F7E-4A3D-9B34-E81A887CE516}"/>
              </a:ext>
            </a:extLst>
          </p:cNvPr>
          <p:cNvCxnSpPr>
            <a:stCxn xmlns:a="http://schemas.openxmlformats.org/drawingml/2006/main" id="35" idx="0"/>
            <a:endCxn xmlns:a="http://schemas.openxmlformats.org/drawingml/2006/main" id="32" idx="2"/>
          </p:cNvCxnSpPr>
          <p:nvPr/>
        </p:nvCxnSpPr>
        <p:spPr>
          <a:xfrm xmlns:a="http://schemas.openxmlformats.org/drawingml/2006/main" flipV="1">
            <a:off x="1998000" y="5436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42" name="">
            <a:extLst xmlns:a="http://schemas.openxmlformats.org/drawingml/2006/main">
              <a:ext uri="{FF2B5EF4-FFF2-40B4-BE49-F238E27FC236}">
                <a16:creationId xmlns:a16="http://schemas.microsoft.com/office/drawing/2014/main" id="{E35B359B-9FF1-4E1A-AB3F-F3A9ECEEC683}"/>
              </a:ext>
            </a:extLst>
          </p:cNvPr>
          <p:cNvCxnSpPr>
            <a:stCxn xmlns:a="http://schemas.openxmlformats.org/drawingml/2006/main" id="20" idx="2"/>
            <a:endCxn xmlns:a="http://schemas.openxmlformats.org/drawingml/2006/main" id="23" idx="0"/>
          </p:cNvCxnSpPr>
          <p:nvPr/>
        </p:nvCxnSpPr>
        <p:spPr>
          <a:xfrm xmlns:a="http://schemas.openxmlformats.org/drawingml/2006/main">
            <a:off x="738000" y="5436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41" name="">
            <a:extLst xmlns:a="http://schemas.openxmlformats.org/drawingml/2006/main">
              <a:ext uri="{FF2B5EF4-FFF2-40B4-BE49-F238E27FC236}">
                <a16:creationId xmlns:a16="http://schemas.microsoft.com/office/drawing/2014/main" id="{512B14FF-3C0A-4DA7-9F55-1B32573606E0}"/>
              </a:ext>
            </a:extLst>
          </p:cNvPr>
          <p:cNvCxnSpPr>
            <a:stCxn xmlns:a="http://schemas.openxmlformats.org/drawingml/2006/main" id="32" idx="0"/>
            <a:endCxn xmlns:a="http://schemas.openxmlformats.org/drawingml/2006/main" id="29" idx="2"/>
          </p:cNvCxnSpPr>
          <p:nvPr/>
        </p:nvCxnSpPr>
        <p:spPr>
          <a:xfrm xmlns:a="http://schemas.openxmlformats.org/drawingml/2006/main" flipV="1">
            <a:off x="1998000" y="4932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40" name="">
            <a:extLst xmlns:a="http://schemas.openxmlformats.org/drawingml/2006/main">
              <a:ext uri="{FF2B5EF4-FFF2-40B4-BE49-F238E27FC236}">
                <a16:creationId xmlns:a16="http://schemas.microsoft.com/office/drawing/2014/main" id="{86D9F8E8-4848-4709-A61C-968E528D5406}"/>
              </a:ext>
            </a:extLst>
          </p:cNvPr>
          <p:cNvCxnSpPr>
            <a:stCxn xmlns:a="http://schemas.openxmlformats.org/drawingml/2006/main" id="17" idx="2"/>
            <a:endCxn xmlns:a="http://schemas.openxmlformats.org/drawingml/2006/main" id="20" idx="0"/>
          </p:cNvCxnSpPr>
          <p:nvPr/>
        </p:nvCxnSpPr>
        <p:spPr>
          <a:xfrm xmlns:a="http://schemas.openxmlformats.org/drawingml/2006/main">
            <a:off x="738000" y="4932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39" name="">
            <a:extLst xmlns:a="http://schemas.openxmlformats.org/drawingml/2006/main">
              <a:ext uri="{FF2B5EF4-FFF2-40B4-BE49-F238E27FC236}">
                <a16:creationId xmlns:a16="http://schemas.microsoft.com/office/drawing/2014/main" id="{81BA52A4-B739-4AF1-AB28-FB7D27E953E3}"/>
              </a:ext>
            </a:extLst>
          </p:cNvPr>
          <p:cNvCxnSpPr>
            <a:stCxn xmlns:a="http://schemas.openxmlformats.org/drawingml/2006/main" id="29" idx="0"/>
            <a:endCxn xmlns:a="http://schemas.openxmlformats.org/drawingml/2006/main" id="26" idx="2"/>
          </p:cNvCxnSpPr>
          <p:nvPr/>
        </p:nvCxnSpPr>
        <p:spPr>
          <a:xfrm xmlns:a="http://schemas.openxmlformats.org/drawingml/2006/main" flipV="1">
            <a:off x="1998000" y="4428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cxnSp>
        <p:nvCxnSpPr>
          <p:cNvPr id="38" name="">
            <a:extLst xmlns:a="http://schemas.openxmlformats.org/drawingml/2006/main">
              <a:ext uri="{FF2B5EF4-FFF2-40B4-BE49-F238E27FC236}">
                <a16:creationId xmlns:a16="http://schemas.microsoft.com/office/drawing/2014/main" id="{CBABBE2B-E9C9-4EF2-956B-1813C8A0B385}"/>
              </a:ext>
            </a:extLst>
          </p:cNvPr>
          <p:cNvCxnSpPr>
            <a:stCxn xmlns:a="http://schemas.openxmlformats.org/drawingml/2006/main" id="14" idx="2"/>
            <a:endCxn xmlns:a="http://schemas.openxmlformats.org/drawingml/2006/main" id="17" idx="0"/>
          </p:cNvCxnSpPr>
          <p:nvPr/>
        </p:nvCxnSpPr>
        <p:spPr>
          <a:xfrm xmlns:a="http://schemas.openxmlformats.org/drawingml/2006/main">
            <a:off x="738000" y="4428000"/>
            <a:ext cx="0" cy="108000"/>
          </a:xfrm>
          <a:prstGeom xmlns:a="http://schemas.openxmlformats.org/drawingml/2006/main" prst="straightConnector1">
            <a:avLst/>
          </a:prstGeom>
          <a:ln xmlns:a="http://schemas.openxmlformats.org/drawingml/2006/main" w="9525">
            <a:solidFill>
              <a:srgbClr val="0B4F8A"/>
            </a:solidFill>
            <a:tailEnd type="triangle" w="sm" len="sm"/>
          </a:ln>
        </p:spPr>
      </p:cxnSp>
      <p:sp>
        <p:nvSpPr>
          <p:cNvPr id="123" name="poster-title">
            <a:extLst xmlns:a="http://schemas.openxmlformats.org/drawingml/2006/main">
              <a:ext uri="{FF2B5EF4-FFF2-40B4-BE49-F238E27FC236}">
                <a16:creationId xmlns:a16="http://schemas.microsoft.com/office/drawing/2014/main" id="{C7E0F7CF-EE76-4F55-A8DD-42835E015804}"/>
              </a:ext>
            </a:extLst>
          </p:cNvPr>
          <p:cNvSpPr>
            <a:spLocks xmlns:a="http://schemas.openxmlformats.org/drawingml/2006/main" noGrp="1"/>
          </p:cNvSpPr>
          <p:nvPr/>
        </p:nvSpPr>
        <p:spPr>
          <a:xfrm xmlns:a="http://schemas.openxmlformats.org/drawingml/2006/main">
            <a:off x="216000" y="162000"/>
            <a:ext cx="7128000" cy="36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0B4F8A"/>
                </a:solidFill>
                <a:latin typeface="Calibri"/>
                <a:ea typeface="Calibri"/>
                <a:cs typeface="Calibri"/>
              </a:defRPr>
            </a:defPPr>
          </a:lstStyle>
          <a:p xmlns:a="http://schemas.openxmlformats.org/drawingml/2006/main">
            <a:pPr algn="l">
              <a:defRPr sz="2200" b="1">
                <a:solidFill>
                  <a:srgbClr val="0B4F8A"/>
                </a:solidFill>
                <a:latin typeface="Calibri"/>
                <a:ea typeface="Calibri"/>
                <a:cs typeface="Calibri"/>
              </a:defRPr>
            </a:pPr>
            <a:r>
              <a:rPr sz="2200" b="1">
                <a:solidFill>
                  <a:srgbClr val="0B4F8A"/>
                </a:solidFill>
                <a:latin typeface="Calibri"/>
                <a:ea typeface="Calibri"/>
                <a:cs typeface="Calibri"/>
              </a:rPr>
              <a:t>Real-Time DeepJSCC-Q on FPGA</a:t>
            </a:r>
          </a:p>
        </p:txBody>
      </p:sp>
      <p:sp>
        <p:nvSpPr>
          <p:cNvPr id="2" name="text-1">
            <a:extLst xmlns:a="http://schemas.openxmlformats.org/drawingml/2006/main">
              <a:ext uri="{FF2B5EF4-FFF2-40B4-BE49-F238E27FC236}">
                <a16:creationId xmlns:a16="http://schemas.microsoft.com/office/drawing/2014/main" id="{EFED3EAE-3548-4F3F-8864-84E9A2D72856}"/>
              </a:ext>
            </a:extLst>
          </p:cNvPr>
          <p:cNvSpPr>
            <a:spLocks xmlns:a="http://schemas.openxmlformats.org/drawingml/2006/main" noGrp="1"/>
          </p:cNvSpPr>
          <p:nvPr/>
        </p:nvSpPr>
        <p:spPr>
          <a:xfrm xmlns:a="http://schemas.openxmlformats.org/drawingml/2006/main">
            <a:off x="216000" y="540000"/>
            <a:ext cx="7128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00" b="0">
                <a:solidFill>
                  <a:srgbClr val="20303D"/>
                </a:solidFill>
                <a:latin typeface="Calibri"/>
                <a:ea typeface="Calibri"/>
                <a:cs typeface="Calibri"/>
              </a:defRPr>
            </a:defPPr>
          </a:lstStyle>
          <a:p xmlns:a="http://schemas.openxmlformats.org/drawingml/2006/main">
            <a:pPr algn="l">
              <a:defRPr sz="1100" b="0">
                <a:solidFill>
                  <a:srgbClr val="20303D"/>
                </a:solidFill>
                <a:latin typeface="Calibri"/>
                <a:ea typeface="Calibri"/>
                <a:cs typeface="Calibri"/>
              </a:defRPr>
            </a:pPr>
            <a:r>
              <a:rPr sz="1100" b="0">
                <a:solidFill>
                  <a:srgbClr val="20303D"/>
                </a:solidFill>
                <a:latin typeface="Calibri"/>
                <a:ea typeface="Calibri"/>
                <a:cs typeface="Calibri"/>
              </a:rPr>
              <a:t>Wireless image transmission on two Zynq boards</a:t>
            </a:r>
          </a:p>
        </p:txBody>
      </p:sp>
      <p:sp>
        <p:nvSpPr>
          <p:cNvPr id="3" name="text-2">
            <a:extLst xmlns:a="http://schemas.openxmlformats.org/drawingml/2006/main">
              <a:ext uri="{FF2B5EF4-FFF2-40B4-BE49-F238E27FC236}">
                <a16:creationId xmlns:a16="http://schemas.microsoft.com/office/drawing/2014/main" id="{1A005F7B-5C57-4943-AA59-3EBAA2E4DC5C}"/>
              </a:ext>
            </a:extLst>
          </p:cNvPr>
          <p:cNvSpPr>
            <a:spLocks xmlns:a="http://schemas.openxmlformats.org/drawingml/2006/main" noGrp="1"/>
          </p:cNvSpPr>
          <p:nvPr/>
        </p:nvSpPr>
        <p:spPr>
          <a:xfrm xmlns:a="http://schemas.openxmlformats.org/drawingml/2006/main">
            <a:off x="288000" y="828000"/>
            <a:ext cx="2160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0B4F8A"/>
                </a:solidFill>
                <a:latin typeface="Calibri"/>
                <a:ea typeface="Calibri"/>
                <a:cs typeface="Calibri"/>
              </a:defRPr>
            </a:defPPr>
          </a:lstStyle>
          <a:p xmlns:a="http://schemas.openxmlformats.org/drawingml/2006/main">
            <a:pPr algn="l">
              <a:defRPr sz="2000" b="1">
                <a:solidFill>
                  <a:srgbClr val="0B4F8A"/>
                </a:solidFill>
                <a:latin typeface="Calibri"/>
                <a:ea typeface="Calibri"/>
                <a:cs typeface="Calibri"/>
              </a:defRPr>
            </a:pPr>
            <a:r>
              <a:rPr sz="2000" b="1">
                <a:solidFill>
                  <a:srgbClr val="0B4F8A"/>
                </a:solidFill>
                <a:latin typeface="Calibri"/>
                <a:ea typeface="Calibri"/>
                <a:cs typeface="Calibri"/>
              </a:rPr>
              <a:t>30 fps</a:t>
            </a:r>
          </a:p>
        </p:txBody>
      </p:sp>
      <p:sp>
        <p:nvSpPr>
          <p:cNvPr id="4" name="text-3">
            <a:extLst xmlns:a="http://schemas.openxmlformats.org/drawingml/2006/main">
              <a:ext uri="{FF2B5EF4-FFF2-40B4-BE49-F238E27FC236}">
                <a16:creationId xmlns:a16="http://schemas.microsoft.com/office/drawing/2014/main" id="{75EF8DE6-180F-4DD2-B37E-C216C3BFFB8F}"/>
              </a:ext>
            </a:extLst>
          </p:cNvPr>
          <p:cNvSpPr>
            <a:spLocks xmlns:a="http://schemas.openxmlformats.org/drawingml/2006/main" noGrp="1"/>
          </p:cNvSpPr>
          <p:nvPr/>
        </p:nvSpPr>
        <p:spPr>
          <a:xfrm xmlns:a="http://schemas.openxmlformats.org/drawingml/2006/main">
            <a:off x="288000" y="1159200"/>
            <a:ext cx="21600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465B6A"/>
                </a:solidFill>
                <a:latin typeface="Calibri"/>
                <a:ea typeface="Calibri"/>
                <a:cs typeface="Calibri"/>
              </a:defRPr>
            </a:defPPr>
          </a:lstStyle>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256 × 256 RGB</a:t>
            </a:r>
          </a:p>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18,020 frames in 600 s</a:t>
            </a:r>
          </a:p>
        </p:txBody>
      </p:sp>
      <p:sp>
        <p:nvSpPr>
          <p:cNvPr id="5" name="text-4">
            <a:extLst xmlns:a="http://schemas.openxmlformats.org/drawingml/2006/main">
              <a:ext uri="{FF2B5EF4-FFF2-40B4-BE49-F238E27FC236}">
                <a16:creationId xmlns:a16="http://schemas.microsoft.com/office/drawing/2014/main" id="{A0ED0950-DCA4-4CC4-ABC2-B36C0DAF07AD}"/>
              </a:ext>
            </a:extLst>
          </p:cNvPr>
          <p:cNvSpPr>
            <a:spLocks xmlns:a="http://schemas.openxmlformats.org/drawingml/2006/main" noGrp="1"/>
          </p:cNvSpPr>
          <p:nvPr/>
        </p:nvSpPr>
        <p:spPr>
          <a:xfrm xmlns:a="http://schemas.openxmlformats.org/drawingml/2006/main">
            <a:off x="2700000" y="828000"/>
            <a:ext cx="2160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0B4F8A"/>
                </a:solidFill>
                <a:latin typeface="Calibri"/>
                <a:ea typeface="Calibri"/>
                <a:cs typeface="Calibri"/>
              </a:defRPr>
            </a:defPPr>
          </a:lstStyle>
          <a:p xmlns:a="http://schemas.openxmlformats.org/drawingml/2006/main">
            <a:pPr algn="l">
              <a:defRPr sz="2000" b="1">
                <a:solidFill>
                  <a:srgbClr val="0B4F8A"/>
                </a:solidFill>
                <a:latin typeface="Calibri"/>
                <a:ea typeface="Calibri"/>
                <a:cs typeface="Calibri"/>
              </a:defRPr>
            </a:pPr>
            <a:r>
              <a:rPr sz="2000" b="1">
                <a:solidFill>
                  <a:srgbClr val="0B4F8A"/>
                </a:solidFill>
                <a:latin typeface="Calibri"/>
                <a:ea typeface="Calibri"/>
                <a:cs typeface="Calibri"/>
              </a:rPr>
              <a:t>67.5 ms</a:t>
            </a:r>
          </a:p>
        </p:txBody>
      </p:sp>
      <p:sp>
        <p:nvSpPr>
          <p:cNvPr id="6" name="text-5">
            <a:extLst xmlns:a="http://schemas.openxmlformats.org/drawingml/2006/main">
              <a:ext uri="{FF2B5EF4-FFF2-40B4-BE49-F238E27FC236}">
                <a16:creationId xmlns:a16="http://schemas.microsoft.com/office/drawing/2014/main" id="{B424D5A7-E513-4C7F-B324-0DD11EEA05B5}"/>
              </a:ext>
            </a:extLst>
          </p:cNvPr>
          <p:cNvSpPr>
            <a:spLocks xmlns:a="http://schemas.openxmlformats.org/drawingml/2006/main" noGrp="1"/>
          </p:cNvSpPr>
          <p:nvPr/>
        </p:nvSpPr>
        <p:spPr>
          <a:xfrm xmlns:a="http://schemas.openxmlformats.org/drawingml/2006/main">
            <a:off x="2700000" y="1159200"/>
            <a:ext cx="21600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465B6A"/>
                </a:solidFill>
                <a:latin typeface="Calibri"/>
                <a:ea typeface="Calibri"/>
                <a:cs typeface="Calibri"/>
              </a:defRPr>
            </a:defPPr>
          </a:lstStyle>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PL frame latency</a:t>
            </a:r>
          </a:p>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Frames overlap in the pipeline</a:t>
            </a:r>
          </a:p>
        </p:txBody>
      </p:sp>
      <p:sp>
        <p:nvSpPr>
          <p:cNvPr id="7" name="text-6">
            <a:extLst xmlns:a="http://schemas.openxmlformats.org/drawingml/2006/main">
              <a:ext uri="{FF2B5EF4-FFF2-40B4-BE49-F238E27FC236}">
                <a16:creationId xmlns:a16="http://schemas.microsoft.com/office/drawing/2014/main" id="{6DCCDA64-FCCF-49B1-A0D1-5FF307C85900}"/>
              </a:ext>
            </a:extLst>
          </p:cNvPr>
          <p:cNvSpPr>
            <a:spLocks xmlns:a="http://schemas.openxmlformats.org/drawingml/2006/main" noGrp="1"/>
          </p:cNvSpPr>
          <p:nvPr/>
        </p:nvSpPr>
        <p:spPr>
          <a:xfrm xmlns:a="http://schemas.openxmlformats.org/drawingml/2006/main">
            <a:off x="5112000" y="828000"/>
            <a:ext cx="2160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1">
                <a:solidFill>
                  <a:srgbClr val="0B4F8A"/>
                </a:solidFill>
                <a:latin typeface="Calibri"/>
                <a:ea typeface="Calibri"/>
                <a:cs typeface="Calibri"/>
              </a:defRPr>
            </a:defPPr>
          </a:lstStyle>
          <a:p xmlns:a="http://schemas.openxmlformats.org/drawingml/2006/main">
            <a:pPr algn="l">
              <a:defRPr sz="2000" b="1">
                <a:solidFill>
                  <a:srgbClr val="0B4F8A"/>
                </a:solidFill>
                <a:latin typeface="Calibri"/>
                <a:ea typeface="Calibri"/>
                <a:cs typeface="Calibri"/>
              </a:defRPr>
            </a:pPr>
            <a:r>
              <a:rPr sz="2000" b="1">
                <a:solidFill>
                  <a:srgbClr val="0B4F8A"/>
                </a:solidFill>
                <a:latin typeface="Calibri"/>
                <a:ea typeface="Calibri"/>
                <a:cs typeface="Calibri"/>
              </a:rPr>
              <a:t>+2.8 dB</a:t>
            </a:r>
          </a:p>
        </p:txBody>
      </p:sp>
      <p:sp>
        <p:nvSpPr>
          <p:cNvPr id="8" name="text-7">
            <a:extLst xmlns:a="http://schemas.openxmlformats.org/drawingml/2006/main">
              <a:ext uri="{FF2B5EF4-FFF2-40B4-BE49-F238E27FC236}">
                <a16:creationId xmlns:a16="http://schemas.microsoft.com/office/drawing/2014/main" id="{ABD55AE7-D67B-4FB1-A28E-C1630804A07A}"/>
              </a:ext>
            </a:extLst>
          </p:cNvPr>
          <p:cNvSpPr>
            <a:spLocks xmlns:a="http://schemas.openxmlformats.org/drawingml/2006/main" noGrp="1"/>
          </p:cNvSpPr>
          <p:nvPr/>
        </p:nvSpPr>
        <p:spPr>
          <a:xfrm xmlns:a="http://schemas.openxmlformats.org/drawingml/2006/main">
            <a:off x="5112000" y="1159200"/>
            <a:ext cx="21600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465B6A"/>
                </a:solidFill>
                <a:latin typeface="Calibri"/>
                <a:ea typeface="Calibri"/>
                <a:cs typeface="Calibri"/>
              </a:defRPr>
            </a:defPPr>
          </a:lstStyle>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High-SNR PSNR gain over SSCC</a:t>
            </a:r>
          </a:p>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DIV2K 0802; equal symbol budget</a:t>
            </a:r>
          </a:p>
        </p:txBody>
      </p:sp>
      <p:sp>
        <p:nvSpPr>
          <p:cNvPr id="9" name="text-8">
            <a:extLst xmlns:a="http://schemas.openxmlformats.org/drawingml/2006/main">
              <a:ext uri="{FF2B5EF4-FFF2-40B4-BE49-F238E27FC236}">
                <a16:creationId xmlns:a16="http://schemas.microsoft.com/office/drawing/2014/main" id="{81D136C8-2C52-4011-9493-49E97C7C0930}"/>
              </a:ext>
            </a:extLst>
          </p:cNvPr>
          <p:cNvSpPr>
            <a:spLocks xmlns:a="http://schemas.openxmlformats.org/drawingml/2006/main" noGrp="1"/>
          </p:cNvSpPr>
          <p:nvPr/>
        </p:nvSpPr>
        <p:spPr>
          <a:xfrm xmlns:a="http://schemas.openxmlformats.org/drawingml/2006/main">
            <a:off x="288000" y="1656000"/>
            <a:ext cx="2160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B4F8A"/>
                </a:solidFill>
                <a:latin typeface="Calibri"/>
                <a:ea typeface="Calibri"/>
                <a:cs typeface="Calibri"/>
              </a:defRPr>
            </a:defPPr>
          </a:lstStyle>
          <a:p xmlns:a="http://schemas.openxmlformats.org/drawingml/2006/main">
            <a:pPr algn="l">
              <a:defRPr sz="1200" b="1">
                <a:solidFill>
                  <a:srgbClr val="0B4F8A"/>
                </a:solidFill>
                <a:latin typeface="Calibri"/>
                <a:ea typeface="Calibri"/>
                <a:cs typeface="Calibri"/>
              </a:defRPr>
            </a:pPr>
            <a:r>
              <a:rPr sz="1200" b="1">
                <a:solidFill>
                  <a:srgbClr val="0B4F8A"/>
                </a:solidFill>
                <a:latin typeface="Calibri"/>
                <a:ea typeface="Calibri"/>
                <a:cs typeface="Calibri"/>
              </a:rPr>
              <a:t>Two-board wireless link</a:t>
            </a:r>
          </a:p>
        </p:txBody>
      </p:sp>
      <p:pic>
        <p:nvPicPr>
          <p:cNvPr id="10" name="">
            <a:extLst xmlns:a="http://schemas.openxmlformats.org/drawingml/2006/main">
              <a:ext uri="{FF2B5EF4-FFF2-40B4-BE49-F238E27FC236}">
                <a16:creationId xmlns:a16="http://schemas.microsoft.com/office/drawing/2014/main" id="{8C39D197-869D-4AEA-A3D4-500FC35DEC59}"/>
              </a:ext>
            </a:extLst>
          </p:cNvPr>
          <p:cNvPicPr>
            <a:picLocks xmlns:a="http://schemas.openxmlformats.org/drawingml/2006/main" noChangeAspect="1"/>
          </p:cNvPicPr>
          <p:nvPr/>
        </p:nvPicPr>
        <p:blipFill>
          <a:blip xmlns:r="http://schemas.openxmlformats.org/officeDocument/2006/relationships" xmlns:a="http://schemas.openxmlformats.org/drawingml/2006/main" r:embed="Rcff13fd1cd914d80"/>
          <a:srcRect xmlns:a="http://schemas.openxmlformats.org/drawingml/2006/main"/>
          <a:stretch xmlns:a="http://schemas.openxmlformats.org/drawingml/2006/main"/>
        </p:blipFill>
        <p:spPr>
          <a:xfrm xmlns:a="http://schemas.openxmlformats.org/drawingml/2006/main">
            <a:off x="288000" y="1966140"/>
            <a:ext cx="2160000" cy="1273320"/>
          </a:xfrm>
          <a:prstGeom xmlns:a="http://schemas.openxmlformats.org/drawingml/2006/main" prst="rect">
            <a:avLst/>
          </a:prstGeom>
        </p:spPr>
      </p:pic>
      <p:sp>
        <p:nvSpPr>
          <p:cNvPr id="11" name="text-9">
            <a:extLst xmlns:a="http://schemas.openxmlformats.org/drawingml/2006/main">
              <a:ext uri="{FF2B5EF4-FFF2-40B4-BE49-F238E27FC236}">
                <a16:creationId xmlns:a16="http://schemas.microsoft.com/office/drawing/2014/main" id="{3D9600D0-EF9D-4D60-B3B8-9D71E054CD87}"/>
              </a:ext>
            </a:extLst>
          </p:cNvPr>
          <p:cNvSpPr>
            <a:spLocks xmlns:a="http://schemas.openxmlformats.org/drawingml/2006/main" noGrp="1"/>
          </p:cNvSpPr>
          <p:nvPr/>
        </p:nvSpPr>
        <p:spPr>
          <a:xfrm xmlns:a="http://schemas.openxmlformats.org/drawingml/2006/main">
            <a:off x="288000" y="3330000"/>
            <a:ext cx="2160000" cy="36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465B6A"/>
                </a:solidFill>
                <a:latin typeface="Calibri"/>
                <a:ea typeface="Calibri"/>
                <a:cs typeface="Calibri"/>
              </a:defRPr>
            </a:defPPr>
          </a:lstStyle>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RX (left), TX (right).</a:t>
            </a:r>
          </a:p>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2 × PYNQ-ZU + 2 × AD-FMCOMMS3.</a:t>
            </a:r>
          </a:p>
        </p:txBody>
      </p:sp>
      <p:sp>
        <p:nvSpPr>
          <p:cNvPr id="12" name="text-10">
            <a:extLst xmlns:a="http://schemas.openxmlformats.org/drawingml/2006/main">
              <a:ext uri="{FF2B5EF4-FFF2-40B4-BE49-F238E27FC236}">
                <a16:creationId xmlns:a16="http://schemas.microsoft.com/office/drawing/2014/main" id="{D541E6D2-00A7-412B-8A02-1FF27664558F}"/>
              </a:ext>
            </a:extLst>
          </p:cNvPr>
          <p:cNvSpPr>
            <a:spLocks xmlns:a="http://schemas.openxmlformats.org/drawingml/2006/main" noGrp="1"/>
          </p:cNvSpPr>
          <p:nvPr/>
        </p:nvSpPr>
        <p:spPr>
          <a:xfrm xmlns:a="http://schemas.openxmlformats.org/drawingml/2006/main">
            <a:off x="288000" y="3780000"/>
            <a:ext cx="900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1">
                <a:solidFill>
                  <a:srgbClr val="0B4F8A"/>
                </a:solidFill>
                <a:latin typeface="Calibri"/>
                <a:ea typeface="Calibri"/>
                <a:cs typeface="Calibri"/>
              </a:defRPr>
            </a:defPPr>
          </a:lstStyle>
          <a:p xmlns:a="http://schemas.openxmlformats.org/drawingml/2006/main">
            <a:pPr algn="ctr">
              <a:defRPr sz="1000" b="1">
                <a:solidFill>
                  <a:srgbClr val="0B4F8A"/>
                </a:solidFill>
                <a:latin typeface="Calibri"/>
                <a:ea typeface="Calibri"/>
                <a:cs typeface="Calibri"/>
              </a:defRPr>
            </a:pPr>
            <a:r>
              <a:rPr sz="1000" b="1">
                <a:solidFill>
                  <a:srgbClr val="0B4F8A"/>
                </a:solidFill>
                <a:latin typeface="Calibri"/>
                <a:ea typeface="Calibri"/>
                <a:cs typeface="Calibri"/>
              </a:rPr>
              <a:t>TX board</a:t>
            </a:r>
          </a:p>
        </p:txBody>
      </p:sp>
      <p:sp>
        <p:nvSpPr>
          <p:cNvPr id="13" name="text-11">
            <a:extLst xmlns:a="http://schemas.openxmlformats.org/drawingml/2006/main">
              <a:ext uri="{FF2B5EF4-FFF2-40B4-BE49-F238E27FC236}">
                <a16:creationId xmlns:a16="http://schemas.microsoft.com/office/drawing/2014/main" id="{D45F7A97-E3E8-40FA-B1D5-815150A9AE4A}"/>
              </a:ext>
            </a:extLst>
          </p:cNvPr>
          <p:cNvSpPr>
            <a:spLocks xmlns:a="http://schemas.openxmlformats.org/drawingml/2006/main" noGrp="1"/>
          </p:cNvSpPr>
          <p:nvPr/>
        </p:nvSpPr>
        <p:spPr>
          <a:xfrm xmlns:a="http://schemas.openxmlformats.org/drawingml/2006/main">
            <a:off x="1548000" y="3780000"/>
            <a:ext cx="900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1">
                <a:solidFill>
                  <a:srgbClr val="0B4F8A"/>
                </a:solidFill>
                <a:latin typeface="Calibri"/>
                <a:ea typeface="Calibri"/>
                <a:cs typeface="Calibri"/>
              </a:defRPr>
            </a:defPPr>
          </a:lstStyle>
          <a:p xmlns:a="http://schemas.openxmlformats.org/drawingml/2006/main">
            <a:pPr algn="ctr">
              <a:defRPr sz="1000" b="1">
                <a:solidFill>
                  <a:srgbClr val="0B4F8A"/>
                </a:solidFill>
                <a:latin typeface="Calibri"/>
                <a:ea typeface="Calibri"/>
                <a:cs typeface="Calibri"/>
              </a:defRPr>
            </a:pPr>
            <a:r>
              <a:rPr sz="1000" b="1">
                <a:solidFill>
                  <a:srgbClr val="0B4F8A"/>
                </a:solidFill>
                <a:latin typeface="Calibri"/>
                <a:ea typeface="Calibri"/>
                <a:cs typeface="Calibri"/>
              </a:rPr>
              <a:t>RX board</a:t>
            </a:r>
          </a:p>
        </p:txBody>
      </p:sp>
      <p:sp>
        <p:nvSpPr>
          <p:cNvPr id="14" name="module: Camera/video">
            <a:extLst xmlns:a="http://schemas.openxmlformats.org/drawingml/2006/main">
              <a:ext uri="{FF2B5EF4-FFF2-40B4-BE49-F238E27FC236}">
                <a16:creationId xmlns:a16="http://schemas.microsoft.com/office/drawing/2014/main" id="{3AD723B3-39DB-4E7B-9211-C434896DD7FD}"/>
              </a:ext>
            </a:extLst>
          </p:cNvPr>
          <p:cNvSpPr>
            <a:spLocks xmlns:a="http://schemas.openxmlformats.org/drawingml/2006/main" noGrp="1"/>
          </p:cNvSpPr>
          <p:nvPr/>
        </p:nvSpPr>
        <p:spPr>
          <a:xfrm xmlns:a="http://schemas.openxmlformats.org/drawingml/2006/main">
            <a:off x="288000" y="4032000"/>
            <a:ext cx="900000" cy="396000"/>
          </a:xfrm>
          <a:prstGeom xmlns:a="http://schemas.openxmlformats.org/drawingml/2006/main" prst="rect">
            <a:avLst/>
          </a:prstGeom>
          <a:solidFill xmlns:a="http://schemas.openxmlformats.org/drawingml/2006/main">
            <a:srgbClr val="EAF1DE"/>
          </a:solidFill>
          <a:ln xmlns:a="http://schemas.openxmlformats.org/drawingml/2006/main" w="5715">
            <a:solidFill>
              <a:srgbClr val="0B4F8A"/>
            </a:solidFill>
          </a:ln>
        </p:spPr>
        <p:txBody xmlns:a="http://schemas.openxmlformats.org/drawingml/2006/main">
          <a:bodyPr/>
          <a:p/>
        </p:txBody>
      </p:sp>
      <p:sp>
        <p:nvSpPr>
          <p:cNvPr id="15" name="text-12">
            <a:extLst xmlns:a="http://schemas.openxmlformats.org/drawingml/2006/main">
              <a:ext uri="{FF2B5EF4-FFF2-40B4-BE49-F238E27FC236}">
                <a16:creationId xmlns:a16="http://schemas.microsoft.com/office/drawing/2014/main" id="{6E9DD18D-0231-4D29-9748-23CD3430B7F7}"/>
              </a:ext>
            </a:extLst>
          </p:cNvPr>
          <p:cNvSpPr>
            <a:spLocks xmlns:a="http://schemas.openxmlformats.org/drawingml/2006/main" noGrp="1"/>
          </p:cNvSpPr>
          <p:nvPr/>
        </p:nvSpPr>
        <p:spPr>
          <a:xfrm xmlns:a="http://schemas.openxmlformats.org/drawingml/2006/main">
            <a:off x="309600" y="4071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Camera/video</a:t>
            </a:r>
          </a:p>
        </p:txBody>
      </p:sp>
      <p:sp>
        <p:nvSpPr>
          <p:cNvPr id="16" name="text-13">
            <a:extLst xmlns:a="http://schemas.openxmlformats.org/drawingml/2006/main">
              <a:ext uri="{FF2B5EF4-FFF2-40B4-BE49-F238E27FC236}">
                <a16:creationId xmlns:a16="http://schemas.microsoft.com/office/drawing/2014/main" id="{C52F42CD-0A3B-45C1-B8A8-6832CF027811}"/>
              </a:ext>
            </a:extLst>
          </p:cNvPr>
          <p:cNvSpPr>
            <a:spLocks xmlns:a="http://schemas.openxmlformats.org/drawingml/2006/main" noGrp="1"/>
          </p:cNvSpPr>
          <p:nvPr/>
        </p:nvSpPr>
        <p:spPr>
          <a:xfrm xmlns:a="http://schemas.openxmlformats.org/drawingml/2006/main">
            <a:off x="306000" y="4240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RGB input</a:t>
            </a:r>
          </a:p>
        </p:txBody>
      </p:sp>
      <p:sp>
        <p:nvSpPr>
          <p:cNvPr id="17" name="module: CNN encoder">
            <a:extLst xmlns:a="http://schemas.openxmlformats.org/drawingml/2006/main">
              <a:ext uri="{FF2B5EF4-FFF2-40B4-BE49-F238E27FC236}">
                <a16:creationId xmlns:a16="http://schemas.microsoft.com/office/drawing/2014/main" id="{ABE9F1FE-9C28-49EF-AA87-CCA811369FBE}"/>
              </a:ext>
            </a:extLst>
          </p:cNvPr>
          <p:cNvSpPr>
            <a:spLocks xmlns:a="http://schemas.openxmlformats.org/drawingml/2006/main" noGrp="1"/>
          </p:cNvSpPr>
          <p:nvPr/>
        </p:nvSpPr>
        <p:spPr>
          <a:xfrm xmlns:a="http://schemas.openxmlformats.org/drawingml/2006/main">
            <a:off x="288000" y="4536000"/>
            <a:ext cx="900000" cy="396000"/>
          </a:xfrm>
          <a:prstGeom xmlns:a="http://schemas.openxmlformats.org/drawingml/2006/main" prst="rect">
            <a:avLst/>
          </a:prstGeom>
          <a:solidFill xmlns:a="http://schemas.openxmlformats.org/drawingml/2006/main">
            <a:srgbClr val="FFF3CC"/>
          </a:solidFill>
          <a:ln xmlns:a="http://schemas.openxmlformats.org/drawingml/2006/main" w="5715">
            <a:solidFill>
              <a:srgbClr val="0B4F8A"/>
            </a:solidFill>
          </a:ln>
        </p:spPr>
        <p:txBody xmlns:a="http://schemas.openxmlformats.org/drawingml/2006/main">
          <a:bodyPr/>
          <a:p/>
        </p:txBody>
      </p:sp>
      <p:sp>
        <p:nvSpPr>
          <p:cNvPr id="18" name="text-14">
            <a:extLst xmlns:a="http://schemas.openxmlformats.org/drawingml/2006/main">
              <a:ext uri="{FF2B5EF4-FFF2-40B4-BE49-F238E27FC236}">
                <a16:creationId xmlns:a16="http://schemas.microsoft.com/office/drawing/2014/main" id="{D821EC6B-6285-49CB-BF27-57178401E4B5}"/>
              </a:ext>
            </a:extLst>
          </p:cNvPr>
          <p:cNvSpPr>
            <a:spLocks xmlns:a="http://schemas.openxmlformats.org/drawingml/2006/main" noGrp="1"/>
          </p:cNvSpPr>
          <p:nvPr/>
        </p:nvSpPr>
        <p:spPr>
          <a:xfrm xmlns:a="http://schemas.openxmlformats.org/drawingml/2006/main">
            <a:off x="309600" y="4575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CNN encoder</a:t>
            </a:r>
          </a:p>
        </p:txBody>
      </p:sp>
      <p:sp>
        <p:nvSpPr>
          <p:cNvPr id="19" name="text-15">
            <a:extLst xmlns:a="http://schemas.openxmlformats.org/drawingml/2006/main">
              <a:ext uri="{FF2B5EF4-FFF2-40B4-BE49-F238E27FC236}">
                <a16:creationId xmlns:a16="http://schemas.microsoft.com/office/drawing/2014/main" id="{2867828B-1410-4208-AFEA-7F232B8D5BCA}"/>
              </a:ext>
            </a:extLst>
          </p:cNvPr>
          <p:cNvSpPr>
            <a:spLocks xmlns:a="http://schemas.openxmlformats.org/drawingml/2006/main" noGrp="1"/>
          </p:cNvSpPr>
          <p:nvPr/>
        </p:nvSpPr>
        <p:spPr>
          <a:xfrm xmlns:a="http://schemas.openxmlformats.org/drawingml/2006/main">
            <a:off x="306000" y="4744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64-QAM symbols</a:t>
            </a:r>
          </a:p>
        </p:txBody>
      </p:sp>
      <p:sp>
        <p:nvSpPr>
          <p:cNvPr id="20" name="module: OFDM TX">
            <a:extLst xmlns:a="http://schemas.openxmlformats.org/drawingml/2006/main">
              <a:ext uri="{FF2B5EF4-FFF2-40B4-BE49-F238E27FC236}">
                <a16:creationId xmlns:a16="http://schemas.microsoft.com/office/drawing/2014/main" id="{5B01AECD-7431-470D-A482-81BF43A00C67}"/>
              </a:ext>
            </a:extLst>
          </p:cNvPr>
          <p:cNvSpPr>
            <a:spLocks xmlns:a="http://schemas.openxmlformats.org/drawingml/2006/main" noGrp="1"/>
          </p:cNvSpPr>
          <p:nvPr/>
        </p:nvSpPr>
        <p:spPr>
          <a:xfrm xmlns:a="http://schemas.openxmlformats.org/drawingml/2006/main">
            <a:off x="288000" y="5040000"/>
            <a:ext cx="900000" cy="396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txBody xmlns:a="http://schemas.openxmlformats.org/drawingml/2006/main">
          <a:bodyPr/>
          <a:p/>
        </p:txBody>
      </p:sp>
      <p:sp>
        <p:nvSpPr>
          <p:cNvPr id="21" name="text-16">
            <a:extLst xmlns:a="http://schemas.openxmlformats.org/drawingml/2006/main">
              <a:ext uri="{FF2B5EF4-FFF2-40B4-BE49-F238E27FC236}">
                <a16:creationId xmlns:a16="http://schemas.microsoft.com/office/drawing/2014/main" id="{970E7C46-3E32-4BC6-96BE-B2004F011170}"/>
              </a:ext>
            </a:extLst>
          </p:cNvPr>
          <p:cNvSpPr>
            <a:spLocks xmlns:a="http://schemas.openxmlformats.org/drawingml/2006/main" noGrp="1"/>
          </p:cNvSpPr>
          <p:nvPr/>
        </p:nvSpPr>
        <p:spPr>
          <a:xfrm xmlns:a="http://schemas.openxmlformats.org/drawingml/2006/main">
            <a:off x="309600" y="5079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OFDM TX</a:t>
            </a:r>
          </a:p>
        </p:txBody>
      </p:sp>
      <p:sp>
        <p:nvSpPr>
          <p:cNvPr id="22" name="text-17">
            <a:extLst xmlns:a="http://schemas.openxmlformats.org/drawingml/2006/main">
              <a:ext uri="{FF2B5EF4-FFF2-40B4-BE49-F238E27FC236}">
                <a16:creationId xmlns:a16="http://schemas.microsoft.com/office/drawing/2014/main" id="{8A55A6F3-5AD5-4732-9FA6-AECA1E1D7DED}"/>
              </a:ext>
            </a:extLst>
          </p:cNvPr>
          <p:cNvSpPr>
            <a:spLocks xmlns:a="http://schemas.openxmlformats.org/drawingml/2006/main" noGrp="1"/>
          </p:cNvSpPr>
          <p:nvPr/>
        </p:nvSpPr>
        <p:spPr>
          <a:xfrm xmlns:a="http://schemas.openxmlformats.org/drawingml/2006/main">
            <a:off x="306000" y="5248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Buffer + IFFT</a:t>
            </a:r>
          </a:p>
        </p:txBody>
      </p:sp>
      <p:sp>
        <p:nvSpPr>
          <p:cNvPr id="23" name="module: AD9361">
            <a:extLst xmlns:a="http://schemas.openxmlformats.org/drawingml/2006/main">
              <a:ext uri="{FF2B5EF4-FFF2-40B4-BE49-F238E27FC236}">
                <a16:creationId xmlns:a16="http://schemas.microsoft.com/office/drawing/2014/main" id="{9FCF0F1D-E62D-4479-9086-E475ACDC55C8}"/>
              </a:ext>
            </a:extLst>
          </p:cNvPr>
          <p:cNvSpPr>
            <a:spLocks xmlns:a="http://schemas.openxmlformats.org/drawingml/2006/main" noGrp="1"/>
          </p:cNvSpPr>
          <p:nvPr/>
        </p:nvSpPr>
        <p:spPr>
          <a:xfrm xmlns:a="http://schemas.openxmlformats.org/drawingml/2006/main">
            <a:off x="288000" y="5544000"/>
            <a:ext cx="900000" cy="396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txBody xmlns:a="http://schemas.openxmlformats.org/drawingml/2006/main">
          <a:bodyPr/>
          <a:p/>
        </p:txBody>
      </p:sp>
      <p:sp>
        <p:nvSpPr>
          <p:cNvPr id="24" name="text-18">
            <a:extLst xmlns:a="http://schemas.openxmlformats.org/drawingml/2006/main">
              <a:ext uri="{FF2B5EF4-FFF2-40B4-BE49-F238E27FC236}">
                <a16:creationId xmlns:a16="http://schemas.microsoft.com/office/drawing/2014/main" id="{43B409FB-081B-4D0C-A795-5906AFFD0170}"/>
              </a:ext>
            </a:extLst>
          </p:cNvPr>
          <p:cNvSpPr>
            <a:spLocks xmlns:a="http://schemas.openxmlformats.org/drawingml/2006/main" noGrp="1"/>
          </p:cNvSpPr>
          <p:nvPr/>
        </p:nvSpPr>
        <p:spPr>
          <a:xfrm xmlns:a="http://schemas.openxmlformats.org/drawingml/2006/main">
            <a:off x="309600" y="5583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AD9361</a:t>
            </a:r>
          </a:p>
        </p:txBody>
      </p:sp>
      <p:sp>
        <p:nvSpPr>
          <p:cNvPr id="25" name="text-19">
            <a:extLst xmlns:a="http://schemas.openxmlformats.org/drawingml/2006/main">
              <a:ext uri="{FF2B5EF4-FFF2-40B4-BE49-F238E27FC236}">
                <a16:creationId xmlns:a16="http://schemas.microsoft.com/office/drawing/2014/main" id="{E79A355F-2C90-40EF-9026-EC135A5BFBFC}"/>
              </a:ext>
            </a:extLst>
          </p:cNvPr>
          <p:cNvSpPr>
            <a:spLocks xmlns:a="http://schemas.openxmlformats.org/drawingml/2006/main" noGrp="1"/>
          </p:cNvSpPr>
          <p:nvPr/>
        </p:nvSpPr>
        <p:spPr>
          <a:xfrm xmlns:a="http://schemas.openxmlformats.org/drawingml/2006/main">
            <a:off x="306000" y="5752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915 MHz</a:t>
            </a:r>
          </a:p>
        </p:txBody>
      </p:sp>
      <p:sp>
        <p:nvSpPr>
          <p:cNvPr id="26" name="module: Touch screen">
            <a:extLst xmlns:a="http://schemas.openxmlformats.org/drawingml/2006/main">
              <a:ext uri="{FF2B5EF4-FFF2-40B4-BE49-F238E27FC236}">
                <a16:creationId xmlns:a16="http://schemas.microsoft.com/office/drawing/2014/main" id="{B5781FB6-53E0-4771-AE9F-E64F09A63749}"/>
              </a:ext>
            </a:extLst>
          </p:cNvPr>
          <p:cNvSpPr>
            <a:spLocks xmlns:a="http://schemas.openxmlformats.org/drawingml/2006/main" noGrp="1"/>
          </p:cNvSpPr>
          <p:nvPr/>
        </p:nvSpPr>
        <p:spPr>
          <a:xfrm xmlns:a="http://schemas.openxmlformats.org/drawingml/2006/main">
            <a:off x="1548000" y="4032000"/>
            <a:ext cx="900000" cy="396000"/>
          </a:xfrm>
          <a:prstGeom xmlns:a="http://schemas.openxmlformats.org/drawingml/2006/main" prst="rect">
            <a:avLst/>
          </a:prstGeom>
          <a:solidFill xmlns:a="http://schemas.openxmlformats.org/drawingml/2006/main">
            <a:srgbClr val="EAF1DE"/>
          </a:solidFill>
          <a:ln xmlns:a="http://schemas.openxmlformats.org/drawingml/2006/main" w="5715">
            <a:solidFill>
              <a:srgbClr val="0B4F8A"/>
            </a:solidFill>
          </a:ln>
        </p:spPr>
        <p:txBody xmlns:a="http://schemas.openxmlformats.org/drawingml/2006/main">
          <a:bodyPr/>
          <a:p/>
        </p:txBody>
      </p:sp>
      <p:sp>
        <p:nvSpPr>
          <p:cNvPr id="27" name="text-20">
            <a:extLst xmlns:a="http://schemas.openxmlformats.org/drawingml/2006/main">
              <a:ext uri="{FF2B5EF4-FFF2-40B4-BE49-F238E27FC236}">
                <a16:creationId xmlns:a16="http://schemas.microsoft.com/office/drawing/2014/main" id="{C2898640-9241-4FDE-8E70-80D05D119C8B}"/>
              </a:ext>
            </a:extLst>
          </p:cNvPr>
          <p:cNvSpPr>
            <a:spLocks xmlns:a="http://schemas.openxmlformats.org/drawingml/2006/main" noGrp="1"/>
          </p:cNvSpPr>
          <p:nvPr/>
        </p:nvSpPr>
        <p:spPr>
          <a:xfrm xmlns:a="http://schemas.openxmlformats.org/drawingml/2006/main">
            <a:off x="1569600" y="4071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Touch screen</a:t>
            </a:r>
          </a:p>
        </p:txBody>
      </p:sp>
      <p:sp>
        <p:nvSpPr>
          <p:cNvPr id="28" name="text-21">
            <a:extLst xmlns:a="http://schemas.openxmlformats.org/drawingml/2006/main">
              <a:ext uri="{FF2B5EF4-FFF2-40B4-BE49-F238E27FC236}">
                <a16:creationId xmlns:a16="http://schemas.microsoft.com/office/drawing/2014/main" id="{1C206D2C-083E-4D2E-A727-D00F19A186D1}"/>
              </a:ext>
            </a:extLst>
          </p:cNvPr>
          <p:cNvSpPr>
            <a:spLocks xmlns:a="http://schemas.openxmlformats.org/drawingml/2006/main" noGrp="1"/>
          </p:cNvSpPr>
          <p:nvPr/>
        </p:nvSpPr>
        <p:spPr>
          <a:xfrm xmlns:a="http://schemas.openxmlformats.org/drawingml/2006/main">
            <a:off x="1566000" y="4240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Image + PHY</a:t>
            </a:r>
          </a:p>
        </p:txBody>
      </p:sp>
      <p:sp>
        <p:nvSpPr>
          <p:cNvPr id="29" name="module: CNN decoder">
            <a:extLst xmlns:a="http://schemas.openxmlformats.org/drawingml/2006/main">
              <a:ext uri="{FF2B5EF4-FFF2-40B4-BE49-F238E27FC236}">
                <a16:creationId xmlns:a16="http://schemas.microsoft.com/office/drawing/2014/main" id="{D3181A30-56CC-4F11-8012-E4E94F866B8B}"/>
              </a:ext>
            </a:extLst>
          </p:cNvPr>
          <p:cNvSpPr>
            <a:spLocks xmlns:a="http://schemas.openxmlformats.org/drawingml/2006/main" noGrp="1"/>
          </p:cNvSpPr>
          <p:nvPr/>
        </p:nvSpPr>
        <p:spPr>
          <a:xfrm xmlns:a="http://schemas.openxmlformats.org/drawingml/2006/main">
            <a:off x="1548000" y="4536000"/>
            <a:ext cx="900000" cy="396000"/>
          </a:xfrm>
          <a:prstGeom xmlns:a="http://schemas.openxmlformats.org/drawingml/2006/main" prst="rect">
            <a:avLst/>
          </a:prstGeom>
          <a:solidFill xmlns:a="http://schemas.openxmlformats.org/drawingml/2006/main">
            <a:srgbClr val="FFF3CC"/>
          </a:solidFill>
          <a:ln xmlns:a="http://schemas.openxmlformats.org/drawingml/2006/main" w="5715">
            <a:solidFill>
              <a:srgbClr val="0B4F8A"/>
            </a:solidFill>
          </a:ln>
        </p:spPr>
        <p:txBody xmlns:a="http://schemas.openxmlformats.org/drawingml/2006/main">
          <a:bodyPr/>
          <a:p/>
        </p:txBody>
      </p:sp>
      <p:sp>
        <p:nvSpPr>
          <p:cNvPr id="30" name="text-22">
            <a:extLst xmlns:a="http://schemas.openxmlformats.org/drawingml/2006/main">
              <a:ext uri="{FF2B5EF4-FFF2-40B4-BE49-F238E27FC236}">
                <a16:creationId xmlns:a16="http://schemas.microsoft.com/office/drawing/2014/main" id="{E95EDF48-6E9D-4FD2-9798-433BEA609B40}"/>
              </a:ext>
            </a:extLst>
          </p:cNvPr>
          <p:cNvSpPr>
            <a:spLocks xmlns:a="http://schemas.openxmlformats.org/drawingml/2006/main" noGrp="1"/>
          </p:cNvSpPr>
          <p:nvPr/>
        </p:nvSpPr>
        <p:spPr>
          <a:xfrm xmlns:a="http://schemas.openxmlformats.org/drawingml/2006/main">
            <a:off x="1569600" y="4575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CNN decoder</a:t>
            </a:r>
          </a:p>
        </p:txBody>
      </p:sp>
      <p:sp>
        <p:nvSpPr>
          <p:cNvPr id="31" name="text-23">
            <a:extLst xmlns:a="http://schemas.openxmlformats.org/drawingml/2006/main">
              <a:ext uri="{FF2B5EF4-FFF2-40B4-BE49-F238E27FC236}">
                <a16:creationId xmlns:a16="http://schemas.microsoft.com/office/drawing/2014/main" id="{F8F91B79-8EFA-4CDB-B4BC-44E46E156476}"/>
              </a:ext>
            </a:extLst>
          </p:cNvPr>
          <p:cNvSpPr>
            <a:spLocks xmlns:a="http://schemas.openxmlformats.org/drawingml/2006/main" noGrp="1"/>
          </p:cNvSpPr>
          <p:nvPr/>
        </p:nvSpPr>
        <p:spPr>
          <a:xfrm xmlns:a="http://schemas.openxmlformats.org/drawingml/2006/main">
            <a:off x="1566000" y="4744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Soft I/Q</a:t>
            </a:r>
          </a:p>
        </p:txBody>
      </p:sp>
      <p:sp>
        <p:nvSpPr>
          <p:cNvPr id="32" name="module: OFDM RX">
            <a:extLst xmlns:a="http://schemas.openxmlformats.org/drawingml/2006/main">
              <a:ext uri="{FF2B5EF4-FFF2-40B4-BE49-F238E27FC236}">
                <a16:creationId xmlns:a16="http://schemas.microsoft.com/office/drawing/2014/main" id="{514D6AF3-EAAC-4ED5-A7A5-4239AED0D1EE}"/>
              </a:ext>
            </a:extLst>
          </p:cNvPr>
          <p:cNvSpPr>
            <a:spLocks xmlns:a="http://schemas.openxmlformats.org/drawingml/2006/main" noGrp="1"/>
          </p:cNvSpPr>
          <p:nvPr/>
        </p:nvSpPr>
        <p:spPr>
          <a:xfrm xmlns:a="http://schemas.openxmlformats.org/drawingml/2006/main">
            <a:off x="1548000" y="5040000"/>
            <a:ext cx="900000" cy="396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txBody xmlns:a="http://schemas.openxmlformats.org/drawingml/2006/main">
          <a:bodyPr/>
          <a:p/>
        </p:txBody>
      </p:sp>
      <p:sp>
        <p:nvSpPr>
          <p:cNvPr id="33" name="text-24">
            <a:extLst xmlns:a="http://schemas.openxmlformats.org/drawingml/2006/main">
              <a:ext uri="{FF2B5EF4-FFF2-40B4-BE49-F238E27FC236}">
                <a16:creationId xmlns:a16="http://schemas.microsoft.com/office/drawing/2014/main" id="{51E67CF8-D5F2-43FF-9687-1DEE49D6F6C8}"/>
              </a:ext>
            </a:extLst>
          </p:cNvPr>
          <p:cNvSpPr>
            <a:spLocks xmlns:a="http://schemas.openxmlformats.org/drawingml/2006/main" noGrp="1"/>
          </p:cNvSpPr>
          <p:nvPr/>
        </p:nvSpPr>
        <p:spPr>
          <a:xfrm xmlns:a="http://schemas.openxmlformats.org/drawingml/2006/main">
            <a:off x="1569600" y="5079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OFDM RX</a:t>
            </a:r>
          </a:p>
        </p:txBody>
      </p:sp>
      <p:sp>
        <p:nvSpPr>
          <p:cNvPr id="34" name="text-25">
            <a:extLst xmlns:a="http://schemas.openxmlformats.org/drawingml/2006/main">
              <a:ext uri="{FF2B5EF4-FFF2-40B4-BE49-F238E27FC236}">
                <a16:creationId xmlns:a16="http://schemas.microsoft.com/office/drawing/2014/main" id="{88C3116B-B431-447C-B3D5-87A51E59B05A}"/>
              </a:ext>
            </a:extLst>
          </p:cNvPr>
          <p:cNvSpPr>
            <a:spLocks xmlns:a="http://schemas.openxmlformats.org/drawingml/2006/main" noGrp="1"/>
          </p:cNvSpPr>
          <p:nvPr/>
        </p:nvSpPr>
        <p:spPr>
          <a:xfrm xmlns:a="http://schemas.openxmlformats.org/drawingml/2006/main">
            <a:off x="1566000" y="5248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Sync + equalize</a:t>
            </a:r>
          </a:p>
        </p:txBody>
      </p:sp>
      <p:sp>
        <p:nvSpPr>
          <p:cNvPr id="35" name="module: AD9361">
            <a:extLst xmlns:a="http://schemas.openxmlformats.org/drawingml/2006/main">
              <a:ext uri="{FF2B5EF4-FFF2-40B4-BE49-F238E27FC236}">
                <a16:creationId xmlns:a16="http://schemas.microsoft.com/office/drawing/2014/main" id="{0E73B449-0BCA-4C58-889C-AFE492D425FA}"/>
              </a:ext>
            </a:extLst>
          </p:cNvPr>
          <p:cNvSpPr>
            <a:spLocks xmlns:a="http://schemas.openxmlformats.org/drawingml/2006/main" noGrp="1"/>
          </p:cNvSpPr>
          <p:nvPr/>
        </p:nvSpPr>
        <p:spPr>
          <a:xfrm xmlns:a="http://schemas.openxmlformats.org/drawingml/2006/main">
            <a:off x="1548000" y="5544000"/>
            <a:ext cx="900000" cy="396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txBody xmlns:a="http://schemas.openxmlformats.org/drawingml/2006/main">
          <a:bodyPr/>
          <a:p/>
        </p:txBody>
      </p:sp>
      <p:sp>
        <p:nvSpPr>
          <p:cNvPr id="36" name="text-26">
            <a:extLst xmlns:a="http://schemas.openxmlformats.org/drawingml/2006/main">
              <a:ext uri="{FF2B5EF4-FFF2-40B4-BE49-F238E27FC236}">
                <a16:creationId xmlns:a16="http://schemas.microsoft.com/office/drawing/2014/main" id="{1F6C6AB2-11AC-42D2-ADAB-AF45161A824E}"/>
              </a:ext>
            </a:extLst>
          </p:cNvPr>
          <p:cNvSpPr>
            <a:spLocks xmlns:a="http://schemas.openxmlformats.org/drawingml/2006/main" noGrp="1"/>
          </p:cNvSpPr>
          <p:nvPr/>
        </p:nvSpPr>
        <p:spPr>
          <a:xfrm xmlns:a="http://schemas.openxmlformats.org/drawingml/2006/main">
            <a:off x="1569600" y="5583600"/>
            <a:ext cx="856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AD9361</a:t>
            </a:r>
          </a:p>
        </p:txBody>
      </p:sp>
      <p:sp>
        <p:nvSpPr>
          <p:cNvPr id="37" name="text-27">
            <a:extLst xmlns:a="http://schemas.openxmlformats.org/drawingml/2006/main">
              <a:ext uri="{FF2B5EF4-FFF2-40B4-BE49-F238E27FC236}">
                <a16:creationId xmlns:a16="http://schemas.microsoft.com/office/drawing/2014/main" id="{E591E621-1C6B-44F5-9E43-204AAD70811B}"/>
              </a:ext>
            </a:extLst>
          </p:cNvPr>
          <p:cNvSpPr>
            <a:spLocks xmlns:a="http://schemas.openxmlformats.org/drawingml/2006/main" noGrp="1"/>
          </p:cNvSpPr>
          <p:nvPr/>
        </p:nvSpPr>
        <p:spPr>
          <a:xfrm xmlns:a="http://schemas.openxmlformats.org/drawingml/2006/main">
            <a:off x="1566000" y="5752800"/>
            <a:ext cx="864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Fast AGC</a:t>
            </a:r>
          </a:p>
        </p:txBody>
      </p:sp>
      <p:sp>
        <p:nvSpPr>
          <p:cNvPr id="45" name="text-28">
            <a:extLst xmlns:a="http://schemas.openxmlformats.org/drawingml/2006/main">
              <a:ext uri="{FF2B5EF4-FFF2-40B4-BE49-F238E27FC236}">
                <a16:creationId xmlns:a16="http://schemas.microsoft.com/office/drawing/2014/main" id="{50FFC771-C14D-4759-84A4-C7D97093AD1E}"/>
              </a:ext>
            </a:extLst>
          </p:cNvPr>
          <p:cNvSpPr>
            <a:spLocks xmlns:a="http://schemas.openxmlformats.org/drawingml/2006/main" noGrp="1"/>
          </p:cNvSpPr>
          <p:nvPr/>
        </p:nvSpPr>
        <p:spPr>
          <a:xfrm xmlns:a="http://schemas.openxmlformats.org/drawingml/2006/main">
            <a:off x="1206000" y="5522400"/>
            <a:ext cx="324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D9531E"/>
                </a:solidFill>
                <a:latin typeface="Calibri"/>
                <a:ea typeface="Calibri"/>
                <a:cs typeface="Calibri"/>
              </a:defRPr>
            </a:defPPr>
          </a:lstStyle>
          <a:p xmlns:a="http://schemas.openxmlformats.org/drawingml/2006/main">
            <a:pPr algn="ctr">
              <a:defRPr sz="900" b="1">
                <a:solidFill>
                  <a:srgbClr val="D9531E"/>
                </a:solidFill>
                <a:latin typeface="Calibri"/>
                <a:ea typeface="Calibri"/>
                <a:cs typeface="Calibri"/>
              </a:defRPr>
            </a:pPr>
            <a:r>
              <a:rPr sz="900" b="1">
                <a:solidFill>
                  <a:srgbClr val="D9531E"/>
                </a:solidFill>
                <a:latin typeface="Calibri"/>
                <a:ea typeface="Calibri"/>
                <a:cs typeface="Calibri"/>
              </a:rPr>
              <a:t>air</a:t>
            </a:r>
          </a:p>
        </p:txBody>
      </p:sp>
      <p:sp>
        <p:nvSpPr>
          <p:cNvPr id="46" name="text-29">
            <a:extLst xmlns:a="http://schemas.openxmlformats.org/drawingml/2006/main">
              <a:ext uri="{FF2B5EF4-FFF2-40B4-BE49-F238E27FC236}">
                <a16:creationId xmlns:a16="http://schemas.microsoft.com/office/drawing/2014/main" id="{E24B3074-9A87-4543-8CD7-D033770FF582}"/>
              </a:ext>
            </a:extLst>
          </p:cNvPr>
          <p:cNvSpPr>
            <a:spLocks xmlns:a="http://schemas.openxmlformats.org/drawingml/2006/main" noGrp="1"/>
          </p:cNvSpPr>
          <p:nvPr/>
        </p:nvSpPr>
        <p:spPr>
          <a:xfrm xmlns:a="http://schemas.openxmlformats.org/drawingml/2006/main">
            <a:off x="288000" y="6066000"/>
            <a:ext cx="2160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20303D"/>
                </a:solidFill>
                <a:latin typeface="Calibri"/>
                <a:ea typeface="Calibri"/>
                <a:cs typeface="Calibri"/>
              </a:defRPr>
            </a:defPPr>
          </a:lstStyle>
          <a:p xmlns:a="http://schemas.openxmlformats.org/drawingml/2006/main">
            <a:pPr algn="l">
              <a:defRPr sz="950" b="1">
                <a:solidFill>
                  <a:srgbClr val="20303D"/>
                </a:solidFill>
                <a:latin typeface="Calibri"/>
                <a:ea typeface="Calibri"/>
                <a:cs typeface="Calibri"/>
              </a:defRPr>
            </a:pPr>
            <a:r>
              <a:rPr sz="950" b="1">
                <a:solidFill>
                  <a:srgbClr val="20303D"/>
                </a:solidFill>
                <a:latin typeface="Calibri"/>
                <a:ea typeface="Calibri"/>
                <a:cs typeface="Calibri"/>
              </a:rPr>
              <a:t>32,768 complex symbols/image</a:t>
            </a:r>
          </a:p>
          <a:p xmlns:a="http://schemas.openxmlformats.org/drawingml/2006/main">
            <a:pPr algn="l">
              <a:defRPr sz="950" b="1">
                <a:solidFill>
                  <a:srgbClr val="20303D"/>
                </a:solidFill>
                <a:latin typeface="Calibri"/>
                <a:ea typeface="Calibri"/>
                <a:cs typeface="Calibri"/>
              </a:defRPr>
            </a:pPr>
            <a:r>
              <a:rPr sz="950" b="1">
                <a:solidFill>
                  <a:srgbClr val="20303D"/>
                </a:solidFill>
                <a:latin typeface="Calibri"/>
                <a:ea typeface="Calibri"/>
                <a:cs typeface="Calibri"/>
              </a:rPr>
              <a:t>683 OFDM symbols/frame</a:t>
            </a:r>
          </a:p>
          <a:p xmlns:a="http://schemas.openxmlformats.org/drawingml/2006/main">
            <a:pPr algn="l">
              <a:defRPr sz="950" b="1">
                <a:solidFill>
                  <a:srgbClr val="20303D"/>
                </a:solidFill>
                <a:latin typeface="Calibri"/>
                <a:ea typeface="Calibri"/>
                <a:cs typeface="Calibri"/>
              </a:defRPr>
            </a:pPr>
            <a:r>
              <a:rPr sz="950" b="1">
                <a:solidFill>
                  <a:srgbClr val="20303D"/>
                </a:solidFill>
                <a:latin typeface="Calibri"/>
                <a:ea typeface="Calibri"/>
                <a:cs typeface="Calibri"/>
              </a:rPr>
              <a:t>20 MSPS PHY sample rate</a:t>
            </a:r>
          </a:p>
        </p:txBody>
      </p:sp>
      <p:sp>
        <p:nvSpPr>
          <p:cNvPr id="47" name="text-30">
            <a:extLst xmlns:a="http://schemas.openxmlformats.org/drawingml/2006/main">
              <a:ext uri="{FF2B5EF4-FFF2-40B4-BE49-F238E27FC236}">
                <a16:creationId xmlns:a16="http://schemas.microsoft.com/office/drawing/2014/main" id="{95003E40-2513-4BEA-9C39-F4E4089972E9}"/>
              </a:ext>
            </a:extLst>
          </p:cNvPr>
          <p:cNvSpPr>
            <a:spLocks xmlns:a="http://schemas.openxmlformats.org/drawingml/2006/main" noGrp="1"/>
          </p:cNvSpPr>
          <p:nvPr/>
        </p:nvSpPr>
        <p:spPr>
          <a:xfrm xmlns:a="http://schemas.openxmlformats.org/drawingml/2006/main">
            <a:off x="288000" y="6570000"/>
            <a:ext cx="2160000" cy="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20303D"/>
                </a:solidFill>
                <a:latin typeface="Calibri"/>
                <a:ea typeface="Calibri"/>
                <a:cs typeface="Calibri"/>
              </a:defRPr>
            </a:defPPr>
          </a:lstStyle>
          <a:p xmlns:a="http://schemas.openxmlformats.org/drawingml/2006/main">
            <a:pPr algn="l">
              <a:defRPr sz="950" b="0">
                <a:solidFill>
                  <a:srgbClr val="20303D"/>
                </a:solidFill>
                <a:latin typeface="Calibri"/>
                <a:ea typeface="Calibri"/>
                <a:cs typeface="Calibri"/>
              </a:defRPr>
            </a:pPr>
            <a:r>
              <a:rPr sz="950" b="0">
                <a:solidFill>
                  <a:srgbClr val="20303D"/>
                </a:solidFill>
                <a:latin typeface="Calibri"/>
                <a:ea typeface="Calibri"/>
                <a:cs typeface="Calibri"/>
              </a:rPr>
              <a:t>Soft I/Q enters the decoder without hard decisions. Ethernet carries control and the reference preview.</a:t>
            </a:r>
          </a:p>
        </p:txBody>
      </p:sp>
      <p:sp>
        <p:nvSpPr>
          <p:cNvPr id="48" name="text-31">
            <a:extLst xmlns:a="http://schemas.openxmlformats.org/drawingml/2006/main">
              <a:ext uri="{FF2B5EF4-FFF2-40B4-BE49-F238E27FC236}">
                <a16:creationId xmlns:a16="http://schemas.microsoft.com/office/drawing/2014/main" id="{19A9D182-043E-4431-9930-B5DD3C9FDDF4}"/>
              </a:ext>
            </a:extLst>
          </p:cNvPr>
          <p:cNvSpPr>
            <a:spLocks xmlns:a="http://schemas.openxmlformats.org/drawingml/2006/main" noGrp="1"/>
          </p:cNvSpPr>
          <p:nvPr/>
        </p:nvSpPr>
        <p:spPr>
          <a:xfrm xmlns:a="http://schemas.openxmlformats.org/drawingml/2006/main">
            <a:off x="288000" y="7128000"/>
            <a:ext cx="21600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465B6A"/>
                </a:solidFill>
                <a:latin typeface="Calibri"/>
                <a:ea typeface="Calibri"/>
                <a:cs typeface="Calibri"/>
              </a:defRPr>
            </a:defPPr>
          </a:lstStyle>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PL latency excludes app/display.</a:t>
            </a:r>
          </a:p>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Transfer includes buffers + RX PHY.</a:t>
            </a:r>
          </a:p>
        </p:txBody>
      </p:sp>
      <p:sp>
        <p:nvSpPr>
          <p:cNvPr id="49" name="text-32">
            <a:extLst xmlns:a="http://schemas.openxmlformats.org/drawingml/2006/main">
              <a:ext uri="{FF2B5EF4-FFF2-40B4-BE49-F238E27FC236}">
                <a16:creationId xmlns:a16="http://schemas.microsoft.com/office/drawing/2014/main" id="{C9DB2DBE-0C85-4921-BE7D-24CA6B3C35D0}"/>
              </a:ext>
            </a:extLst>
          </p:cNvPr>
          <p:cNvSpPr>
            <a:spLocks xmlns:a="http://schemas.openxmlformats.org/drawingml/2006/main" noGrp="1"/>
          </p:cNvSpPr>
          <p:nvPr/>
        </p:nvSpPr>
        <p:spPr>
          <a:xfrm xmlns:a="http://schemas.openxmlformats.org/drawingml/2006/main">
            <a:off x="2700000" y="1656000"/>
            <a:ext cx="4572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B4F8A"/>
                </a:solidFill>
                <a:latin typeface="Calibri"/>
                <a:ea typeface="Calibri"/>
                <a:cs typeface="Calibri"/>
              </a:defRPr>
            </a:defPPr>
          </a:lstStyle>
          <a:p xmlns:a="http://schemas.openxmlformats.org/drawingml/2006/main">
            <a:pPr algn="l">
              <a:defRPr sz="1200" b="1">
                <a:solidFill>
                  <a:srgbClr val="0B4F8A"/>
                </a:solidFill>
                <a:latin typeface="Calibri"/>
                <a:ea typeface="Calibri"/>
                <a:cs typeface="Calibri"/>
              </a:defRPr>
            </a:pPr>
            <a:r>
              <a:rPr sz="1200" b="1">
                <a:solidFill>
                  <a:srgbClr val="0B4F8A"/>
                </a:solidFill>
                <a:latin typeface="Calibri"/>
                <a:ea typeface="Calibri"/>
                <a:cs typeface="Calibri"/>
              </a:rPr>
              <a:t>Measured quality over the air</a:t>
            </a:r>
          </a:p>
        </p:txBody>
      </p:sp>
      <p:sp>
        <p:nvSpPr>
          <p:cNvPr id="50" name="text-33">
            <a:extLst xmlns:a="http://schemas.openxmlformats.org/drawingml/2006/main">
              <a:ext uri="{FF2B5EF4-FFF2-40B4-BE49-F238E27FC236}">
                <a16:creationId xmlns:a16="http://schemas.microsoft.com/office/drawing/2014/main" id="{0AA86E52-25FA-4392-9AF1-6B729CF64A9A}"/>
              </a:ext>
            </a:extLst>
          </p:cNvPr>
          <p:cNvSpPr>
            <a:spLocks xmlns:a="http://schemas.openxmlformats.org/drawingml/2006/main" noGrp="1"/>
          </p:cNvSpPr>
          <p:nvPr/>
        </p:nvSpPr>
        <p:spPr>
          <a:xfrm xmlns:a="http://schemas.openxmlformats.org/drawingml/2006/main">
            <a:off x="2700000" y="1908000"/>
            <a:ext cx="4572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465B6A"/>
                </a:solidFill>
                <a:latin typeface="Calibri"/>
                <a:ea typeface="Calibri"/>
                <a:cs typeface="Calibri"/>
              </a:defRPr>
            </a:defPPr>
          </a:lstStyle>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DIV2K 0802; same PHY and 32,768 symbols/image.</a:t>
            </a:r>
          </a:p>
          <a:p xmlns:a="http://schemas.openxmlformats.org/drawingml/2006/main">
            <a:pPr algn="l">
              <a:defRPr sz="900" b="0">
                <a:solidFill>
                  <a:srgbClr val="465B6A"/>
                </a:solidFill>
                <a:latin typeface="Calibri"/>
                <a:ea typeface="Calibri"/>
                <a:cs typeface="Calibri"/>
              </a:defRPr>
            </a:pPr>
            <a:r>
              <a:rPr sz="900" b="0">
                <a:solidFill>
                  <a:srgbClr val="465B6A"/>
                </a:solidFill>
                <a:latin typeface="Calibri"/>
                <a:ea typeface="Calibri"/>
                <a:cs typeface="Calibri"/>
              </a:rPr>
              <a:t>SSCC: JPEG + 802.11n LDPC + 64-QAM.</a:t>
            </a:r>
          </a:p>
        </p:txBody>
      </p:sp>
      <p:graphicFrame>
        <p:nvGraphicFramePr>
          <p:cNvPr id="51" name="Chart">
            <a:extLst xmlns:a="http://schemas.openxmlformats.org/drawingml/2006/main">
              <a:ext uri="{FF2B5EF4-FFF2-40B4-BE49-F238E27FC236}">
                <a16:creationId xmlns:a16="http://schemas.microsoft.com/office/drawing/2014/main" id="{83D2A634-D115-4C6D-8373-7874CD7CB0C8}"/>
              </a:ext>
            </a:extLst>
          </p:cNvPr>
          <p:cNvGraphicFramePr/>
          <p:nvPr/>
        </p:nvGraphicFramePr>
        <p:xfrm>
          <a:off xmlns:a="http://schemas.openxmlformats.org/drawingml/2006/main" x="2700000" y="2232000"/>
          <a:ext xmlns:a="http://schemas.openxmlformats.org/drawingml/2006/main" cx="3384000" cy="1908000"/>
        </p:xfrm>
        <a:graphic xmlns:a="http://schemas.openxmlformats.org/drawingml/2006/main">
          <a:graphicData uri="http://schemas.openxmlformats.org/drawingml/2006/chart">
            <c:chart xmlns:r="http://schemas.openxmlformats.org/officeDocument/2006/relationships" xmlns:c="http://schemas.openxmlformats.org/drawingml/2006/chart" r:id="R8fa3476e81414cf3"/>
          </a:graphicData>
        </a:graphic>
      </p:graphicFrame>
      <p:sp>
        <p:nvSpPr>
          <p:cNvPr id="52" name="text-34">
            <a:extLst xmlns:a="http://schemas.openxmlformats.org/drawingml/2006/main">
              <a:ext uri="{FF2B5EF4-FFF2-40B4-BE49-F238E27FC236}">
                <a16:creationId xmlns:a16="http://schemas.microsoft.com/office/drawing/2014/main" id="{37C5B625-75BF-4A82-A69C-CF6BD8AF10BC}"/>
              </a:ext>
            </a:extLst>
          </p:cNvPr>
          <p:cNvSpPr>
            <a:spLocks xmlns:a="http://schemas.openxmlformats.org/drawingml/2006/main" noGrp="1"/>
          </p:cNvSpPr>
          <p:nvPr/>
        </p:nvSpPr>
        <p:spPr>
          <a:xfrm xmlns:a="http://schemas.openxmlformats.org/drawingml/2006/main">
            <a:off x="6264000" y="2376000"/>
            <a:ext cx="93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1">
                <a:solidFill>
                  <a:srgbClr val="20303D"/>
                </a:solidFill>
                <a:latin typeface="Calibri"/>
                <a:ea typeface="Calibri"/>
                <a:cs typeface="Calibri"/>
              </a:defRPr>
            </a:defPPr>
          </a:lstStyle>
          <a:p xmlns:a="http://schemas.openxmlformats.org/drawingml/2006/main">
            <a:pPr algn="ctr">
              <a:defRPr sz="1000" b="1">
                <a:solidFill>
                  <a:srgbClr val="20303D"/>
                </a:solidFill>
                <a:latin typeface="Calibri"/>
                <a:ea typeface="Calibri"/>
                <a:cs typeface="Calibri"/>
              </a:defRPr>
            </a:pPr>
            <a:r>
              <a:rPr sz="1000" b="1">
                <a:solidFill>
                  <a:srgbClr val="20303D"/>
                </a:solidFill>
                <a:latin typeface="Calibri"/>
                <a:ea typeface="Calibri"/>
                <a:cs typeface="Calibri"/>
              </a:rPr>
              <a:t>Original</a:t>
            </a:r>
          </a:p>
        </p:txBody>
      </p:sp>
      <p:pic>
        <p:nvPicPr>
          <p:cNvPr id="53" name="">
            <a:extLst xmlns:a="http://schemas.openxmlformats.org/drawingml/2006/main">
              <a:ext uri="{FF2B5EF4-FFF2-40B4-BE49-F238E27FC236}">
                <a16:creationId xmlns:a16="http://schemas.microsoft.com/office/drawing/2014/main" id="{986A54F7-509B-4BDD-9DF1-1BAEA7444F97}"/>
              </a:ext>
            </a:extLst>
          </p:cNvPr>
          <p:cNvPicPr>
            <a:picLocks xmlns:a="http://schemas.openxmlformats.org/drawingml/2006/main" noChangeAspect="1"/>
          </p:cNvPicPr>
          <p:nvPr/>
        </p:nvPicPr>
        <p:blipFill>
          <a:blip xmlns:r="http://schemas.openxmlformats.org/officeDocument/2006/relationships" xmlns:a="http://schemas.openxmlformats.org/drawingml/2006/main" r:embed="Rcc0ed3736f364ecc"/>
          <a:stretch xmlns:a="http://schemas.openxmlformats.org/drawingml/2006/main"/>
        </p:blipFill>
        <p:spPr>
          <a:xfrm xmlns:a="http://schemas.openxmlformats.org/drawingml/2006/main">
            <a:off x="6264000" y="2628000"/>
            <a:ext cx="936000" cy="936000"/>
          </a:xfrm>
          <a:prstGeom xmlns:a="http://schemas.openxmlformats.org/drawingml/2006/main" prst="rect">
            <a:avLst/>
          </a:prstGeom>
        </p:spPr>
      </p:pic>
      <p:sp>
        <p:nvSpPr>
          <p:cNvPr id="54" name="text-35">
            <a:extLst xmlns:a="http://schemas.openxmlformats.org/drawingml/2006/main">
              <a:ext uri="{FF2B5EF4-FFF2-40B4-BE49-F238E27FC236}">
                <a16:creationId xmlns:a16="http://schemas.microsoft.com/office/drawing/2014/main" id="{7EA1093E-798A-432E-B1CF-BA749AC324F7}"/>
              </a:ext>
            </a:extLst>
          </p:cNvPr>
          <p:cNvSpPr>
            <a:spLocks xmlns:a="http://schemas.openxmlformats.org/drawingml/2006/main" noGrp="1"/>
          </p:cNvSpPr>
          <p:nvPr/>
        </p:nvSpPr>
        <p:spPr>
          <a:xfrm xmlns:a="http://schemas.openxmlformats.org/drawingml/2006/main">
            <a:off x="6264000" y="3636000"/>
            <a:ext cx="936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0">
                <a:solidFill>
                  <a:srgbClr val="465B6A"/>
                </a:solidFill>
                <a:latin typeface="Calibri"/>
                <a:ea typeface="Calibri"/>
                <a:cs typeface="Calibri"/>
              </a:defRPr>
            </a:defPPr>
          </a:lstStyle>
          <a:p xmlns:a="http://schemas.openxmlformats.org/drawingml/2006/main">
            <a:pPr algn="ctr">
              <a:defRPr sz="900" b="0">
                <a:solidFill>
                  <a:srgbClr val="465B6A"/>
                </a:solidFill>
                <a:latin typeface="Calibri"/>
                <a:ea typeface="Calibri"/>
                <a:cs typeface="Calibri"/>
              </a:defRPr>
            </a:pPr>
            <a:r>
              <a:rPr sz="900" b="0">
                <a:solidFill>
                  <a:srgbClr val="465B6A"/>
                </a:solidFill>
                <a:latin typeface="Calibri"/>
                <a:ea typeface="Calibri"/>
                <a:cs typeface="Calibri"/>
              </a:rPr>
              <a:t>256 × 256</a:t>
            </a:r>
          </a:p>
          <a:p xmlns:a="http://schemas.openxmlformats.org/drawingml/2006/main">
            <a:pPr algn="ctr">
              <a:defRPr sz="900" b="0">
                <a:solidFill>
                  <a:srgbClr val="465B6A"/>
                </a:solidFill>
                <a:latin typeface="Calibri"/>
                <a:ea typeface="Calibri"/>
                <a:cs typeface="Calibri"/>
              </a:defRPr>
            </a:pPr>
            <a:r>
              <a:rPr sz="900" b="0">
                <a:solidFill>
                  <a:srgbClr val="465B6A"/>
                </a:solidFill>
                <a:latin typeface="Calibri"/>
                <a:ea typeface="Calibri"/>
                <a:cs typeface="Calibri"/>
              </a:rPr>
              <a:t>RGB</a:t>
            </a:r>
          </a:p>
        </p:txBody>
      </p:sp>
      <p:sp>
        <p:nvSpPr>
          <p:cNvPr id="55" name="text-36">
            <a:extLst xmlns:a="http://schemas.openxmlformats.org/drawingml/2006/main">
              <a:ext uri="{FF2B5EF4-FFF2-40B4-BE49-F238E27FC236}">
                <a16:creationId xmlns:a16="http://schemas.microsoft.com/office/drawing/2014/main" id="{B41A0AD1-9528-4610-A659-DB010C4367E4}"/>
              </a:ext>
            </a:extLst>
          </p:cNvPr>
          <p:cNvSpPr>
            <a:spLocks xmlns:a="http://schemas.openxmlformats.org/drawingml/2006/main" noGrp="1"/>
          </p:cNvSpPr>
          <p:nvPr/>
        </p:nvSpPr>
        <p:spPr>
          <a:xfrm xmlns:a="http://schemas.openxmlformats.org/drawingml/2006/main">
            <a:off x="2700000" y="4194000"/>
            <a:ext cx="4572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20303D"/>
                </a:solidFill>
                <a:latin typeface="Calibri"/>
                <a:ea typeface="Calibri"/>
                <a:cs typeface="Calibri"/>
              </a:defRPr>
            </a:defPPr>
          </a:lstStyle>
          <a:p xmlns:a="http://schemas.openxmlformats.org/drawingml/2006/main">
            <a:pPr algn="l">
              <a:defRPr sz="1050" b="1">
                <a:solidFill>
                  <a:srgbClr val="20303D"/>
                </a:solidFill>
                <a:latin typeface="Calibri"/>
                <a:ea typeface="Calibri"/>
                <a:cs typeface="Calibri"/>
              </a:defRPr>
            </a:pPr>
            <a:r>
              <a:rPr sz="1050" b="1">
                <a:solidFill>
                  <a:srgbClr val="20303D"/>
                </a:solidFill>
                <a:latin typeface="Calibri"/>
                <a:ea typeface="Calibri"/>
                <a:cs typeface="Calibri"/>
              </a:rPr>
              <a:t>Reconstruction at four channel conditions</a:t>
            </a:r>
          </a:p>
        </p:txBody>
      </p:sp>
      <p:sp>
        <p:nvSpPr>
          <p:cNvPr id="56" name="text-37">
            <a:extLst xmlns:a="http://schemas.openxmlformats.org/drawingml/2006/main">
              <a:ext uri="{FF2B5EF4-FFF2-40B4-BE49-F238E27FC236}">
                <a16:creationId xmlns:a16="http://schemas.microsoft.com/office/drawing/2014/main" id="{3E9F8A6D-E2F0-4EDF-AC53-190A219BFC11}"/>
              </a:ext>
            </a:extLst>
          </p:cNvPr>
          <p:cNvSpPr>
            <a:spLocks xmlns:a="http://schemas.openxmlformats.org/drawingml/2006/main" noGrp="1"/>
          </p:cNvSpPr>
          <p:nvPr/>
        </p:nvSpPr>
        <p:spPr>
          <a:xfrm xmlns:a="http://schemas.openxmlformats.org/drawingml/2006/main">
            <a:off x="3474000" y="44820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36.1 dB</a:t>
            </a:r>
          </a:p>
        </p:txBody>
      </p:sp>
      <p:sp>
        <p:nvSpPr>
          <p:cNvPr id="57" name="text-38">
            <a:extLst xmlns:a="http://schemas.openxmlformats.org/drawingml/2006/main">
              <a:ext uri="{FF2B5EF4-FFF2-40B4-BE49-F238E27FC236}">
                <a16:creationId xmlns:a16="http://schemas.microsoft.com/office/drawing/2014/main" id="{8E3C42AB-82DB-402D-8A0F-A3B90CD5CCFD}"/>
              </a:ext>
            </a:extLst>
          </p:cNvPr>
          <p:cNvSpPr>
            <a:spLocks xmlns:a="http://schemas.openxmlformats.org/drawingml/2006/main" noGrp="1"/>
          </p:cNvSpPr>
          <p:nvPr/>
        </p:nvSpPr>
        <p:spPr>
          <a:xfrm xmlns:a="http://schemas.openxmlformats.org/drawingml/2006/main">
            <a:off x="4431600" y="44820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14.2 dB</a:t>
            </a:r>
          </a:p>
        </p:txBody>
      </p:sp>
      <p:sp>
        <p:nvSpPr>
          <p:cNvPr id="58" name="text-39">
            <a:extLst xmlns:a="http://schemas.openxmlformats.org/drawingml/2006/main">
              <a:ext uri="{FF2B5EF4-FFF2-40B4-BE49-F238E27FC236}">
                <a16:creationId xmlns:a16="http://schemas.microsoft.com/office/drawing/2014/main" id="{6F937298-26BF-4D68-B024-DA3B575680A0}"/>
              </a:ext>
            </a:extLst>
          </p:cNvPr>
          <p:cNvSpPr>
            <a:spLocks xmlns:a="http://schemas.openxmlformats.org/drawingml/2006/main" noGrp="1"/>
          </p:cNvSpPr>
          <p:nvPr/>
        </p:nvSpPr>
        <p:spPr>
          <a:xfrm xmlns:a="http://schemas.openxmlformats.org/drawingml/2006/main">
            <a:off x="5389200" y="44820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10.5 dB</a:t>
            </a:r>
          </a:p>
        </p:txBody>
      </p:sp>
      <p:sp>
        <p:nvSpPr>
          <p:cNvPr id="59" name="text-40">
            <a:extLst xmlns:a="http://schemas.openxmlformats.org/drawingml/2006/main">
              <a:ext uri="{FF2B5EF4-FFF2-40B4-BE49-F238E27FC236}">
                <a16:creationId xmlns:a16="http://schemas.microsoft.com/office/drawing/2014/main" id="{F273089E-180B-4BA3-B6AB-C4D4300D0D1A}"/>
              </a:ext>
            </a:extLst>
          </p:cNvPr>
          <p:cNvSpPr>
            <a:spLocks xmlns:a="http://schemas.openxmlformats.org/drawingml/2006/main" noGrp="1"/>
          </p:cNvSpPr>
          <p:nvPr/>
        </p:nvSpPr>
        <p:spPr>
          <a:xfrm xmlns:a="http://schemas.openxmlformats.org/drawingml/2006/main">
            <a:off x="6346800" y="44820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00" b="1">
                <a:solidFill>
                  <a:srgbClr val="20303D"/>
                </a:solidFill>
                <a:latin typeface="Calibri"/>
                <a:ea typeface="Calibri"/>
                <a:cs typeface="Calibri"/>
              </a:defRPr>
            </a:defPPr>
          </a:lstStyle>
          <a:p xmlns:a="http://schemas.openxmlformats.org/drawingml/2006/main">
            <a:pPr algn="ctr">
              <a:defRPr sz="900" b="1">
                <a:solidFill>
                  <a:srgbClr val="20303D"/>
                </a:solidFill>
                <a:latin typeface="Calibri"/>
                <a:ea typeface="Calibri"/>
                <a:cs typeface="Calibri"/>
              </a:defRPr>
            </a:pPr>
            <a:r>
              <a:rPr sz="900" b="1">
                <a:solidFill>
                  <a:srgbClr val="20303D"/>
                </a:solidFill>
                <a:latin typeface="Calibri"/>
                <a:ea typeface="Calibri"/>
                <a:cs typeface="Calibri"/>
              </a:rPr>
              <a:t>2.9 dB</a:t>
            </a:r>
          </a:p>
        </p:txBody>
      </p:sp>
      <p:sp>
        <p:nvSpPr>
          <p:cNvPr id="60" name="text-41">
            <a:extLst xmlns:a="http://schemas.openxmlformats.org/drawingml/2006/main">
              <a:ext uri="{FF2B5EF4-FFF2-40B4-BE49-F238E27FC236}">
                <a16:creationId xmlns:a16="http://schemas.microsoft.com/office/drawing/2014/main" id="{B025EA1F-E63F-41C4-844B-C170DECF28D2}"/>
              </a:ext>
            </a:extLst>
          </p:cNvPr>
          <p:cNvSpPr>
            <a:spLocks xmlns:a="http://schemas.openxmlformats.org/drawingml/2006/main" noGrp="1"/>
          </p:cNvSpPr>
          <p:nvPr/>
        </p:nvSpPr>
        <p:spPr>
          <a:xfrm xmlns:a="http://schemas.openxmlformats.org/drawingml/2006/main">
            <a:off x="2700000" y="5004000"/>
            <a:ext cx="75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1">
                <a:solidFill>
                  <a:srgbClr val="237EAD"/>
                </a:solidFill>
                <a:latin typeface="Calibri"/>
                <a:ea typeface="Calibri"/>
                <a:cs typeface="Calibri"/>
              </a:defRPr>
            </a:defPPr>
          </a:lstStyle>
          <a:p xmlns:a="http://schemas.openxmlformats.org/drawingml/2006/main">
            <a:pPr algn="l">
              <a:defRPr sz="850" b="1">
                <a:solidFill>
                  <a:srgbClr val="237EAD"/>
                </a:solidFill>
                <a:latin typeface="Calibri"/>
                <a:ea typeface="Calibri"/>
                <a:cs typeface="Calibri"/>
              </a:defRPr>
            </a:pPr>
            <a:r>
              <a:rPr sz="850" b="1">
                <a:solidFill>
                  <a:srgbClr val="237EAD"/>
                </a:solidFill>
                <a:latin typeface="Calibri"/>
                <a:ea typeface="Calibri"/>
                <a:cs typeface="Calibri"/>
              </a:rPr>
              <a:t>DeepJSCC-Q</a:t>
            </a:r>
          </a:p>
        </p:txBody>
      </p:sp>
      <p:sp>
        <p:nvSpPr>
          <p:cNvPr id="61" name="text-42">
            <a:extLst xmlns:a="http://schemas.openxmlformats.org/drawingml/2006/main">
              <a:ext uri="{FF2B5EF4-FFF2-40B4-BE49-F238E27FC236}">
                <a16:creationId xmlns:a16="http://schemas.microsoft.com/office/drawing/2014/main" id="{9ACAF359-523A-4C3C-96BD-939DE226205B}"/>
              </a:ext>
            </a:extLst>
          </p:cNvPr>
          <p:cNvSpPr>
            <a:spLocks xmlns:a="http://schemas.openxmlformats.org/drawingml/2006/main" noGrp="1"/>
          </p:cNvSpPr>
          <p:nvPr/>
        </p:nvSpPr>
        <p:spPr>
          <a:xfrm xmlns:a="http://schemas.openxmlformats.org/drawingml/2006/main">
            <a:off x="2700000" y="6192000"/>
            <a:ext cx="75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D9531E"/>
                </a:solidFill>
                <a:latin typeface="Calibri"/>
                <a:ea typeface="Calibri"/>
                <a:cs typeface="Calibri"/>
              </a:defRPr>
            </a:defPPr>
          </a:lstStyle>
          <a:p xmlns:a="http://schemas.openxmlformats.org/drawingml/2006/main">
            <a:pPr algn="l">
              <a:defRPr sz="950" b="1">
                <a:solidFill>
                  <a:srgbClr val="D9531E"/>
                </a:solidFill>
                <a:latin typeface="Calibri"/>
                <a:ea typeface="Calibri"/>
                <a:cs typeface="Calibri"/>
              </a:defRPr>
            </a:pPr>
            <a:r>
              <a:rPr sz="950" b="1">
                <a:solidFill>
                  <a:srgbClr val="D9531E"/>
                </a:solidFill>
                <a:latin typeface="Calibri"/>
                <a:ea typeface="Calibri"/>
                <a:cs typeface="Calibri"/>
              </a:rPr>
              <a:t>SSCC</a:t>
            </a:r>
          </a:p>
        </p:txBody>
      </p:sp>
      <p:pic>
        <p:nvPicPr>
          <p:cNvPr id="62" name="">
            <a:extLst xmlns:a="http://schemas.openxmlformats.org/drawingml/2006/main">
              <a:ext uri="{FF2B5EF4-FFF2-40B4-BE49-F238E27FC236}">
                <a16:creationId xmlns:a16="http://schemas.microsoft.com/office/drawing/2014/main" id="{E923DBE2-D96E-4A29-A9B2-55BAC013FFED}"/>
              </a:ext>
            </a:extLst>
          </p:cNvPr>
          <p:cNvPicPr>
            <a:picLocks xmlns:a="http://schemas.openxmlformats.org/drawingml/2006/main" noChangeAspect="1"/>
          </p:cNvPicPr>
          <p:nvPr/>
        </p:nvPicPr>
        <p:blipFill>
          <a:blip xmlns:r="http://schemas.openxmlformats.org/officeDocument/2006/relationships" xmlns:a="http://schemas.openxmlformats.org/drawingml/2006/main" r:embed="R915e71eebf394a65"/>
          <a:stretch xmlns:a="http://schemas.openxmlformats.org/drawingml/2006/main"/>
        </p:blipFill>
        <p:spPr>
          <a:xfrm xmlns:a="http://schemas.openxmlformats.org/drawingml/2006/main">
            <a:off x="3474000" y="4680000"/>
            <a:ext cx="846000" cy="846000"/>
          </a:xfrm>
          <a:prstGeom xmlns:a="http://schemas.openxmlformats.org/drawingml/2006/main" prst="rect">
            <a:avLst/>
          </a:prstGeom>
        </p:spPr>
      </p:pic>
      <p:sp>
        <p:nvSpPr>
          <p:cNvPr id="63" name="text-43">
            <a:extLst xmlns:a="http://schemas.openxmlformats.org/drawingml/2006/main">
              <a:ext uri="{FF2B5EF4-FFF2-40B4-BE49-F238E27FC236}">
                <a16:creationId xmlns:a16="http://schemas.microsoft.com/office/drawing/2014/main" id="{0285BF7D-DDAF-4B4C-A51F-BA48CFCB9A68}"/>
              </a:ext>
            </a:extLst>
          </p:cNvPr>
          <p:cNvSpPr>
            <a:spLocks xmlns:a="http://schemas.openxmlformats.org/drawingml/2006/main" noGrp="1"/>
          </p:cNvSpPr>
          <p:nvPr/>
        </p:nvSpPr>
        <p:spPr>
          <a:xfrm xmlns:a="http://schemas.openxmlformats.org/drawingml/2006/main">
            <a:off x="3474000" y="5554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32.21 / 0.94</a:t>
            </a:r>
          </a:p>
        </p:txBody>
      </p:sp>
      <p:pic>
        <p:nvPicPr>
          <p:cNvPr id="64" name="">
            <a:extLst xmlns:a="http://schemas.openxmlformats.org/drawingml/2006/main">
              <a:ext uri="{FF2B5EF4-FFF2-40B4-BE49-F238E27FC236}">
                <a16:creationId xmlns:a16="http://schemas.microsoft.com/office/drawing/2014/main" id="{075D14B8-7630-478A-9D3B-350584945462}"/>
              </a:ext>
            </a:extLst>
          </p:cNvPr>
          <p:cNvPicPr>
            <a:picLocks xmlns:a="http://schemas.openxmlformats.org/drawingml/2006/main" noChangeAspect="1"/>
          </p:cNvPicPr>
          <p:nvPr/>
        </p:nvPicPr>
        <p:blipFill>
          <a:blip xmlns:r="http://schemas.openxmlformats.org/officeDocument/2006/relationships" xmlns:a="http://schemas.openxmlformats.org/drawingml/2006/main" r:embed="R0cf2e86c20334690"/>
          <a:stretch xmlns:a="http://schemas.openxmlformats.org/drawingml/2006/main"/>
        </p:blipFill>
        <p:spPr>
          <a:xfrm xmlns:a="http://schemas.openxmlformats.org/drawingml/2006/main">
            <a:off x="4431600" y="4680000"/>
            <a:ext cx="846000" cy="846000"/>
          </a:xfrm>
          <a:prstGeom xmlns:a="http://schemas.openxmlformats.org/drawingml/2006/main" prst="rect">
            <a:avLst/>
          </a:prstGeom>
        </p:spPr>
      </p:pic>
      <p:sp>
        <p:nvSpPr>
          <p:cNvPr id="65" name="text-44">
            <a:extLst xmlns:a="http://schemas.openxmlformats.org/drawingml/2006/main">
              <a:ext uri="{FF2B5EF4-FFF2-40B4-BE49-F238E27FC236}">
                <a16:creationId xmlns:a16="http://schemas.microsoft.com/office/drawing/2014/main" id="{EC7462E2-F66B-4C92-8B23-19C6D1BFA25D}"/>
              </a:ext>
            </a:extLst>
          </p:cNvPr>
          <p:cNvSpPr>
            <a:spLocks xmlns:a="http://schemas.openxmlformats.org/drawingml/2006/main" noGrp="1"/>
          </p:cNvSpPr>
          <p:nvPr/>
        </p:nvSpPr>
        <p:spPr>
          <a:xfrm xmlns:a="http://schemas.openxmlformats.org/drawingml/2006/main">
            <a:off x="4431600" y="5554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31.46 / 0.94</a:t>
            </a:r>
          </a:p>
        </p:txBody>
      </p:sp>
      <p:pic>
        <p:nvPicPr>
          <p:cNvPr id="66" name="">
            <a:extLst xmlns:a="http://schemas.openxmlformats.org/drawingml/2006/main">
              <a:ext uri="{FF2B5EF4-FFF2-40B4-BE49-F238E27FC236}">
                <a16:creationId xmlns:a16="http://schemas.microsoft.com/office/drawing/2014/main" id="{D5AB76D3-A952-4C0E-9AEB-DBB14EE3557F}"/>
              </a:ext>
            </a:extLst>
          </p:cNvPr>
          <p:cNvPicPr>
            <a:picLocks xmlns:a="http://schemas.openxmlformats.org/drawingml/2006/main" noChangeAspect="1"/>
          </p:cNvPicPr>
          <p:nvPr/>
        </p:nvPicPr>
        <p:blipFill>
          <a:blip xmlns:r="http://schemas.openxmlformats.org/officeDocument/2006/relationships" xmlns:a="http://schemas.openxmlformats.org/drawingml/2006/main" r:embed="R31a7012c4d4c4da4"/>
          <a:stretch xmlns:a="http://schemas.openxmlformats.org/drawingml/2006/main"/>
        </p:blipFill>
        <p:spPr>
          <a:xfrm xmlns:a="http://schemas.openxmlformats.org/drawingml/2006/main">
            <a:off x="5389200" y="4680000"/>
            <a:ext cx="846000" cy="846000"/>
          </a:xfrm>
          <a:prstGeom xmlns:a="http://schemas.openxmlformats.org/drawingml/2006/main" prst="rect">
            <a:avLst/>
          </a:prstGeom>
        </p:spPr>
      </p:pic>
      <p:sp>
        <p:nvSpPr>
          <p:cNvPr id="67" name="text-45">
            <a:extLst xmlns:a="http://schemas.openxmlformats.org/drawingml/2006/main">
              <a:ext uri="{FF2B5EF4-FFF2-40B4-BE49-F238E27FC236}">
                <a16:creationId xmlns:a16="http://schemas.microsoft.com/office/drawing/2014/main" id="{799D53D2-FB61-43E1-AF6D-BED4F59B6CA3}"/>
              </a:ext>
            </a:extLst>
          </p:cNvPr>
          <p:cNvSpPr>
            <a:spLocks xmlns:a="http://schemas.openxmlformats.org/drawingml/2006/main" noGrp="1"/>
          </p:cNvSpPr>
          <p:nvPr/>
        </p:nvSpPr>
        <p:spPr>
          <a:xfrm xmlns:a="http://schemas.openxmlformats.org/drawingml/2006/main">
            <a:off x="5389200" y="5554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30.41 / 0.93</a:t>
            </a:r>
          </a:p>
        </p:txBody>
      </p:sp>
      <p:pic>
        <p:nvPicPr>
          <p:cNvPr id="68" name="">
            <a:extLst xmlns:a="http://schemas.openxmlformats.org/drawingml/2006/main">
              <a:ext uri="{FF2B5EF4-FFF2-40B4-BE49-F238E27FC236}">
                <a16:creationId xmlns:a16="http://schemas.microsoft.com/office/drawing/2014/main" id="{2363B122-E422-4719-84CC-F4C2776584B1}"/>
              </a:ext>
            </a:extLst>
          </p:cNvPr>
          <p:cNvPicPr>
            <a:picLocks xmlns:a="http://schemas.openxmlformats.org/drawingml/2006/main" noChangeAspect="1"/>
          </p:cNvPicPr>
          <p:nvPr/>
        </p:nvPicPr>
        <p:blipFill>
          <a:blip xmlns:r="http://schemas.openxmlformats.org/officeDocument/2006/relationships" xmlns:a="http://schemas.openxmlformats.org/drawingml/2006/main" r:embed="Rd3860ab6507a4863"/>
          <a:stretch xmlns:a="http://schemas.openxmlformats.org/drawingml/2006/main"/>
        </p:blipFill>
        <p:spPr>
          <a:xfrm xmlns:a="http://schemas.openxmlformats.org/drawingml/2006/main">
            <a:off x="6346800" y="4680000"/>
            <a:ext cx="846000" cy="846000"/>
          </a:xfrm>
          <a:prstGeom xmlns:a="http://schemas.openxmlformats.org/drawingml/2006/main" prst="rect">
            <a:avLst/>
          </a:prstGeom>
        </p:spPr>
      </p:pic>
      <p:sp>
        <p:nvSpPr>
          <p:cNvPr id="69" name="text-46">
            <a:extLst xmlns:a="http://schemas.openxmlformats.org/drawingml/2006/main">
              <a:ext uri="{FF2B5EF4-FFF2-40B4-BE49-F238E27FC236}">
                <a16:creationId xmlns:a16="http://schemas.microsoft.com/office/drawing/2014/main" id="{86BDEE1A-D55F-4D9C-8824-AC27F62C0BDC}"/>
              </a:ext>
            </a:extLst>
          </p:cNvPr>
          <p:cNvSpPr>
            <a:spLocks xmlns:a="http://schemas.openxmlformats.org/drawingml/2006/main" noGrp="1"/>
          </p:cNvSpPr>
          <p:nvPr/>
        </p:nvSpPr>
        <p:spPr>
          <a:xfrm xmlns:a="http://schemas.openxmlformats.org/drawingml/2006/main">
            <a:off x="6346800" y="5554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23.51 / 0.77</a:t>
            </a:r>
          </a:p>
        </p:txBody>
      </p:sp>
      <p:pic>
        <p:nvPicPr>
          <p:cNvPr id="70" name="">
            <a:extLst xmlns:a="http://schemas.openxmlformats.org/drawingml/2006/main">
              <a:ext uri="{FF2B5EF4-FFF2-40B4-BE49-F238E27FC236}">
                <a16:creationId xmlns:a16="http://schemas.microsoft.com/office/drawing/2014/main" id="{A89C38F6-9F44-43F1-81AD-BFEDE59AE705}"/>
              </a:ext>
            </a:extLst>
          </p:cNvPr>
          <p:cNvPicPr>
            <a:picLocks xmlns:a="http://schemas.openxmlformats.org/drawingml/2006/main" noChangeAspect="1"/>
          </p:cNvPicPr>
          <p:nvPr/>
        </p:nvPicPr>
        <p:blipFill>
          <a:blip xmlns:r="http://schemas.openxmlformats.org/officeDocument/2006/relationships" xmlns:a="http://schemas.openxmlformats.org/drawingml/2006/main" r:embed="Rbd2a7222abf74831"/>
          <a:stretch xmlns:a="http://schemas.openxmlformats.org/drawingml/2006/main"/>
        </p:blipFill>
        <p:spPr>
          <a:xfrm xmlns:a="http://schemas.openxmlformats.org/drawingml/2006/main">
            <a:off x="3474000" y="5832000"/>
            <a:ext cx="846000" cy="846000"/>
          </a:xfrm>
          <a:prstGeom xmlns:a="http://schemas.openxmlformats.org/drawingml/2006/main" prst="rect">
            <a:avLst/>
          </a:prstGeom>
        </p:spPr>
      </p:pic>
      <p:sp>
        <p:nvSpPr>
          <p:cNvPr id="71" name="text-47">
            <a:extLst xmlns:a="http://schemas.openxmlformats.org/drawingml/2006/main">
              <a:ext uri="{FF2B5EF4-FFF2-40B4-BE49-F238E27FC236}">
                <a16:creationId xmlns:a16="http://schemas.microsoft.com/office/drawing/2014/main" id="{EC4CB25D-B630-4702-93C6-B5D6841005B5}"/>
              </a:ext>
            </a:extLst>
          </p:cNvPr>
          <p:cNvSpPr>
            <a:spLocks xmlns:a="http://schemas.openxmlformats.org/drawingml/2006/main" noGrp="1"/>
          </p:cNvSpPr>
          <p:nvPr/>
        </p:nvSpPr>
        <p:spPr>
          <a:xfrm xmlns:a="http://schemas.openxmlformats.org/drawingml/2006/main">
            <a:off x="3474000" y="6706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29.42 / 0.86</a:t>
            </a:r>
          </a:p>
        </p:txBody>
      </p:sp>
      <p:pic>
        <p:nvPicPr>
          <p:cNvPr id="72" name="">
            <a:extLst xmlns:a="http://schemas.openxmlformats.org/drawingml/2006/main">
              <a:ext uri="{FF2B5EF4-FFF2-40B4-BE49-F238E27FC236}">
                <a16:creationId xmlns:a16="http://schemas.microsoft.com/office/drawing/2014/main" id="{D5A2DE19-A9F5-4F73-B358-A750EC536581}"/>
              </a:ext>
            </a:extLst>
          </p:cNvPr>
          <p:cNvPicPr>
            <a:picLocks xmlns:a="http://schemas.openxmlformats.org/drawingml/2006/main" noChangeAspect="1"/>
          </p:cNvPicPr>
          <p:nvPr/>
        </p:nvPicPr>
        <p:blipFill>
          <a:blip xmlns:r="http://schemas.openxmlformats.org/officeDocument/2006/relationships" xmlns:a="http://schemas.openxmlformats.org/drawingml/2006/main" r:embed="Rb6a229f99f99487f"/>
          <a:stretch xmlns:a="http://schemas.openxmlformats.org/drawingml/2006/main"/>
        </p:blipFill>
        <p:spPr>
          <a:xfrm xmlns:a="http://schemas.openxmlformats.org/drawingml/2006/main">
            <a:off x="4431600" y="5832000"/>
            <a:ext cx="846000" cy="846000"/>
          </a:xfrm>
          <a:prstGeom xmlns:a="http://schemas.openxmlformats.org/drawingml/2006/main" prst="rect">
            <a:avLst/>
          </a:prstGeom>
        </p:spPr>
      </p:pic>
      <p:sp>
        <p:nvSpPr>
          <p:cNvPr id="73" name="text-48">
            <a:extLst xmlns:a="http://schemas.openxmlformats.org/drawingml/2006/main">
              <a:ext uri="{FF2B5EF4-FFF2-40B4-BE49-F238E27FC236}">
                <a16:creationId xmlns:a16="http://schemas.microsoft.com/office/drawing/2014/main" id="{9F287627-2B94-4F7D-8218-7B97678912BD}"/>
              </a:ext>
            </a:extLst>
          </p:cNvPr>
          <p:cNvSpPr>
            <a:spLocks xmlns:a="http://schemas.openxmlformats.org/drawingml/2006/main" noGrp="1"/>
          </p:cNvSpPr>
          <p:nvPr/>
        </p:nvSpPr>
        <p:spPr>
          <a:xfrm xmlns:a="http://schemas.openxmlformats.org/drawingml/2006/main">
            <a:off x="4431600" y="6706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14.33 / 0.63</a:t>
            </a:r>
          </a:p>
        </p:txBody>
      </p:sp>
      <p:pic>
        <p:nvPicPr>
          <p:cNvPr id="74" name="">
            <a:extLst xmlns:a="http://schemas.openxmlformats.org/drawingml/2006/main">
              <a:ext uri="{FF2B5EF4-FFF2-40B4-BE49-F238E27FC236}">
                <a16:creationId xmlns:a16="http://schemas.microsoft.com/office/drawing/2014/main" id="{BB9983F1-CB2D-41F1-B897-CED728A79B53}"/>
              </a:ext>
            </a:extLst>
          </p:cNvPr>
          <p:cNvPicPr>
            <a:picLocks xmlns:a="http://schemas.openxmlformats.org/drawingml/2006/main" noChangeAspect="1"/>
          </p:cNvPicPr>
          <p:nvPr/>
        </p:nvPicPr>
        <p:blipFill>
          <a:blip xmlns:r="http://schemas.openxmlformats.org/officeDocument/2006/relationships" xmlns:a="http://schemas.openxmlformats.org/drawingml/2006/main" r:embed="R9f4cef52dcec4abe"/>
          <a:stretch xmlns:a="http://schemas.openxmlformats.org/drawingml/2006/main"/>
        </p:blipFill>
        <p:spPr>
          <a:xfrm xmlns:a="http://schemas.openxmlformats.org/drawingml/2006/main">
            <a:off x="5389200" y="5832000"/>
            <a:ext cx="846000" cy="846000"/>
          </a:xfrm>
          <a:prstGeom xmlns:a="http://schemas.openxmlformats.org/drawingml/2006/main" prst="rect">
            <a:avLst/>
          </a:prstGeom>
        </p:spPr>
      </p:pic>
      <p:sp>
        <p:nvSpPr>
          <p:cNvPr id="75" name="text-49">
            <a:extLst xmlns:a="http://schemas.openxmlformats.org/drawingml/2006/main">
              <a:ext uri="{FF2B5EF4-FFF2-40B4-BE49-F238E27FC236}">
                <a16:creationId xmlns:a16="http://schemas.microsoft.com/office/drawing/2014/main" id="{41C0D841-FB53-45D4-ABEF-46944EF1589B}"/>
              </a:ext>
            </a:extLst>
          </p:cNvPr>
          <p:cNvSpPr>
            <a:spLocks xmlns:a="http://schemas.openxmlformats.org/drawingml/2006/main" noGrp="1"/>
          </p:cNvSpPr>
          <p:nvPr/>
        </p:nvSpPr>
        <p:spPr>
          <a:xfrm xmlns:a="http://schemas.openxmlformats.org/drawingml/2006/main">
            <a:off x="5389200" y="6706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9.48 / 0.16</a:t>
            </a:r>
          </a:p>
        </p:txBody>
      </p:sp>
      <p:sp>
        <p:nvSpPr>
          <p:cNvPr id="76" name="box-50">
            <a:extLst xmlns:a="http://schemas.openxmlformats.org/drawingml/2006/main">
              <a:ext uri="{FF2B5EF4-FFF2-40B4-BE49-F238E27FC236}">
                <a16:creationId xmlns:a16="http://schemas.microsoft.com/office/drawing/2014/main" id="{75443735-F8D6-4B31-8A45-905783B4ACE1}"/>
              </a:ext>
            </a:extLst>
          </p:cNvPr>
          <p:cNvSpPr>
            <a:spLocks xmlns:a="http://schemas.openxmlformats.org/drawingml/2006/main" noGrp="1"/>
          </p:cNvSpPr>
          <p:nvPr/>
        </p:nvSpPr>
        <p:spPr>
          <a:xfrm xmlns:a="http://schemas.openxmlformats.org/drawingml/2006/main">
            <a:off x="6346800" y="5832000"/>
            <a:ext cx="846000" cy="846000"/>
          </a:xfrm>
          <a:prstGeom xmlns:a="http://schemas.openxmlformats.org/drawingml/2006/main" prst="rect">
            <a:avLst/>
          </a:prstGeom>
          <a:solidFill xmlns:a="http://schemas.openxmlformats.org/drawingml/2006/main">
            <a:srgbClr val="808080"/>
          </a:solidFill>
          <a:ln xmlns:a="http://schemas.openxmlformats.org/drawingml/2006/main" w="0">
            <a:noFill/>
          </a:ln>
        </p:spPr>
        <p:txBody xmlns:a="http://schemas.openxmlformats.org/drawingml/2006/main">
          <a:bodyPr/>
          <a:p/>
        </p:txBody>
      </p:sp>
      <p:sp>
        <p:nvSpPr>
          <p:cNvPr id="77" name="text-51">
            <a:extLst xmlns:a="http://schemas.openxmlformats.org/drawingml/2006/main">
              <a:ext uri="{FF2B5EF4-FFF2-40B4-BE49-F238E27FC236}">
                <a16:creationId xmlns:a16="http://schemas.microsoft.com/office/drawing/2014/main" id="{72213AE9-8F0B-45DA-AEDE-8B783914A90A}"/>
              </a:ext>
            </a:extLst>
          </p:cNvPr>
          <p:cNvSpPr>
            <a:spLocks xmlns:a="http://schemas.openxmlformats.org/drawingml/2006/main" noGrp="1"/>
          </p:cNvSpPr>
          <p:nvPr/>
        </p:nvSpPr>
        <p:spPr>
          <a:xfrm xmlns:a="http://schemas.openxmlformats.org/drawingml/2006/main">
            <a:off x="6382800" y="6120000"/>
            <a:ext cx="774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FFFFFF"/>
                </a:solidFill>
                <a:latin typeface="Calibri"/>
                <a:ea typeface="Calibri"/>
                <a:cs typeface="Calibri"/>
              </a:defRPr>
            </a:defPPr>
          </a:lstStyle>
          <a:p xmlns:a="http://schemas.openxmlformats.org/drawingml/2006/main">
            <a:pPr algn="ctr">
              <a:defRPr sz="850" b="1">
                <a:solidFill>
                  <a:srgbClr val="FFFFFF"/>
                </a:solidFill>
                <a:latin typeface="Calibri"/>
                <a:ea typeface="Calibri"/>
                <a:cs typeface="Calibri"/>
              </a:defRPr>
            </a:pPr>
            <a:r>
              <a:rPr sz="850" b="1">
                <a:solidFill>
                  <a:srgbClr val="FFFFFF"/>
                </a:solidFill>
                <a:latin typeface="Calibri"/>
                <a:ea typeface="Calibri"/>
                <a:cs typeface="Calibri"/>
              </a:rPr>
              <a:t>No decodable</a:t>
            </a:r>
          </a:p>
          <a:p xmlns:a="http://schemas.openxmlformats.org/drawingml/2006/main">
            <a:pPr algn="ctr">
              <a:defRPr sz="850" b="1">
                <a:solidFill>
                  <a:srgbClr val="FFFFFF"/>
                </a:solidFill>
                <a:latin typeface="Calibri"/>
                <a:ea typeface="Calibri"/>
                <a:cs typeface="Calibri"/>
              </a:defRPr>
            </a:pPr>
            <a:r>
              <a:rPr sz="850" b="1">
                <a:solidFill>
                  <a:srgbClr val="FFFFFF"/>
                </a:solidFill>
                <a:latin typeface="Calibri"/>
                <a:ea typeface="Calibri"/>
                <a:cs typeface="Calibri"/>
              </a:rPr>
              <a:t>frame</a:t>
            </a:r>
          </a:p>
        </p:txBody>
      </p:sp>
      <p:sp>
        <p:nvSpPr>
          <p:cNvPr id="78" name="text-52">
            <a:extLst xmlns:a="http://schemas.openxmlformats.org/drawingml/2006/main">
              <a:ext uri="{FF2B5EF4-FFF2-40B4-BE49-F238E27FC236}">
                <a16:creationId xmlns:a16="http://schemas.microsoft.com/office/drawing/2014/main" id="{318E0B95-E405-440A-BC1C-0C528363FD1F}"/>
              </a:ext>
            </a:extLst>
          </p:cNvPr>
          <p:cNvSpPr>
            <a:spLocks xmlns:a="http://schemas.openxmlformats.org/drawingml/2006/main" noGrp="1"/>
          </p:cNvSpPr>
          <p:nvPr/>
        </p:nvSpPr>
        <p:spPr>
          <a:xfrm xmlns:a="http://schemas.openxmlformats.org/drawingml/2006/main">
            <a:off x="6346800" y="6706800"/>
            <a:ext cx="84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N/A</a:t>
            </a:r>
          </a:p>
        </p:txBody>
      </p:sp>
      <p:sp>
        <p:nvSpPr>
          <p:cNvPr id="79" name="text-53">
            <a:extLst xmlns:a="http://schemas.openxmlformats.org/drawingml/2006/main">
              <a:ext uri="{FF2B5EF4-FFF2-40B4-BE49-F238E27FC236}">
                <a16:creationId xmlns:a16="http://schemas.microsoft.com/office/drawing/2014/main" id="{EEC08709-BC03-4D08-8B22-5B4F33986307}"/>
              </a:ext>
            </a:extLst>
          </p:cNvPr>
          <p:cNvSpPr>
            <a:spLocks xmlns:a="http://schemas.openxmlformats.org/drawingml/2006/main" noGrp="1"/>
          </p:cNvSpPr>
          <p:nvPr/>
        </p:nvSpPr>
        <p:spPr>
          <a:xfrm xmlns:a="http://schemas.openxmlformats.org/drawingml/2006/main">
            <a:off x="2700000" y="6912000"/>
            <a:ext cx="4572000" cy="4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465B6A"/>
                </a:solidFill>
                <a:latin typeface="Calibri"/>
                <a:ea typeface="Calibri"/>
                <a:cs typeface="Calibri"/>
              </a:defRPr>
            </a:defPPr>
          </a:lstStyle>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Matched TX attenuation; column SNR of the DeepJSCC-Q frames.</a:t>
            </a:r>
          </a:p>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Curve: window means. Images: frame PSNR (dB) / SSIM.</a:t>
            </a:r>
          </a:p>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Decode failures are scored as mid-gray.</a:t>
            </a:r>
          </a:p>
        </p:txBody>
      </p:sp>
      <p:sp>
        <p:nvSpPr>
          <p:cNvPr id="80" name="text-54">
            <a:extLst xmlns:a="http://schemas.openxmlformats.org/drawingml/2006/main">
              <a:ext uri="{FF2B5EF4-FFF2-40B4-BE49-F238E27FC236}">
                <a16:creationId xmlns:a16="http://schemas.microsoft.com/office/drawing/2014/main" id="{38A078DE-0657-4017-81F2-8FBF67FC7A48}"/>
              </a:ext>
            </a:extLst>
          </p:cNvPr>
          <p:cNvSpPr>
            <a:spLocks xmlns:a="http://schemas.openxmlformats.org/drawingml/2006/main" noGrp="1"/>
          </p:cNvSpPr>
          <p:nvPr/>
        </p:nvSpPr>
        <p:spPr>
          <a:xfrm xmlns:a="http://schemas.openxmlformats.org/drawingml/2006/main">
            <a:off x="288000" y="7668000"/>
            <a:ext cx="3348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B4F8A"/>
                </a:solidFill>
                <a:latin typeface="Calibri"/>
                <a:ea typeface="Calibri"/>
                <a:cs typeface="Calibri"/>
              </a:defRPr>
            </a:defPPr>
          </a:lstStyle>
          <a:p xmlns:a="http://schemas.openxmlformats.org/drawingml/2006/main">
            <a:pPr algn="l">
              <a:defRPr sz="1150" b="1">
                <a:solidFill>
                  <a:srgbClr val="0B4F8A"/>
                </a:solidFill>
                <a:latin typeface="Calibri"/>
                <a:ea typeface="Calibri"/>
                <a:cs typeface="Calibri"/>
              </a:defRPr>
            </a:pPr>
            <a:r>
              <a:rPr sz="1150" b="1">
                <a:solidFill>
                  <a:srgbClr val="0B4F8A"/>
                </a:solidFill>
                <a:latin typeface="Calibri"/>
                <a:ea typeface="Calibri"/>
                <a:cs typeface="Calibri"/>
              </a:rPr>
              <a:t>Streaming FPGA implementation</a:t>
            </a:r>
          </a:p>
        </p:txBody>
      </p:sp>
      <p:sp>
        <p:nvSpPr>
          <p:cNvPr id="81" name="text-55">
            <a:extLst xmlns:a="http://schemas.openxmlformats.org/drawingml/2006/main">
              <a:ext uri="{FF2B5EF4-FFF2-40B4-BE49-F238E27FC236}">
                <a16:creationId xmlns:a16="http://schemas.microsoft.com/office/drawing/2014/main" id="{620D8E83-F006-404E-8DF1-8E9D4D423951}"/>
              </a:ext>
            </a:extLst>
          </p:cNvPr>
          <p:cNvSpPr>
            <a:spLocks xmlns:a="http://schemas.openxmlformats.org/drawingml/2006/main" noGrp="1"/>
          </p:cNvSpPr>
          <p:nvPr/>
        </p:nvSpPr>
        <p:spPr>
          <a:xfrm xmlns:a="http://schemas.openxmlformats.org/drawingml/2006/main">
            <a:off x="288000" y="7884000"/>
            <a:ext cx="3348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0">
                <a:solidFill>
                  <a:srgbClr val="465B6A"/>
                </a:solidFill>
                <a:latin typeface="Calibri"/>
                <a:ea typeface="Calibri"/>
                <a:cs typeface="Calibri"/>
              </a:defRPr>
            </a:defPPr>
          </a:lstStyle>
          <a:p xmlns:a="http://schemas.openxmlformats.org/drawingml/2006/main">
            <a:pPr algn="l">
              <a:defRPr sz="950" b="0">
                <a:solidFill>
                  <a:srgbClr val="465B6A"/>
                </a:solidFill>
                <a:latin typeface="Calibri"/>
                <a:ea typeface="Calibri"/>
                <a:cs typeface="Calibri"/>
              </a:defRPr>
            </a:pPr>
            <a:r>
              <a:rPr sz="950" b="0">
                <a:solidFill>
                  <a:srgbClr val="465B6A"/>
                </a:solidFill>
                <a:latin typeface="Calibri"/>
                <a:ea typeface="Calibri"/>
                <a:cs typeface="Calibri"/>
              </a:rPr>
              <a:t>250 MHz, W8A12, 1.15 GMAC/frame</a:t>
            </a:r>
          </a:p>
        </p:txBody>
      </p:sp>
      <p:sp>
        <p:nvSpPr>
          <p:cNvPr id="82" name="module: Line buffer">
            <a:extLst xmlns:a="http://schemas.openxmlformats.org/drawingml/2006/main">
              <a:ext uri="{FF2B5EF4-FFF2-40B4-BE49-F238E27FC236}">
                <a16:creationId xmlns:a16="http://schemas.microsoft.com/office/drawing/2014/main" id="{57BD325E-52F2-4BE6-A9E8-A68B2DBF0AF7}"/>
              </a:ext>
            </a:extLst>
          </p:cNvPr>
          <p:cNvSpPr>
            <a:spLocks xmlns:a="http://schemas.openxmlformats.org/drawingml/2006/main" noGrp="1"/>
          </p:cNvSpPr>
          <p:nvPr/>
        </p:nvSpPr>
        <p:spPr>
          <a:xfrm xmlns:a="http://schemas.openxmlformats.org/drawingml/2006/main">
            <a:off x="288000" y="8388000"/>
            <a:ext cx="723600" cy="360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txBody xmlns:a="http://schemas.openxmlformats.org/drawingml/2006/main">
          <a:bodyPr/>
          <a:p/>
        </p:txBody>
      </p:sp>
      <p:sp>
        <p:nvSpPr>
          <p:cNvPr id="83" name="text-56">
            <a:extLst xmlns:a="http://schemas.openxmlformats.org/drawingml/2006/main">
              <a:ext uri="{FF2B5EF4-FFF2-40B4-BE49-F238E27FC236}">
                <a16:creationId xmlns:a16="http://schemas.microsoft.com/office/drawing/2014/main" id="{4AF327E1-FF02-45F6-9B8F-5B39EAFCD051}"/>
              </a:ext>
            </a:extLst>
          </p:cNvPr>
          <p:cNvSpPr>
            <a:spLocks xmlns:a="http://schemas.openxmlformats.org/drawingml/2006/main" noGrp="1"/>
          </p:cNvSpPr>
          <p:nvPr/>
        </p:nvSpPr>
        <p:spPr>
          <a:xfrm xmlns:a="http://schemas.openxmlformats.org/drawingml/2006/main">
            <a:off x="309600" y="8427600"/>
            <a:ext cx="6804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20303D"/>
                </a:solidFill>
                <a:latin typeface="Calibri"/>
                <a:ea typeface="Calibri"/>
                <a:cs typeface="Calibri"/>
              </a:defRPr>
            </a:defPPr>
          </a:lstStyle>
          <a:p xmlns:a="http://schemas.openxmlformats.org/drawingml/2006/main">
            <a:pPr algn="ctr">
              <a:defRPr sz="850" b="1">
                <a:solidFill>
                  <a:srgbClr val="20303D"/>
                </a:solidFill>
                <a:latin typeface="Calibri"/>
                <a:ea typeface="Calibri"/>
                <a:cs typeface="Calibri"/>
              </a:defRPr>
            </a:pPr>
            <a:r>
              <a:rPr sz="850" b="1">
                <a:solidFill>
                  <a:srgbClr val="20303D"/>
                </a:solidFill>
                <a:latin typeface="Calibri"/>
                <a:ea typeface="Calibri"/>
                <a:cs typeface="Calibri"/>
              </a:rPr>
              <a:t>Line buffer</a:t>
            </a:r>
          </a:p>
        </p:txBody>
      </p:sp>
      <p:sp>
        <p:nvSpPr>
          <p:cNvPr id="84" name="text-57">
            <a:extLst xmlns:a="http://schemas.openxmlformats.org/drawingml/2006/main">
              <a:ext uri="{FF2B5EF4-FFF2-40B4-BE49-F238E27FC236}">
                <a16:creationId xmlns:a16="http://schemas.microsoft.com/office/drawing/2014/main" id="{D8B76CB0-B00F-48B7-8EDA-D6F525A404C6}"/>
              </a:ext>
            </a:extLst>
          </p:cNvPr>
          <p:cNvSpPr>
            <a:spLocks xmlns:a="http://schemas.openxmlformats.org/drawingml/2006/main" noGrp="1"/>
          </p:cNvSpPr>
          <p:nvPr/>
        </p:nvSpPr>
        <p:spPr>
          <a:xfrm xmlns:a="http://schemas.openxmlformats.org/drawingml/2006/main">
            <a:off x="306000" y="8596800"/>
            <a:ext cx="6876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K or K+1 rows</a:t>
            </a:r>
          </a:p>
        </p:txBody>
      </p:sp>
      <p:sp>
        <p:nvSpPr>
          <p:cNvPr id="85" name="module: Window">
            <a:extLst xmlns:a="http://schemas.openxmlformats.org/drawingml/2006/main">
              <a:ext uri="{FF2B5EF4-FFF2-40B4-BE49-F238E27FC236}">
                <a16:creationId xmlns:a16="http://schemas.microsoft.com/office/drawing/2014/main" id="{5C92C5B0-0A3A-4E56-B067-63CECD970923}"/>
              </a:ext>
            </a:extLst>
          </p:cNvPr>
          <p:cNvSpPr>
            <a:spLocks xmlns:a="http://schemas.openxmlformats.org/drawingml/2006/main" noGrp="1"/>
          </p:cNvSpPr>
          <p:nvPr/>
        </p:nvSpPr>
        <p:spPr>
          <a:xfrm xmlns:a="http://schemas.openxmlformats.org/drawingml/2006/main">
            <a:off x="1162800" y="8388000"/>
            <a:ext cx="723600" cy="360000"/>
          </a:xfrm>
          <a:prstGeom xmlns:a="http://schemas.openxmlformats.org/drawingml/2006/main" prst="rect">
            <a:avLst/>
          </a:prstGeom>
          <a:solidFill xmlns:a="http://schemas.openxmlformats.org/drawingml/2006/main">
            <a:srgbClr val="EEF4F8"/>
          </a:solidFill>
          <a:ln xmlns:a="http://schemas.openxmlformats.org/drawingml/2006/main" w="5715">
            <a:solidFill>
              <a:srgbClr val="0B4F8A"/>
            </a:solidFill>
          </a:ln>
        </p:spPr>
        <p:txBody xmlns:a="http://schemas.openxmlformats.org/drawingml/2006/main">
          <a:bodyPr/>
          <a:p/>
        </p:txBody>
      </p:sp>
      <p:sp>
        <p:nvSpPr>
          <p:cNvPr id="86" name="text-58">
            <a:extLst xmlns:a="http://schemas.openxmlformats.org/drawingml/2006/main">
              <a:ext uri="{FF2B5EF4-FFF2-40B4-BE49-F238E27FC236}">
                <a16:creationId xmlns:a16="http://schemas.microsoft.com/office/drawing/2014/main" id="{A990A6AF-8505-434B-8DC4-4985DB9E3C8C}"/>
              </a:ext>
            </a:extLst>
          </p:cNvPr>
          <p:cNvSpPr>
            <a:spLocks xmlns:a="http://schemas.openxmlformats.org/drawingml/2006/main" noGrp="1"/>
          </p:cNvSpPr>
          <p:nvPr/>
        </p:nvSpPr>
        <p:spPr>
          <a:xfrm xmlns:a="http://schemas.openxmlformats.org/drawingml/2006/main">
            <a:off x="1184400" y="8427600"/>
            <a:ext cx="6804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20303D"/>
                </a:solidFill>
                <a:latin typeface="Calibri"/>
                <a:ea typeface="Calibri"/>
                <a:cs typeface="Calibri"/>
              </a:defRPr>
            </a:defPPr>
          </a:lstStyle>
          <a:p xmlns:a="http://schemas.openxmlformats.org/drawingml/2006/main">
            <a:pPr algn="ctr">
              <a:defRPr sz="850" b="1">
                <a:solidFill>
                  <a:srgbClr val="20303D"/>
                </a:solidFill>
                <a:latin typeface="Calibri"/>
                <a:ea typeface="Calibri"/>
                <a:cs typeface="Calibri"/>
              </a:defRPr>
            </a:pPr>
            <a:r>
              <a:rPr sz="850" b="1">
                <a:solidFill>
                  <a:srgbClr val="20303D"/>
                </a:solidFill>
                <a:latin typeface="Calibri"/>
                <a:ea typeface="Calibri"/>
                <a:cs typeface="Calibri"/>
              </a:rPr>
              <a:t>Window</a:t>
            </a:r>
          </a:p>
        </p:txBody>
      </p:sp>
      <p:sp>
        <p:nvSpPr>
          <p:cNvPr id="87" name="text-59">
            <a:extLst xmlns:a="http://schemas.openxmlformats.org/drawingml/2006/main">
              <a:ext uri="{FF2B5EF4-FFF2-40B4-BE49-F238E27FC236}">
                <a16:creationId xmlns:a16="http://schemas.microsoft.com/office/drawing/2014/main" id="{8A65F198-BDEA-4CFA-BCC1-4A23BCF973FA}"/>
              </a:ext>
            </a:extLst>
          </p:cNvPr>
          <p:cNvSpPr>
            <a:spLocks xmlns:a="http://schemas.openxmlformats.org/drawingml/2006/main" noGrp="1"/>
          </p:cNvSpPr>
          <p:nvPr/>
        </p:nvSpPr>
        <p:spPr>
          <a:xfrm xmlns:a="http://schemas.openxmlformats.org/drawingml/2006/main">
            <a:off x="1180800" y="8596800"/>
            <a:ext cx="6876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K × K × Cin</a:t>
            </a:r>
          </a:p>
        </p:txBody>
      </p:sp>
      <p:sp>
        <p:nvSpPr>
          <p:cNvPr id="88" name="module: P MAC lanes">
            <a:extLst xmlns:a="http://schemas.openxmlformats.org/drawingml/2006/main">
              <a:ext uri="{FF2B5EF4-FFF2-40B4-BE49-F238E27FC236}">
                <a16:creationId xmlns:a16="http://schemas.microsoft.com/office/drawing/2014/main" id="{3A1817A3-51A4-463F-9564-80540E71B0C5}"/>
              </a:ext>
            </a:extLst>
          </p:cNvPr>
          <p:cNvSpPr>
            <a:spLocks xmlns:a="http://schemas.openxmlformats.org/drawingml/2006/main" noGrp="1"/>
          </p:cNvSpPr>
          <p:nvPr/>
        </p:nvSpPr>
        <p:spPr>
          <a:xfrm xmlns:a="http://schemas.openxmlformats.org/drawingml/2006/main">
            <a:off x="2037600" y="8388000"/>
            <a:ext cx="756000" cy="360000"/>
          </a:xfrm>
          <a:prstGeom xmlns:a="http://schemas.openxmlformats.org/drawingml/2006/main" prst="rect">
            <a:avLst/>
          </a:prstGeom>
          <a:solidFill xmlns:a="http://schemas.openxmlformats.org/drawingml/2006/main">
            <a:srgbClr val="FFF3CC"/>
          </a:solidFill>
          <a:ln xmlns:a="http://schemas.openxmlformats.org/drawingml/2006/main" w="5715">
            <a:solidFill>
              <a:srgbClr val="0B4F8A"/>
            </a:solidFill>
          </a:ln>
        </p:spPr>
        <p:txBody xmlns:a="http://schemas.openxmlformats.org/drawingml/2006/main">
          <a:bodyPr/>
          <a:p/>
        </p:txBody>
      </p:sp>
      <p:sp>
        <p:nvSpPr>
          <p:cNvPr id="89" name="text-60">
            <a:extLst xmlns:a="http://schemas.openxmlformats.org/drawingml/2006/main">
              <a:ext uri="{FF2B5EF4-FFF2-40B4-BE49-F238E27FC236}">
                <a16:creationId xmlns:a16="http://schemas.microsoft.com/office/drawing/2014/main" id="{715BA589-C8B2-4BD1-A251-B22F54A9DB6B}"/>
              </a:ext>
            </a:extLst>
          </p:cNvPr>
          <p:cNvSpPr>
            <a:spLocks xmlns:a="http://schemas.openxmlformats.org/drawingml/2006/main" noGrp="1"/>
          </p:cNvSpPr>
          <p:nvPr/>
        </p:nvSpPr>
        <p:spPr>
          <a:xfrm xmlns:a="http://schemas.openxmlformats.org/drawingml/2006/main">
            <a:off x="2059200" y="8427600"/>
            <a:ext cx="712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20303D"/>
                </a:solidFill>
                <a:latin typeface="Calibri"/>
                <a:ea typeface="Calibri"/>
                <a:cs typeface="Calibri"/>
              </a:defRPr>
            </a:defPPr>
          </a:lstStyle>
          <a:p xmlns:a="http://schemas.openxmlformats.org/drawingml/2006/main">
            <a:pPr algn="ctr">
              <a:defRPr sz="850" b="1">
                <a:solidFill>
                  <a:srgbClr val="20303D"/>
                </a:solidFill>
                <a:latin typeface="Calibri"/>
                <a:ea typeface="Calibri"/>
                <a:cs typeface="Calibri"/>
              </a:defRPr>
            </a:pPr>
            <a:r>
              <a:rPr sz="850" b="1">
                <a:solidFill>
                  <a:srgbClr val="20303D"/>
                </a:solidFill>
                <a:latin typeface="Calibri"/>
                <a:ea typeface="Calibri"/>
                <a:cs typeface="Calibri"/>
              </a:rPr>
              <a:t>P MAC lanes</a:t>
            </a:r>
          </a:p>
        </p:txBody>
      </p:sp>
      <p:sp>
        <p:nvSpPr>
          <p:cNvPr id="90" name="text-61">
            <a:extLst xmlns:a="http://schemas.openxmlformats.org/drawingml/2006/main">
              <a:ext uri="{FF2B5EF4-FFF2-40B4-BE49-F238E27FC236}">
                <a16:creationId xmlns:a16="http://schemas.microsoft.com/office/drawing/2014/main" id="{F790F3F3-232C-44C2-8FDC-6F3CA09EE9F7}"/>
              </a:ext>
            </a:extLst>
          </p:cNvPr>
          <p:cNvSpPr>
            <a:spLocks xmlns:a="http://schemas.openxmlformats.org/drawingml/2006/main" noGrp="1"/>
          </p:cNvSpPr>
          <p:nvPr/>
        </p:nvSpPr>
        <p:spPr>
          <a:xfrm xmlns:a="http://schemas.openxmlformats.org/drawingml/2006/main">
            <a:off x="2055600" y="8596800"/>
            <a:ext cx="7200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P accumulators</a:t>
            </a:r>
          </a:p>
        </p:txBody>
      </p:sp>
      <p:sp>
        <p:nvSpPr>
          <p:cNvPr id="91" name="module: Requantize">
            <a:extLst xmlns:a="http://schemas.openxmlformats.org/drawingml/2006/main">
              <a:ext uri="{FF2B5EF4-FFF2-40B4-BE49-F238E27FC236}">
                <a16:creationId xmlns:a16="http://schemas.microsoft.com/office/drawing/2014/main" id="{DC2E52E1-4ED4-4ABF-8CF4-936933A5004B}"/>
              </a:ext>
            </a:extLst>
          </p:cNvPr>
          <p:cNvSpPr>
            <a:spLocks xmlns:a="http://schemas.openxmlformats.org/drawingml/2006/main" noGrp="1"/>
          </p:cNvSpPr>
          <p:nvPr/>
        </p:nvSpPr>
        <p:spPr>
          <a:xfrm xmlns:a="http://schemas.openxmlformats.org/drawingml/2006/main">
            <a:off x="2912400" y="8388000"/>
            <a:ext cx="723600" cy="360000"/>
          </a:xfrm>
          <a:prstGeom xmlns:a="http://schemas.openxmlformats.org/drawingml/2006/main" prst="rect">
            <a:avLst/>
          </a:prstGeom>
          <a:solidFill xmlns:a="http://schemas.openxmlformats.org/drawingml/2006/main">
            <a:srgbClr val="FFF3CC"/>
          </a:solidFill>
          <a:ln xmlns:a="http://schemas.openxmlformats.org/drawingml/2006/main" w="5715">
            <a:solidFill>
              <a:srgbClr val="0B4F8A"/>
            </a:solidFill>
          </a:ln>
        </p:spPr>
        <p:txBody xmlns:a="http://schemas.openxmlformats.org/drawingml/2006/main">
          <a:bodyPr/>
          <a:p/>
        </p:txBody>
      </p:sp>
      <p:sp>
        <p:nvSpPr>
          <p:cNvPr id="92" name="text-62">
            <a:extLst xmlns:a="http://schemas.openxmlformats.org/drawingml/2006/main">
              <a:ext uri="{FF2B5EF4-FFF2-40B4-BE49-F238E27FC236}">
                <a16:creationId xmlns:a16="http://schemas.microsoft.com/office/drawing/2014/main" id="{D4285D06-CAE8-4988-A046-9A900B5084E6}"/>
              </a:ext>
            </a:extLst>
          </p:cNvPr>
          <p:cNvSpPr>
            <a:spLocks xmlns:a="http://schemas.openxmlformats.org/drawingml/2006/main" noGrp="1"/>
          </p:cNvSpPr>
          <p:nvPr/>
        </p:nvSpPr>
        <p:spPr>
          <a:xfrm xmlns:a="http://schemas.openxmlformats.org/drawingml/2006/main">
            <a:off x="2934000" y="8427600"/>
            <a:ext cx="6804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20303D"/>
                </a:solidFill>
                <a:latin typeface="Calibri"/>
                <a:ea typeface="Calibri"/>
                <a:cs typeface="Calibri"/>
              </a:defRPr>
            </a:defPPr>
          </a:lstStyle>
          <a:p xmlns:a="http://schemas.openxmlformats.org/drawingml/2006/main">
            <a:pPr algn="ctr">
              <a:defRPr sz="850" b="1">
                <a:solidFill>
                  <a:srgbClr val="20303D"/>
                </a:solidFill>
                <a:latin typeface="Calibri"/>
                <a:ea typeface="Calibri"/>
                <a:cs typeface="Calibri"/>
              </a:defRPr>
            </a:pPr>
            <a:r>
              <a:rPr sz="850" b="1">
                <a:solidFill>
                  <a:srgbClr val="20303D"/>
                </a:solidFill>
                <a:latin typeface="Calibri"/>
                <a:ea typeface="Calibri"/>
                <a:cs typeface="Calibri"/>
              </a:rPr>
              <a:t>Requantize</a:t>
            </a:r>
          </a:p>
        </p:txBody>
      </p:sp>
      <p:sp>
        <p:nvSpPr>
          <p:cNvPr id="93" name="text-63">
            <a:extLst xmlns:a="http://schemas.openxmlformats.org/drawingml/2006/main">
              <a:ext uri="{FF2B5EF4-FFF2-40B4-BE49-F238E27FC236}">
                <a16:creationId xmlns:a16="http://schemas.microsoft.com/office/drawing/2014/main" id="{02A64247-DCE1-4629-BA75-3D782AEC99B8}"/>
              </a:ext>
            </a:extLst>
          </p:cNvPr>
          <p:cNvSpPr>
            <a:spLocks xmlns:a="http://schemas.openxmlformats.org/drawingml/2006/main" noGrp="1"/>
          </p:cNvSpPr>
          <p:nvPr/>
        </p:nvSpPr>
        <p:spPr>
          <a:xfrm xmlns:a="http://schemas.openxmlformats.org/drawingml/2006/main">
            <a:off x="2930400" y="8596800"/>
            <a:ext cx="687600" cy="15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0">
                <a:solidFill>
                  <a:srgbClr val="465B6A"/>
                </a:solidFill>
                <a:latin typeface="Calibri"/>
                <a:ea typeface="Calibri"/>
                <a:cs typeface="Calibri"/>
              </a:defRPr>
            </a:defPPr>
          </a:lstStyle>
          <a:p xmlns:a="http://schemas.openxmlformats.org/drawingml/2006/main">
            <a:pPr algn="ctr">
              <a:defRPr sz="850" b="0">
                <a:solidFill>
                  <a:srgbClr val="465B6A"/>
                </a:solidFill>
                <a:latin typeface="Calibri"/>
                <a:ea typeface="Calibri"/>
                <a:cs typeface="Calibri"/>
              </a:defRPr>
            </a:pPr>
            <a:r>
              <a:rPr sz="850" b="0">
                <a:solidFill>
                  <a:srgbClr val="465B6A"/>
                </a:solidFill>
                <a:latin typeface="Calibri"/>
                <a:ea typeface="Calibri"/>
                <a:cs typeface="Calibri"/>
              </a:rPr>
              <a:t>Bias, act., shift</a:t>
            </a:r>
          </a:p>
        </p:txBody>
      </p:sp>
      <p:sp>
        <p:nvSpPr>
          <p:cNvPr id="97" name="module: Weight ROM">
            <a:extLst xmlns:a="http://schemas.openxmlformats.org/drawingml/2006/main">
              <a:ext uri="{FF2B5EF4-FFF2-40B4-BE49-F238E27FC236}">
                <a16:creationId xmlns:a16="http://schemas.microsoft.com/office/drawing/2014/main" id="{CFC0D724-14FC-4195-B513-37CD4D41BAD5}"/>
              </a:ext>
            </a:extLst>
          </p:cNvPr>
          <p:cNvSpPr>
            <a:spLocks xmlns:a="http://schemas.openxmlformats.org/drawingml/2006/main" noGrp="1"/>
          </p:cNvSpPr>
          <p:nvPr/>
        </p:nvSpPr>
        <p:spPr>
          <a:xfrm xmlns:a="http://schemas.openxmlformats.org/drawingml/2006/main">
            <a:off x="2037600" y="8100000"/>
            <a:ext cx="756000" cy="223200"/>
          </a:xfrm>
          <a:prstGeom xmlns:a="http://schemas.openxmlformats.org/drawingml/2006/main" prst="rect">
            <a:avLst/>
          </a:prstGeom>
          <a:solidFill xmlns:a="http://schemas.openxmlformats.org/drawingml/2006/main">
            <a:srgbClr val="EAF1DE"/>
          </a:solidFill>
          <a:ln xmlns:a="http://schemas.openxmlformats.org/drawingml/2006/main" w="5715">
            <a:solidFill>
              <a:srgbClr val="0B4F8A"/>
            </a:solidFill>
          </a:ln>
        </p:spPr>
        <p:txBody xmlns:a="http://schemas.openxmlformats.org/drawingml/2006/main">
          <a:bodyPr/>
          <a:p/>
        </p:txBody>
      </p:sp>
      <p:sp>
        <p:nvSpPr>
          <p:cNvPr id="98" name="text-64">
            <a:extLst xmlns:a="http://schemas.openxmlformats.org/drawingml/2006/main">
              <a:ext uri="{FF2B5EF4-FFF2-40B4-BE49-F238E27FC236}">
                <a16:creationId xmlns:a16="http://schemas.microsoft.com/office/drawing/2014/main" id="{C28904FA-C527-4734-A481-8C0801915D7A}"/>
              </a:ext>
            </a:extLst>
          </p:cNvPr>
          <p:cNvSpPr>
            <a:spLocks xmlns:a="http://schemas.openxmlformats.org/drawingml/2006/main" noGrp="1"/>
          </p:cNvSpPr>
          <p:nvPr/>
        </p:nvSpPr>
        <p:spPr>
          <a:xfrm xmlns:a="http://schemas.openxmlformats.org/drawingml/2006/main">
            <a:off x="2059200" y="8139600"/>
            <a:ext cx="7128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50" b="1">
                <a:solidFill>
                  <a:srgbClr val="20303D"/>
                </a:solidFill>
                <a:latin typeface="Calibri"/>
                <a:ea typeface="Calibri"/>
                <a:cs typeface="Calibri"/>
              </a:defRPr>
            </a:defPPr>
          </a:lstStyle>
          <a:p xmlns:a="http://schemas.openxmlformats.org/drawingml/2006/main">
            <a:pPr algn="ctr">
              <a:defRPr sz="850" b="1">
                <a:solidFill>
                  <a:srgbClr val="20303D"/>
                </a:solidFill>
                <a:latin typeface="Calibri"/>
                <a:ea typeface="Calibri"/>
                <a:cs typeface="Calibri"/>
              </a:defRPr>
            </a:pPr>
            <a:r>
              <a:rPr sz="850" b="1">
                <a:solidFill>
                  <a:srgbClr val="20303D"/>
                </a:solidFill>
                <a:latin typeface="Calibri"/>
                <a:ea typeface="Calibri"/>
                <a:cs typeface="Calibri"/>
              </a:rPr>
              <a:t>Weight ROM</a:t>
            </a:r>
          </a:p>
        </p:txBody>
      </p:sp>
      <p:sp>
        <p:nvSpPr>
          <p:cNvPr id="100" name="text-65">
            <a:extLst xmlns:a="http://schemas.openxmlformats.org/drawingml/2006/main">
              <a:ext uri="{FF2B5EF4-FFF2-40B4-BE49-F238E27FC236}">
                <a16:creationId xmlns:a16="http://schemas.microsoft.com/office/drawing/2014/main" id="{490006B4-5374-4D0E-962F-A2B09E50DB07}"/>
              </a:ext>
            </a:extLst>
          </p:cNvPr>
          <p:cNvSpPr>
            <a:spLocks xmlns:a="http://schemas.openxmlformats.org/drawingml/2006/main" noGrp="1"/>
          </p:cNvSpPr>
          <p:nvPr/>
        </p:nvSpPr>
        <p:spPr>
          <a:xfrm xmlns:a="http://schemas.openxmlformats.org/drawingml/2006/main">
            <a:off x="288000" y="8820000"/>
            <a:ext cx="3348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20" b="0">
                <a:solidFill>
                  <a:srgbClr val="20303D"/>
                </a:solidFill>
                <a:latin typeface="Calibri"/>
                <a:ea typeface="Calibri"/>
                <a:cs typeface="Calibri"/>
              </a:defRPr>
            </a:defPPr>
          </a:lstStyle>
          <a:p xmlns:a="http://schemas.openxmlformats.org/drawingml/2006/main">
            <a:pPr algn="l">
              <a:defRPr sz="920" b="0">
                <a:solidFill>
                  <a:srgbClr val="20303D"/>
                </a:solidFill>
                <a:latin typeface="Calibri"/>
                <a:ea typeface="Calibri"/>
                <a:cs typeface="Calibri"/>
              </a:defRPr>
            </a:pPr>
            <a:r>
              <a:rPr sz="920" b="0">
                <a:solidFill>
                  <a:srgbClr val="20303D"/>
                </a:solidFill>
                <a:latin typeface="Calibri"/>
                <a:ea typeface="Calibri"/>
                <a:cs typeface="Calibri"/>
              </a:rPr>
              <a:t>Layer engines form a pipeline; P meets 30 fps.</a:t>
            </a:r>
          </a:p>
          <a:p xmlns:a="http://schemas.openxmlformats.org/drawingml/2006/main">
            <a:pPr algn="l">
              <a:defRPr sz="920" b="0">
                <a:solidFill>
                  <a:srgbClr val="20303D"/>
                </a:solidFill>
                <a:latin typeface="Calibri"/>
                <a:ea typeface="Calibri"/>
                <a:cs typeface="Calibri"/>
              </a:defRPr>
            </a:pPr>
            <a:r>
              <a:rPr sz="920" b="0">
                <a:solidFill>
                  <a:srgbClr val="20303D"/>
                </a:solidFill>
                <a:latin typeface="Calibri"/>
                <a:ea typeface="Calibri"/>
                <a:cs typeface="Calibri"/>
              </a:rPr>
              <a:t>On-chip buffers avoid full intermediate feature maps.</a:t>
            </a:r>
          </a:p>
        </p:txBody>
      </p:sp>
      <p:sp>
        <p:nvSpPr>
          <p:cNvPr id="101" name="text-66">
            <a:extLst xmlns:a="http://schemas.openxmlformats.org/drawingml/2006/main">
              <a:ext uri="{FF2B5EF4-FFF2-40B4-BE49-F238E27FC236}">
                <a16:creationId xmlns:a16="http://schemas.microsoft.com/office/drawing/2014/main" id="{D766DA18-6D3D-4C43-A4C8-062774886F71}"/>
              </a:ext>
            </a:extLst>
          </p:cNvPr>
          <p:cNvSpPr>
            <a:spLocks xmlns:a="http://schemas.openxmlformats.org/drawingml/2006/main" noGrp="1"/>
          </p:cNvSpPr>
          <p:nvPr/>
        </p:nvSpPr>
        <p:spPr>
          <a:xfrm xmlns:a="http://schemas.openxmlformats.org/drawingml/2006/main">
            <a:off x="288000" y="9198000"/>
            <a:ext cx="3348000" cy="1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50" b="1">
                <a:solidFill>
                  <a:srgbClr val="0B4F8A"/>
                </a:solidFill>
                <a:latin typeface="Calibri"/>
                <a:ea typeface="Calibri"/>
                <a:cs typeface="Calibri"/>
              </a:defRPr>
            </a:defPPr>
          </a:lstStyle>
          <a:p xmlns:a="http://schemas.openxmlformats.org/drawingml/2006/main">
            <a:pPr algn="l">
              <a:defRPr sz="950" b="1">
                <a:solidFill>
                  <a:srgbClr val="0B4F8A"/>
                </a:solidFill>
                <a:latin typeface="Calibri"/>
                <a:ea typeface="Calibri"/>
                <a:cs typeface="Calibri"/>
              </a:defRPr>
            </a:pPr>
            <a:r>
              <a:rPr sz="950" b="1">
                <a:solidFill>
                  <a:srgbClr val="0B4F8A"/>
                </a:solidFill>
                <a:latin typeface="Calibri"/>
                <a:ea typeface="Calibri"/>
                <a:cs typeface="Calibri"/>
              </a:rPr>
              <a:t>Routed TX / RX totals on xczu5eg</a:t>
            </a:r>
          </a:p>
        </p:txBody>
      </p:sp>
      <p:graphicFrame>
        <p:nvGraphicFramePr>
          <p:cNvPr id="102" name="">
            <a:extLst xmlns:a="http://schemas.openxmlformats.org/drawingml/2006/main">
              <a:ext uri="{FF2B5EF4-FFF2-40B4-BE49-F238E27FC236}">
                <a16:creationId xmlns:a16="http://schemas.microsoft.com/office/drawing/2014/main" id="{683E5EF2-D202-4BCC-9AAA-908F744CE7DE}"/>
              </a:ext>
            </a:extLst>
          </p:cNvPr>
          <p:cNvGraphicFramePr/>
          <p:nvPr/>
        </p:nvGraphicFramePr>
        <p:xfrm>
          <a:off xmlns:a="http://schemas.openxmlformats.org/drawingml/2006/main" x="288000" y="9396000"/>
          <a:ext xmlns:a="http://schemas.openxmlformats.org/drawingml/2006/main" cx="3348000" cy="540000"/>
        </p:xfrm>
        <a:graphic xmlns:a="http://schemas.openxmlformats.org/drawingml/2006/main">
          <a:graphicData uri="http://schemas.openxmlformats.org/drawingml/2006/table">
            <a:tbl>
              <a:tblPr/>
              <a:tblGrid>
                <a:gridCol w="576000"/>
                <a:gridCol w="720000"/>
                <a:gridCol w="828000"/>
                <a:gridCol w="612000"/>
                <a:gridCol w="612000"/>
              </a:tblGrid>
              <a:tr h="180000">
                <a:tc>
                  <a:txBody>
                    <a:bodyPr lIns="5400" tIns="5400" rIns="5400" bIns="5400"/>
                    <a:lstStyle/>
                    <a:p>
                      <a:pPr algn="l"/>
                      <a:r>
                        <a:rPr sz="900" b="1">
                          <a:solidFill>
                            <a:srgbClr val="0B4F8A"/>
                          </a:solidFill>
                          <a:latin typeface="Calibri"/>
                          <a:ea typeface="Calibri"/>
                          <a:cs typeface="Calibri"/>
                        </a:rPr>
                        <a:t>Design</a:t>
                      </a:r>
                    </a:p>
                  </a:txBody>
                  <a:tcPr marL="5400" marR="5400" marT="5400" marB="5400" anchor="ctr">
                    <a:lnL w="5080">
                      <a:solidFill>
                        <a:srgbClr val="CDD9E2"/>
                      </a:solidFill>
                      <a:prstDash val="solid"/>
                    </a:lnL>
                    <a:lnR w="5080">
                      <a:solidFill>
                        <a:srgbClr val="CDD9E2"/>
                      </a:solidFill>
                      <a:prstDash val="solid"/>
                    </a:lnR>
                    <a:lnT w="5080">
                      <a:solidFill>
                        <a:srgbClr val="CDD9E2"/>
                      </a:solidFill>
                      <a:prstDash val="solid"/>
                    </a:lnT>
                    <a:lnB w="5080">
                      <a:solidFill>
                        <a:srgbClr val="CDD9E2"/>
                      </a:solidFill>
                      <a:prstDash val="solid"/>
                    </a:lnB>
                    <a:solidFill>
                      <a:srgbClr val="EEF4F8"/>
                    </a:solidFill>
                  </a:tcPr>
                </a:tc>
                <a:tc>
                  <a:txBody>
                    <a:bodyPr lIns="5400" tIns="5400" rIns="5400" bIns="5400"/>
                    <a:lstStyle/>
                    <a:p>
                      <a:pPr algn="ctr"/>
                      <a:r>
                        <a:rPr sz="900" b="1">
                          <a:solidFill>
                            <a:srgbClr val="0B4F8A"/>
                          </a:solidFill>
                          <a:latin typeface="Calibri"/>
                          <a:ea typeface="Calibri"/>
                          <a:cs typeface="Calibri"/>
                        </a:rPr>
                        <a:t>LUT</a:t>
                      </a:r>
                    </a:p>
                  </a:txBody>
                  <a:tcPr marL="5400" marR="5400" marT="5400" marB="5400" anchor="ctr">
                    <a:lnR w="5080">
                      <a:solidFill>
                        <a:srgbClr val="CDD9E2"/>
                      </a:solidFill>
                      <a:prstDash val="solid"/>
                    </a:lnR>
                    <a:lnT w="5080">
                      <a:solidFill>
                        <a:srgbClr val="CDD9E2"/>
                      </a:solidFill>
                      <a:prstDash val="solid"/>
                    </a:lnT>
                    <a:lnB w="5080">
                      <a:solidFill>
                        <a:srgbClr val="CDD9E2"/>
                      </a:solidFill>
                      <a:prstDash val="solid"/>
                    </a:lnB>
                    <a:solidFill>
                      <a:srgbClr val="EEF4F8"/>
                    </a:solidFill>
                  </a:tcPr>
                </a:tc>
                <a:tc>
                  <a:txBody>
                    <a:bodyPr lIns="5400" tIns="5400" rIns="5400" bIns="5400"/>
                    <a:lstStyle/>
                    <a:p>
                      <a:pPr algn="ctr"/>
                      <a:r>
                        <a:rPr sz="900" b="1">
                          <a:solidFill>
                            <a:srgbClr val="0B4F8A"/>
                          </a:solidFill>
                          <a:latin typeface="Calibri"/>
                          <a:ea typeface="Calibri"/>
                          <a:cs typeface="Calibri"/>
                        </a:rPr>
                        <a:t>BRAM36</a:t>
                      </a:r>
                    </a:p>
                  </a:txBody>
                  <a:tcPr marL="5400" marR="5400" marT="5400" marB="5400" anchor="ctr">
                    <a:lnR w="5080">
                      <a:solidFill>
                        <a:srgbClr val="CDD9E2"/>
                      </a:solidFill>
                      <a:prstDash val="solid"/>
                    </a:lnR>
                    <a:lnT w="5080">
                      <a:solidFill>
                        <a:srgbClr val="CDD9E2"/>
                      </a:solidFill>
                      <a:prstDash val="solid"/>
                    </a:lnT>
                    <a:lnB w="5080">
                      <a:solidFill>
                        <a:srgbClr val="CDD9E2"/>
                      </a:solidFill>
                      <a:prstDash val="solid"/>
                    </a:lnB>
                    <a:solidFill>
                      <a:srgbClr val="EEF4F8"/>
                    </a:solidFill>
                  </a:tcPr>
                </a:tc>
                <a:tc>
                  <a:txBody>
                    <a:bodyPr lIns="5400" tIns="5400" rIns="5400" bIns="5400"/>
                    <a:lstStyle/>
                    <a:p>
                      <a:pPr algn="ctr"/>
                      <a:r>
                        <a:rPr sz="900" b="1">
                          <a:solidFill>
                            <a:srgbClr val="0B4F8A"/>
                          </a:solidFill>
                          <a:latin typeface="Calibri"/>
                          <a:ea typeface="Calibri"/>
                          <a:cs typeface="Calibri"/>
                        </a:rPr>
                        <a:t>URAM</a:t>
                      </a:r>
                    </a:p>
                  </a:txBody>
                  <a:tcPr marL="5400" marR="5400" marT="5400" marB="5400" anchor="ctr">
                    <a:lnR w="5080">
                      <a:solidFill>
                        <a:srgbClr val="CDD9E2"/>
                      </a:solidFill>
                      <a:prstDash val="solid"/>
                    </a:lnR>
                    <a:lnT w="5080">
                      <a:solidFill>
                        <a:srgbClr val="CDD9E2"/>
                      </a:solidFill>
                      <a:prstDash val="solid"/>
                    </a:lnT>
                    <a:lnB w="5080">
                      <a:solidFill>
                        <a:srgbClr val="CDD9E2"/>
                      </a:solidFill>
                      <a:prstDash val="solid"/>
                    </a:lnB>
                    <a:solidFill>
                      <a:srgbClr val="EEF4F8"/>
                    </a:solidFill>
                  </a:tcPr>
                </a:tc>
                <a:tc>
                  <a:txBody>
                    <a:bodyPr lIns="5400" tIns="5400" rIns="5400" bIns="5400"/>
                    <a:lstStyle/>
                    <a:p>
                      <a:pPr algn="ctr"/>
                      <a:r>
                        <a:rPr sz="900" b="1">
                          <a:solidFill>
                            <a:srgbClr val="0B4F8A"/>
                          </a:solidFill>
                          <a:latin typeface="Calibri"/>
                          <a:ea typeface="Calibri"/>
                          <a:cs typeface="Calibri"/>
                        </a:rPr>
                        <a:t>DSP</a:t>
                      </a:r>
                    </a:p>
                  </a:txBody>
                  <a:tcPr marL="5400" marR="5400" marT="5400" marB="5400" anchor="ctr">
                    <a:lnR w="5080">
                      <a:solidFill>
                        <a:srgbClr val="CDD9E2"/>
                      </a:solidFill>
                      <a:prstDash val="solid"/>
                    </a:lnR>
                    <a:lnT w="5080">
                      <a:solidFill>
                        <a:srgbClr val="CDD9E2"/>
                      </a:solidFill>
                      <a:prstDash val="solid"/>
                    </a:lnT>
                    <a:lnB w="5080">
                      <a:solidFill>
                        <a:srgbClr val="CDD9E2"/>
                      </a:solidFill>
                      <a:prstDash val="solid"/>
                    </a:lnB>
                    <a:solidFill>
                      <a:srgbClr val="EEF4F8"/>
                    </a:solidFill>
                  </a:tcPr>
                </a:tc>
              </a:tr>
              <a:tr h="180000">
                <a:tc>
                  <a:txBody>
                    <a:bodyPr lIns="5400" tIns="5400" rIns="5400" bIns="5400"/>
                    <a:lstStyle/>
                    <a:p>
                      <a:pPr algn="l"/>
                      <a:r>
                        <a:rPr sz="900" b="1">
                          <a:solidFill>
                            <a:srgbClr val="20303D"/>
                          </a:solidFill>
                          <a:latin typeface="Calibri"/>
                          <a:ea typeface="Calibri"/>
                          <a:cs typeface="Calibri"/>
                        </a:rPr>
                        <a:t>TX</a:t>
                      </a:r>
                    </a:p>
                  </a:txBody>
                  <a:tcPr marL="5400" marR="5400" marT="5400" marB="5400" anchor="ctr">
                    <a:lnL w="5080">
                      <a:solidFill>
                        <a:srgbClr val="CDD9E2"/>
                      </a:solidFill>
                      <a:prstDash val="solid"/>
                    </a:lnL>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54,246</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104.5</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10</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243</a:t>
                      </a:r>
                    </a:p>
                  </a:txBody>
                  <a:tcPr marL="5400" marR="5400" marT="5400" marB="5400" anchor="ctr">
                    <a:lnR w="5080">
                      <a:solidFill>
                        <a:srgbClr val="CDD9E2"/>
                      </a:solidFill>
                      <a:prstDash val="solid"/>
                    </a:lnR>
                    <a:lnB w="5080">
                      <a:solidFill>
                        <a:srgbClr val="CDD9E2"/>
                      </a:solidFill>
                      <a:prstDash val="solid"/>
                    </a:lnB>
                    <a:solidFill>
                      <a:srgbClr val="FFFFFF"/>
                    </a:solidFill>
                  </a:tcPr>
                </a:tc>
              </a:tr>
              <a:tr h="180000">
                <a:tc>
                  <a:txBody>
                    <a:bodyPr lIns="5400" tIns="5400" rIns="5400" bIns="5400"/>
                    <a:lstStyle/>
                    <a:p>
                      <a:pPr algn="l"/>
                      <a:r>
                        <a:rPr sz="900" b="1">
                          <a:solidFill>
                            <a:srgbClr val="20303D"/>
                          </a:solidFill>
                          <a:latin typeface="Calibri"/>
                          <a:ea typeface="Calibri"/>
                          <a:cs typeface="Calibri"/>
                        </a:rPr>
                        <a:t>RX</a:t>
                      </a:r>
                    </a:p>
                  </a:txBody>
                  <a:tcPr marL="5400" marR="5400" marT="5400" marB="5400" anchor="ctr">
                    <a:lnL w="5080">
                      <a:solidFill>
                        <a:srgbClr val="CDD9E2"/>
                      </a:solidFill>
                      <a:prstDash val="solid"/>
                    </a:lnL>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63,691</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65.5</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7</a:t>
                      </a:r>
                    </a:p>
                  </a:txBody>
                  <a:tcPr marL="5400" marR="5400" marT="5400" marB="5400" anchor="ctr">
                    <a:lnR w="5080">
                      <a:solidFill>
                        <a:srgbClr val="CDD9E2"/>
                      </a:solidFill>
                      <a:prstDash val="solid"/>
                    </a:lnR>
                    <a:lnB w="5080">
                      <a:solidFill>
                        <a:srgbClr val="CDD9E2"/>
                      </a:solidFill>
                      <a:prstDash val="solid"/>
                    </a:lnB>
                    <a:solidFill>
                      <a:srgbClr val="FFFFFF"/>
                    </a:solidFill>
                  </a:tcPr>
                </a:tc>
                <a:tc>
                  <a:txBody>
                    <a:bodyPr lIns="5400" tIns="5400" rIns="5400" bIns="5400"/>
                    <a:lstStyle/>
                    <a:p>
                      <a:pPr algn="ctr"/>
                      <a:r>
                        <a:rPr sz="900" b="0">
                          <a:solidFill>
                            <a:srgbClr val="20303D"/>
                          </a:solidFill>
                          <a:latin typeface="Calibri"/>
                          <a:ea typeface="Calibri"/>
                          <a:cs typeface="Calibri"/>
                        </a:rPr>
                        <a:t>133</a:t>
                      </a:r>
                    </a:p>
                  </a:txBody>
                  <a:tcPr marL="5400" marR="5400" marT="5400" marB="5400" anchor="ctr">
                    <a:lnR w="5080">
                      <a:solidFill>
                        <a:srgbClr val="CDD9E2"/>
                      </a:solidFill>
                      <a:prstDash val="solid"/>
                    </a:lnR>
                    <a:lnB w="5080">
                      <a:solidFill>
                        <a:srgbClr val="CDD9E2"/>
                      </a:solidFill>
                      <a:prstDash val="solid"/>
                    </a:lnB>
                    <a:solidFill>
                      <a:srgbClr val="FFFFFF"/>
                    </a:solidFill>
                  </a:tcPr>
                </a:tc>
              </a:tr>
            </a:tbl>
          </a:graphicData>
        </a:graphic>
      </p:graphicFrame>
      <p:sp>
        <p:nvSpPr>
          <p:cNvPr id="103" name="text-67">
            <a:extLst xmlns:a="http://schemas.openxmlformats.org/drawingml/2006/main">
              <a:ext uri="{FF2B5EF4-FFF2-40B4-BE49-F238E27FC236}">
                <a16:creationId xmlns:a16="http://schemas.microsoft.com/office/drawing/2014/main" id="{9929ACEA-DF70-4808-B51E-28A23F36314A}"/>
              </a:ext>
            </a:extLst>
          </p:cNvPr>
          <p:cNvSpPr>
            <a:spLocks xmlns:a="http://schemas.openxmlformats.org/drawingml/2006/main" noGrp="1"/>
          </p:cNvSpPr>
          <p:nvPr/>
        </p:nvSpPr>
        <p:spPr>
          <a:xfrm xmlns:a="http://schemas.openxmlformats.org/drawingml/2006/main">
            <a:off x="288000" y="9990000"/>
            <a:ext cx="3348000" cy="30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465B6A"/>
                </a:solidFill>
                <a:latin typeface="Calibri"/>
                <a:ea typeface="Calibri"/>
                <a:cs typeface="Calibri"/>
              </a:defRPr>
            </a:defPPr>
          </a:lstStyle>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Measured rails: TX 3.07 W / RX 3.44 W</a:t>
            </a:r>
          </a:p>
          <a:p xmlns:a="http://schemas.openxmlformats.org/drawingml/2006/main">
            <a:pPr algn="l">
              <a:defRPr sz="850" b="0">
                <a:solidFill>
                  <a:srgbClr val="465B6A"/>
                </a:solidFill>
                <a:latin typeface="Calibri"/>
                <a:ea typeface="Calibri"/>
                <a:cs typeface="Calibri"/>
              </a:defRPr>
            </a:pPr>
            <a:r>
              <a:rPr sz="850" b="0">
                <a:solidFill>
                  <a:srgbClr val="465B6A"/>
                </a:solidFill>
                <a:latin typeface="Calibri"/>
                <a:ea typeface="Calibri"/>
                <a:cs typeface="Calibri"/>
              </a:rPr>
              <a:t>PL + PS + DDR; excludes RF and input conversion losses.</a:t>
            </a:r>
          </a:p>
        </p:txBody>
      </p:sp>
      <p:sp>
        <p:nvSpPr>
          <p:cNvPr id="104" name="text-68">
            <a:extLst xmlns:a="http://schemas.openxmlformats.org/drawingml/2006/main">
              <a:ext uri="{FF2B5EF4-FFF2-40B4-BE49-F238E27FC236}">
                <a16:creationId xmlns:a16="http://schemas.microsoft.com/office/drawing/2014/main" id="{7E08E77A-4BC6-49F3-B7E6-1CB473E4E9D3}"/>
              </a:ext>
            </a:extLst>
          </p:cNvPr>
          <p:cNvSpPr>
            <a:spLocks xmlns:a="http://schemas.openxmlformats.org/drawingml/2006/main" noGrp="1"/>
          </p:cNvSpPr>
          <p:nvPr/>
        </p:nvSpPr>
        <p:spPr>
          <a:xfrm xmlns:a="http://schemas.openxmlformats.org/drawingml/2006/main">
            <a:off x="3888000" y="7668000"/>
            <a:ext cx="3384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B4F8A"/>
                </a:solidFill>
                <a:latin typeface="Calibri"/>
                <a:ea typeface="Calibri"/>
                <a:cs typeface="Calibri"/>
              </a:defRPr>
            </a:defPPr>
          </a:lstStyle>
          <a:p xmlns:a="http://schemas.openxmlformats.org/drawingml/2006/main">
            <a:pPr algn="l">
              <a:defRPr sz="1150" b="1">
                <a:solidFill>
                  <a:srgbClr val="0B4F8A"/>
                </a:solidFill>
                <a:latin typeface="Calibri"/>
                <a:ea typeface="Calibri"/>
                <a:cs typeface="Calibri"/>
              </a:defRPr>
            </a:pPr>
            <a:r>
              <a:rPr sz="1150" b="1">
                <a:solidFill>
                  <a:srgbClr val="0B4F8A"/>
                </a:solidFill>
                <a:latin typeface="Calibri"/>
                <a:ea typeface="Calibri"/>
                <a:cs typeface="Calibri"/>
              </a:rPr>
              <a:t>PL frame latency: 67.5 ms</a:t>
            </a:r>
          </a:p>
        </p:txBody>
      </p:sp>
      <p:graphicFrame>
        <p:nvGraphicFramePr>
          <p:cNvPr id="105" name="Chart">
            <a:extLst xmlns:a="http://schemas.openxmlformats.org/drawingml/2006/main">
              <a:ext uri="{FF2B5EF4-FFF2-40B4-BE49-F238E27FC236}">
                <a16:creationId xmlns:a16="http://schemas.microsoft.com/office/drawing/2014/main" id="{8E4879F1-0ABC-411F-A4B7-24AC411A3329}"/>
              </a:ext>
            </a:extLst>
          </p:cNvPr>
          <p:cNvGraphicFramePr/>
          <p:nvPr/>
        </p:nvGraphicFramePr>
        <p:xfrm>
          <a:off xmlns:a="http://schemas.openxmlformats.org/drawingml/2006/main" x="3888000" y="7902000"/>
          <a:ext xmlns:a="http://schemas.openxmlformats.org/drawingml/2006/main" cx="3384000" cy="111600"/>
        </p:xfrm>
        <a:graphic xmlns:a="http://schemas.openxmlformats.org/drawingml/2006/main">
          <a:graphicData uri="http://schemas.openxmlformats.org/drawingml/2006/chart">
            <c:chart xmlns:r="http://schemas.openxmlformats.org/officeDocument/2006/relationships" xmlns:c="http://schemas.openxmlformats.org/drawingml/2006/chart" r:id="R14fcd83ab1464873"/>
          </a:graphicData>
        </a:graphic>
      </p:graphicFrame>
      <p:sp>
        <p:nvSpPr>
          <p:cNvPr id="106" name="box-69">
            <a:extLst xmlns:a="http://schemas.openxmlformats.org/drawingml/2006/main">
              <a:ext uri="{FF2B5EF4-FFF2-40B4-BE49-F238E27FC236}">
                <a16:creationId xmlns:a16="http://schemas.microsoft.com/office/drawing/2014/main" id="{59A427C8-37BF-4EC2-A53D-66877A2ADA44}"/>
              </a:ext>
            </a:extLst>
          </p:cNvPr>
          <p:cNvSpPr>
            <a:spLocks xmlns:a="http://schemas.openxmlformats.org/drawingml/2006/main" noGrp="1"/>
          </p:cNvSpPr>
          <p:nvPr/>
        </p:nvSpPr>
        <p:spPr>
          <a:xfrm xmlns:a="http://schemas.openxmlformats.org/drawingml/2006/main">
            <a:off x="3924000" y="8067600"/>
            <a:ext cx="57600" cy="57600"/>
          </a:xfrm>
          <a:prstGeom xmlns:a="http://schemas.openxmlformats.org/drawingml/2006/main" prst="rect">
            <a:avLst/>
          </a:prstGeom>
          <a:solidFill xmlns:a="http://schemas.openxmlformats.org/drawingml/2006/main">
            <a:srgbClr val="0B4F8A"/>
          </a:solidFill>
          <a:ln xmlns:a="http://schemas.openxmlformats.org/drawingml/2006/main" w="0">
            <a:noFill/>
          </a:ln>
        </p:spPr>
        <p:txBody xmlns:a="http://schemas.openxmlformats.org/drawingml/2006/main">
          <a:bodyPr/>
          <a:p/>
        </p:txBody>
      </p:sp>
      <p:sp>
        <p:nvSpPr>
          <p:cNvPr id="107" name="text-70">
            <a:extLst xmlns:a="http://schemas.openxmlformats.org/drawingml/2006/main">
              <a:ext uri="{FF2B5EF4-FFF2-40B4-BE49-F238E27FC236}">
                <a16:creationId xmlns:a16="http://schemas.microsoft.com/office/drawing/2014/main" id="{225B80A3-7763-41EE-A0F0-8C3E1C9F61AD}"/>
              </a:ext>
            </a:extLst>
          </p:cNvPr>
          <p:cNvSpPr>
            <a:spLocks xmlns:a="http://schemas.openxmlformats.org/drawingml/2006/main" noGrp="1"/>
          </p:cNvSpPr>
          <p:nvPr/>
        </p:nvSpPr>
        <p:spPr>
          <a:xfrm xmlns:a="http://schemas.openxmlformats.org/drawingml/2006/main">
            <a:off x="4010400" y="8042400"/>
            <a:ext cx="10296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20303D"/>
                </a:solidFill>
                <a:latin typeface="Calibri"/>
                <a:ea typeface="Calibri"/>
                <a:cs typeface="Calibri"/>
              </a:defRPr>
            </a:defPPr>
          </a:lstStyle>
          <a:p xmlns:a="http://schemas.openxmlformats.org/drawingml/2006/main">
            <a:pPr algn="l">
              <a:defRPr sz="850" b="0">
                <a:solidFill>
                  <a:srgbClr val="20303D"/>
                </a:solidFill>
                <a:latin typeface="Calibri"/>
                <a:ea typeface="Calibri"/>
                <a:cs typeface="Calibri"/>
              </a:defRPr>
            </a:pPr>
            <a:r>
              <a:rPr sz="850" b="0">
                <a:solidFill>
                  <a:srgbClr val="20303D"/>
                </a:solidFill>
                <a:latin typeface="Calibri"/>
                <a:ea typeface="Calibri"/>
                <a:cs typeface="Calibri"/>
              </a:rPr>
              <a:t>Encode 38.20</a:t>
            </a:r>
          </a:p>
        </p:txBody>
      </p:sp>
      <p:sp>
        <p:nvSpPr>
          <p:cNvPr id="108" name="box-71">
            <a:extLst xmlns:a="http://schemas.openxmlformats.org/drawingml/2006/main">
              <a:ext uri="{FF2B5EF4-FFF2-40B4-BE49-F238E27FC236}">
                <a16:creationId xmlns:a16="http://schemas.microsoft.com/office/drawing/2014/main" id="{27C2EBA5-C273-4BE1-BECE-BD082AD05F15}"/>
              </a:ext>
            </a:extLst>
          </p:cNvPr>
          <p:cNvSpPr>
            <a:spLocks xmlns:a="http://schemas.openxmlformats.org/drawingml/2006/main" noGrp="1"/>
          </p:cNvSpPr>
          <p:nvPr/>
        </p:nvSpPr>
        <p:spPr>
          <a:xfrm xmlns:a="http://schemas.openxmlformats.org/drawingml/2006/main">
            <a:off x="5043600" y="8067600"/>
            <a:ext cx="57600" cy="57600"/>
          </a:xfrm>
          <a:prstGeom xmlns:a="http://schemas.openxmlformats.org/drawingml/2006/main" prst="rect">
            <a:avLst/>
          </a:prstGeom>
          <a:solidFill xmlns:a="http://schemas.openxmlformats.org/drawingml/2006/main">
            <a:srgbClr val="D9531E"/>
          </a:solidFill>
          <a:ln xmlns:a="http://schemas.openxmlformats.org/drawingml/2006/main" w="0">
            <a:noFill/>
          </a:ln>
        </p:spPr>
        <p:txBody xmlns:a="http://schemas.openxmlformats.org/drawingml/2006/main">
          <a:bodyPr/>
          <a:p/>
        </p:txBody>
      </p:sp>
      <p:sp>
        <p:nvSpPr>
          <p:cNvPr id="109" name="text-72">
            <a:extLst xmlns:a="http://schemas.openxmlformats.org/drawingml/2006/main">
              <a:ext uri="{FF2B5EF4-FFF2-40B4-BE49-F238E27FC236}">
                <a16:creationId xmlns:a16="http://schemas.microsoft.com/office/drawing/2014/main" id="{F554C240-BDE4-48BE-902B-C2B0F69DCDCB}"/>
              </a:ext>
            </a:extLst>
          </p:cNvPr>
          <p:cNvSpPr>
            <a:spLocks xmlns:a="http://schemas.openxmlformats.org/drawingml/2006/main" noGrp="1"/>
          </p:cNvSpPr>
          <p:nvPr/>
        </p:nvSpPr>
        <p:spPr>
          <a:xfrm xmlns:a="http://schemas.openxmlformats.org/drawingml/2006/main">
            <a:off x="5130000" y="8042400"/>
            <a:ext cx="10296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20303D"/>
                </a:solidFill>
                <a:latin typeface="Calibri"/>
                <a:ea typeface="Calibri"/>
                <a:cs typeface="Calibri"/>
              </a:defRPr>
            </a:defPPr>
          </a:lstStyle>
          <a:p xmlns:a="http://schemas.openxmlformats.org/drawingml/2006/main">
            <a:pPr algn="l">
              <a:defRPr sz="850" b="0">
                <a:solidFill>
                  <a:srgbClr val="20303D"/>
                </a:solidFill>
                <a:latin typeface="Calibri"/>
                <a:ea typeface="Calibri"/>
                <a:cs typeface="Calibri"/>
              </a:defRPr>
            </a:pPr>
            <a:r>
              <a:rPr sz="850" b="0">
                <a:solidFill>
                  <a:srgbClr val="20303D"/>
                </a:solidFill>
                <a:latin typeface="Calibri"/>
                <a:ea typeface="Calibri"/>
                <a:cs typeface="Calibri"/>
              </a:rPr>
              <a:t>Transfer 2.90</a:t>
            </a:r>
          </a:p>
        </p:txBody>
      </p:sp>
      <p:sp>
        <p:nvSpPr>
          <p:cNvPr id="110" name="box-73">
            <a:extLst xmlns:a="http://schemas.openxmlformats.org/drawingml/2006/main">
              <a:ext uri="{FF2B5EF4-FFF2-40B4-BE49-F238E27FC236}">
                <a16:creationId xmlns:a16="http://schemas.microsoft.com/office/drawing/2014/main" id="{1B260E64-34F6-4E08-9644-E369BE1BC7A3}"/>
              </a:ext>
            </a:extLst>
          </p:cNvPr>
          <p:cNvSpPr>
            <a:spLocks xmlns:a="http://schemas.openxmlformats.org/drawingml/2006/main" noGrp="1"/>
          </p:cNvSpPr>
          <p:nvPr/>
        </p:nvSpPr>
        <p:spPr>
          <a:xfrm xmlns:a="http://schemas.openxmlformats.org/drawingml/2006/main">
            <a:off x="6163200" y="8067600"/>
            <a:ext cx="57600" cy="57600"/>
          </a:xfrm>
          <a:prstGeom xmlns:a="http://schemas.openxmlformats.org/drawingml/2006/main" prst="rect">
            <a:avLst/>
          </a:prstGeom>
          <a:solidFill xmlns:a="http://schemas.openxmlformats.org/drawingml/2006/main">
            <a:srgbClr val="237EAD"/>
          </a:solidFill>
          <a:ln xmlns:a="http://schemas.openxmlformats.org/drawingml/2006/main" w="0">
            <a:noFill/>
          </a:ln>
        </p:spPr>
        <p:txBody xmlns:a="http://schemas.openxmlformats.org/drawingml/2006/main">
          <a:bodyPr/>
          <a:p/>
        </p:txBody>
      </p:sp>
      <p:sp>
        <p:nvSpPr>
          <p:cNvPr id="111" name="text-74">
            <a:extLst xmlns:a="http://schemas.openxmlformats.org/drawingml/2006/main">
              <a:ext uri="{FF2B5EF4-FFF2-40B4-BE49-F238E27FC236}">
                <a16:creationId xmlns:a16="http://schemas.microsoft.com/office/drawing/2014/main" id="{72EEFDD2-CA8C-4663-8AB5-76BD839C158C}"/>
              </a:ext>
            </a:extLst>
          </p:cNvPr>
          <p:cNvSpPr>
            <a:spLocks xmlns:a="http://schemas.openxmlformats.org/drawingml/2006/main" noGrp="1"/>
          </p:cNvSpPr>
          <p:nvPr/>
        </p:nvSpPr>
        <p:spPr>
          <a:xfrm xmlns:a="http://schemas.openxmlformats.org/drawingml/2006/main">
            <a:off x="6249600" y="8042400"/>
            <a:ext cx="10296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50" b="0">
                <a:solidFill>
                  <a:srgbClr val="20303D"/>
                </a:solidFill>
                <a:latin typeface="Calibri"/>
                <a:ea typeface="Calibri"/>
                <a:cs typeface="Calibri"/>
              </a:defRPr>
            </a:defPPr>
          </a:lstStyle>
          <a:p xmlns:a="http://schemas.openxmlformats.org/drawingml/2006/main">
            <a:pPr algn="l">
              <a:defRPr sz="850" b="0">
                <a:solidFill>
                  <a:srgbClr val="20303D"/>
                </a:solidFill>
                <a:latin typeface="Calibri"/>
                <a:ea typeface="Calibri"/>
                <a:cs typeface="Calibri"/>
              </a:defRPr>
            </a:pPr>
            <a:r>
              <a:rPr sz="850" b="0">
                <a:solidFill>
                  <a:srgbClr val="20303D"/>
                </a:solidFill>
                <a:latin typeface="Calibri"/>
                <a:ea typeface="Calibri"/>
                <a:cs typeface="Calibri"/>
              </a:rPr>
              <a:t>Decode 26.39</a:t>
            </a:r>
          </a:p>
        </p:txBody>
      </p:sp>
      <p:sp>
        <p:nvSpPr>
          <p:cNvPr id="112" name="text-75">
            <a:extLst xmlns:a="http://schemas.openxmlformats.org/drawingml/2006/main">
              <a:ext uri="{FF2B5EF4-FFF2-40B4-BE49-F238E27FC236}">
                <a16:creationId xmlns:a16="http://schemas.microsoft.com/office/drawing/2014/main" id="{251251F8-F177-443E-B112-74654B8425CC}"/>
              </a:ext>
            </a:extLst>
          </p:cNvPr>
          <p:cNvSpPr>
            <a:spLocks xmlns:a="http://schemas.openxmlformats.org/drawingml/2006/main" noGrp="1"/>
          </p:cNvSpPr>
          <p:nvPr/>
        </p:nvSpPr>
        <p:spPr>
          <a:xfrm xmlns:a="http://schemas.openxmlformats.org/drawingml/2006/main">
            <a:off x="3888000" y="8316000"/>
            <a:ext cx="3384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1">
                <a:solidFill>
                  <a:srgbClr val="0B4F8A"/>
                </a:solidFill>
                <a:latin typeface="Calibri"/>
                <a:ea typeface="Calibri"/>
                <a:cs typeface="Calibri"/>
              </a:defRPr>
            </a:defPPr>
          </a:lstStyle>
          <a:p xmlns:a="http://schemas.openxmlformats.org/drawingml/2006/main">
            <a:pPr algn="l">
              <a:defRPr sz="1150" b="1">
                <a:solidFill>
                  <a:srgbClr val="0B4F8A"/>
                </a:solidFill>
                <a:latin typeface="Calibri"/>
                <a:ea typeface="Calibri"/>
                <a:cs typeface="Calibri"/>
              </a:defRPr>
            </a:pPr>
            <a:r>
              <a:rPr sz="1150" b="1">
                <a:solidFill>
                  <a:srgbClr val="0B4F8A"/>
                </a:solidFill>
                <a:latin typeface="Calibri"/>
                <a:ea typeface="Calibri"/>
                <a:cs typeface="Calibri"/>
              </a:rPr>
              <a:t>Live PHY diagnostics</a:t>
            </a:r>
          </a:p>
        </p:txBody>
      </p:sp>
      <p:pic>
        <p:nvPicPr>
          <p:cNvPr id="113" name="">
            <a:extLst xmlns:a="http://schemas.openxmlformats.org/drawingml/2006/main">
              <a:ext uri="{FF2B5EF4-FFF2-40B4-BE49-F238E27FC236}">
                <a16:creationId xmlns:a16="http://schemas.microsoft.com/office/drawing/2014/main" id="{F0448F30-9B14-46FD-948D-077E8175AEC8}"/>
              </a:ext>
            </a:extLst>
          </p:cNvPr>
          <p:cNvPicPr>
            <a:picLocks xmlns:a="http://schemas.openxmlformats.org/drawingml/2006/main" noChangeAspect="1"/>
          </p:cNvPicPr>
          <p:nvPr/>
        </p:nvPicPr>
        <p:blipFill>
          <a:blip xmlns:r="http://schemas.openxmlformats.org/officeDocument/2006/relationships" xmlns:a="http://schemas.openxmlformats.org/drawingml/2006/main" r:embed="Re06e1778dced4606"/>
          <a:stretch xmlns:a="http://schemas.openxmlformats.org/drawingml/2006/main"/>
        </p:blipFill>
        <p:spPr>
          <a:xfrm xmlns:a="http://schemas.openxmlformats.org/drawingml/2006/main">
            <a:off x="3939022" y="8532000"/>
            <a:ext cx="3281957" cy="1782000"/>
          </a:xfrm>
          <a:prstGeom xmlns:a="http://schemas.openxmlformats.org/drawingml/2006/main" prst="rect">
            <a:avLst/>
          </a:prstGeom>
        </p:spPr>
      </p:pic>
      <p:sp>
        <p:nvSpPr>
          <p:cNvPr id="114" name="text-76">
            <a:extLst xmlns:a="http://schemas.openxmlformats.org/drawingml/2006/main">
              <a:ext uri="{FF2B5EF4-FFF2-40B4-BE49-F238E27FC236}">
                <a16:creationId xmlns:a16="http://schemas.microsoft.com/office/drawing/2014/main" id="{F64FC1FC-8F19-4D13-92C0-E3F6C8E65A28}"/>
              </a:ext>
            </a:extLst>
          </p:cNvPr>
          <p:cNvSpPr>
            <a:spLocks xmlns:a="http://schemas.openxmlformats.org/drawingml/2006/main" noGrp="1"/>
          </p:cNvSpPr>
          <p:nvPr/>
        </p:nvSpPr>
        <p:spPr>
          <a:xfrm xmlns:a="http://schemas.openxmlformats.org/drawingml/2006/main">
            <a:off x="216000" y="10386000"/>
            <a:ext cx="7128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0">
                <a:solidFill>
                  <a:srgbClr val="465B6A"/>
                </a:solidFill>
                <a:latin typeface="Calibri"/>
                <a:ea typeface="Calibri"/>
                <a:cs typeface="Calibri"/>
              </a:defRPr>
            </a:defPPr>
          </a:lstStyle>
          <a:p xmlns:a="http://schemas.openxmlformats.org/drawingml/2006/main">
            <a:pPr algn="l">
              <a:defRPr sz="750" b="0">
                <a:solidFill>
                  <a:srgbClr val="465B6A"/>
                </a:solidFill>
                <a:latin typeface="Calibri"/>
                <a:ea typeface="Calibri"/>
                <a:cs typeface="Calibri"/>
              </a:defRPr>
            </a:pPr>
            <a:r>
              <a:rPr sz="750" b="0">
                <a:solidFill>
                  <a:srgbClr val="465B6A"/>
                </a:solidFill>
                <a:latin typeface="Calibri"/>
                <a:ea typeface="Calibri"/>
                <a:cs typeface="Calibri"/>
              </a:rPr>
              <a:t>DeepJSCC: TCCN 2019.  DeepJSCC-Q: JSAIT 2022.  Developed with Claude Code and Codex under human direction.</a:t>
            </a:r>
          </a:p>
        </p:txBody>
      </p:sp>
    </p:spTree>
    <p:extLst>
      <p:ext uri="{BB962C8B-B14F-4D97-AF65-F5344CB8AC3E}">
        <p14:creationId xmlns:p14="http://schemas.microsoft.com/office/powerpoint/2010/main" val="19439803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2026-10-17T15:10:20.4530000Z</dcterms:created>
  <dcterms:modified xsi:type="dcterms:W3CDTF">2026-10-17T15:10:20.4530000Z</dcterms:modified>
</coreProperties>
</file>