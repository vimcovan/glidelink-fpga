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"/>
  </p:sldMasterIdLst>
  <p:notesMasterIdLst>
    <p:notesMasterId r:id="rId8"/>
  </p:notesMasterIdLst>
  <p:handoutMasterIdLst>
    <p:handoutMasterId r:id="rId9"/>
  </p:handoutMasterIdLst>
  <p:sldIdLst>
    <p:sldId id="285" r:id="rId7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C95"/>
    <a:srgbClr val="007C97"/>
    <a:srgbClr val="00A8D0"/>
    <a:srgbClr val="FFFF99"/>
    <a:srgbClr val="0CBEA9"/>
    <a:srgbClr val="EFE125"/>
    <a:srgbClr val="000000"/>
    <a:srgbClr val="262626"/>
    <a:srgbClr val="131313"/>
    <a:srgbClr val="242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C4D71A-E7F1-4ECD-BF23-D288866E6459}" v="49" dt="2026-10-28T10:01:34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84" autoAdjust="0"/>
    <p:restoredTop sz="97843" autoAdjust="0"/>
  </p:normalViewPr>
  <p:slideViewPr>
    <p:cSldViewPr snapToGrid="0">
      <p:cViewPr varScale="1">
        <p:scale>
          <a:sx n="159" d="100"/>
          <a:sy n="159" d="100"/>
        </p:scale>
        <p:origin x="546" y="138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Wen (Vicky)" userId="370386ac-7ced-43cd-aa57-a504dc959918" providerId="ADAL" clId="{A08629F2-BAFE-486D-9E84-BFC0507FDA27}"/>
    <pc:docChg chg="custSel addSld delSld modSld">
      <pc:chgData name="Chen, Wen (Vicky)" userId="370386ac-7ced-43cd-aa57-a504dc959918" providerId="ADAL" clId="{A08629F2-BAFE-486D-9E84-BFC0507FDA27}" dt="2026-10-28T10:03:37.600" v="110" actId="1076"/>
      <pc:docMkLst>
        <pc:docMk/>
      </pc:docMkLst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641800033" sldId="260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894785852" sldId="262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810320210" sldId="26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96110502" sldId="26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295795922" sldId="26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60339626" sldId="26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509904829" sldId="26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563127261" sldId="26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14710708" sldId="26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3142657" sldId="27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07857248" sldId="27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041338495" sldId="27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338091283" sldId="27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468783600" sldId="27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528543421" sldId="27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54485583" sldId="27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25260525" sldId="27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21606204" sldId="27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767730382" sldId="27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12664564" sldId="28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899082442" sldId="28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36621986" sldId="28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897248901" sldId="283"/>
        </pc:sldMkLst>
      </pc:sldChg>
      <pc:sldChg chg="del">
        <pc:chgData name="Chen, Wen (Vicky)" userId="370386ac-7ced-43cd-aa57-a504dc959918" providerId="ADAL" clId="{A08629F2-BAFE-486D-9E84-BFC0507FDA27}" dt="2026-10-28T10:01:10.378" v="9" actId="47"/>
        <pc:sldMkLst>
          <pc:docMk/>
          <pc:sldMk cId="2859063927" sldId="284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488671642" sldId="285"/>
        </pc:sldMkLst>
      </pc:sldChg>
      <pc:sldChg chg="addSp delSp modSp new mod modClrScheme chgLayout">
        <pc:chgData name="Chen, Wen (Vicky)" userId="370386ac-7ced-43cd-aa57-a504dc959918" providerId="ADAL" clId="{A08629F2-BAFE-486D-9E84-BFC0507FDA27}" dt="2026-10-28T10:03:37.600" v="110" actId="1076"/>
        <pc:sldMkLst>
          <pc:docMk/>
          <pc:sldMk cId="1777069741" sldId="285"/>
        </pc:sldMkLst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2" creationId="{657F82AD-C5B8-4968-DECD-AB43F5DCAECC}"/>
          </ac:spMkLst>
        </pc:spChg>
        <pc:spChg chg="del mod ord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3" creationId="{A1C2D21D-1646-9566-3081-429676337E32}"/>
          </ac:spMkLst>
        </pc:spChg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4" creationId="{227DFDB3-5F3F-7736-8267-95B8BADCB680}"/>
          </ac:spMkLst>
        </pc:spChg>
        <pc:spChg chg="add del mod ord">
          <ac:chgData name="Chen, Wen (Vicky)" userId="370386ac-7ced-43cd-aa57-a504dc959918" providerId="ADAL" clId="{A08629F2-BAFE-486D-9E84-BFC0507FDA27}" dt="2026-10-28T09:54:36.182" v="4" actId="700"/>
          <ac:spMkLst>
            <pc:docMk/>
            <pc:sldMk cId="1777069741" sldId="285"/>
            <ac:spMk id="5" creationId="{B63F92C7-CA2C-08EE-88CB-096614340C3F}"/>
          </ac:spMkLst>
        </pc:spChg>
        <pc:spChg chg="add del mod">
          <ac:chgData name="Chen, Wen (Vicky)" userId="370386ac-7ced-43cd-aa57-a504dc959918" providerId="ADAL" clId="{A08629F2-BAFE-486D-9E84-BFC0507FDA27}" dt="2026-10-28T10:01:04.629" v="7" actId="478"/>
          <ac:spMkLst>
            <pc:docMk/>
            <pc:sldMk cId="1777069741" sldId="285"/>
            <ac:spMk id="6" creationId="{DC789B0E-9151-EBB3-9C9A-7D921624BCB2}"/>
          </ac:spMkLst>
        </pc:spChg>
        <pc:spChg chg="mod">
          <ac:chgData name="Chen, Wen (Vicky)" userId="370386ac-7ced-43cd-aa57-a504dc959918" providerId="ADAL" clId="{A08629F2-BAFE-486D-9E84-BFC0507FDA27}" dt="2026-10-28T10:02:52.947" v="35" actId="14100"/>
          <ac:spMkLst>
            <pc:docMk/>
            <pc:sldMk cId="1777069741" sldId="285"/>
            <ac:spMk id="7" creationId="{FE9E712C-8D01-093E-F260-B456F83385A5}"/>
          </ac:spMkLst>
        </pc:spChg>
        <pc:spChg chg="mod">
          <ac:chgData name="Chen, Wen (Vicky)" userId="370386ac-7ced-43cd-aa57-a504dc959918" providerId="ADAL" clId="{A08629F2-BAFE-486D-9E84-BFC0507FDA27}" dt="2026-10-28T10:02:12.729" v="29" actId="948"/>
          <ac:spMkLst>
            <pc:docMk/>
            <pc:sldMk cId="1777069741" sldId="285"/>
            <ac:spMk id="8" creationId="{7C995DB8-75D8-49DC-0386-88FDA751971A}"/>
          </ac:spMkLst>
        </pc:spChg>
        <pc:spChg chg="add mod">
          <ac:chgData name="Chen, Wen (Vicky)" userId="370386ac-7ced-43cd-aa57-a504dc959918" providerId="ADAL" clId="{A08629F2-BAFE-486D-9E84-BFC0507FDA27}" dt="2026-10-28T10:03:37.600" v="110" actId="1076"/>
          <ac:spMkLst>
            <pc:docMk/>
            <pc:sldMk cId="1777069741" sldId="285"/>
            <ac:spMk id="9" creationId="{455E59B8-9F4D-053C-0F8B-5ED9412D6AB0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17" creationId="{0DEFB17D-6681-9646-6AEB-AA8BC90223D4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3" creationId="{485C4FA3-129B-F950-2BCA-DCE18597BC8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5" creationId="{77966AF8-61F6-A290-A297-72FBA829E9F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0" creationId="{3AD9C1E2-56A2-91FD-2214-C3508F5F5345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4" creationId="{35818903-E8A5-070B-B626-2835FFF26BE2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7" creationId="{6901D43C-2CF0-2C54-2E0B-69ABAC43B76A}"/>
          </ac:spMkLst>
        </pc:spChg>
        <pc:spChg chg="add mod">
          <ac:chgData name="Chen, Wen (Vicky)" userId="370386ac-7ced-43cd-aa57-a504dc959918" providerId="ADAL" clId="{A08629F2-BAFE-486D-9E84-BFC0507FDA27}" dt="2026-10-28T10:02:48.219" v="34" actId="1076"/>
          <ac:spMkLst>
            <pc:docMk/>
            <pc:sldMk cId="1777069741" sldId="285"/>
            <ac:spMk id="41" creationId="{7208B36C-4D3C-053B-772C-E9455269F56C}"/>
          </ac:spMkLst>
        </pc:spChg>
        <pc:spChg chg="add mod">
          <ac:chgData name="Chen, Wen (Vicky)" userId="370386ac-7ced-43cd-aa57-a504dc959918" providerId="ADAL" clId="{A08629F2-BAFE-486D-9E84-BFC0507FDA27}" dt="2026-10-28T10:03:33.858" v="109" actId="14100"/>
          <ac:spMkLst>
            <pc:docMk/>
            <pc:sldMk cId="1777069741" sldId="285"/>
            <ac:spMk id="54" creationId="{58960BED-4C88-4AA4-8F7B-F67A2FC46A15}"/>
          </ac:spMkLst>
        </pc:spChg>
        <pc:spChg chg="add mod">
          <ac:chgData name="Chen, Wen (Vicky)" userId="370386ac-7ced-43cd-aa57-a504dc959918" providerId="ADAL" clId="{A08629F2-BAFE-486D-9E84-BFC0507FDA27}" dt="2026-10-28T10:03:24.112" v="85" actId="20577"/>
          <ac:spMkLst>
            <pc:docMk/>
            <pc:sldMk cId="1777069741" sldId="285"/>
            <ac:spMk id="56" creationId="{6B37ED8F-95C2-063E-D72D-A64EF03CBD94}"/>
          </ac:spMkLst>
        </pc:spChg>
        <pc:cxnChg chg="mod">
          <ac:chgData name="Chen, Wen (Vicky)" userId="370386ac-7ced-43cd-aa57-a504dc959918" providerId="ADAL" clId="{A08629F2-BAFE-486D-9E84-BFC0507FDA27}" dt="2026-10-28T10:02:35.640" v="32" actId="14100"/>
          <ac:cxnSpMkLst>
            <pc:docMk/>
            <pc:sldMk cId="1777069741" sldId="285"/>
            <ac:cxnSpMk id="12" creationId="{C6959FA9-7E35-379E-77F4-1F6BBF5DF8D9}"/>
          </ac:cxnSpMkLst>
        </pc:cxnChg>
        <pc:cxnChg chg="mod">
          <ac:chgData name="Chen, Wen (Vicky)" userId="370386ac-7ced-43cd-aa57-a504dc959918" providerId="ADAL" clId="{A08629F2-BAFE-486D-9E84-BFC0507FDA27}" dt="2026-10-28T10:02:40.776" v="33" actId="14100"/>
          <ac:cxnSpMkLst>
            <pc:docMk/>
            <pc:sldMk cId="1777069741" sldId="285"/>
            <ac:cxnSpMk id="13" creationId="{933CCBA0-FAB3-2B8C-FF7C-6D01676E605B}"/>
          </ac:cxnSpMkLst>
        </pc:cxnChg>
        <pc:cxnChg chg="mod">
          <ac:chgData name="Chen, Wen (Vicky)" userId="370386ac-7ced-43cd-aa57-a504dc959918" providerId="ADAL" clId="{A08629F2-BAFE-486D-9E84-BFC0507FDA27}" dt="2026-10-28T10:02:31.137" v="31" actId="14100"/>
          <ac:cxnSpMkLst>
            <pc:docMk/>
            <pc:sldMk cId="1777069741" sldId="285"/>
            <ac:cxnSpMk id="14" creationId="{F1E00891-515C-956C-17FC-86789D545647}"/>
          </ac:cxnSpMkLst>
        </pc:cxnChg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702984821" sldId="286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DeepJSCC-Q</c:v>
                </c:pt>
              </c:strCache>
            </c:strRef>
          </c:tx>
          <c:spPr>
            <a:ln w="19050">
              <a:solidFill>
                <a:srgbClr val="2E5E8E"/>
              </a:solidFill>
            </a:ln>
          </c:spPr>
          <c:marker>
            <c:symbol val="circle"/>
            <c:size val="4"/>
            <c:spPr>
              <a:solidFill>
                <a:srgbClr val="FFFFFF"/>
              </a:solidFill>
              <a:ln>
                <a:solidFill>
                  <a:srgbClr val="2E5E8E"/>
                </a:solidFill>
              </a:ln>
            </c:spPr>
          </c:marker>
          <c:xVal>
            <c:numRef>
              <c:f>Sheet1!$A$2:$A$36</c:f>
              <c:numCache>
                <c:formatCode>General</c:formatCode>
                <c:ptCount val="35"/>
                <c:pt idx="0">
                  <c:v>2.94</c:v>
                </c:pt>
                <c:pt idx="1">
                  <c:v>4.94</c:v>
                </c:pt>
                <c:pt idx="2">
                  <c:v>5.9</c:v>
                </c:pt>
                <c:pt idx="3">
                  <c:v>7.03</c:v>
                </c:pt>
                <c:pt idx="4">
                  <c:v>8.43</c:v>
                </c:pt>
                <c:pt idx="5">
                  <c:v>9.3</c:v>
                </c:pt>
                <c:pt idx="6">
                  <c:v>10.49</c:v>
                </c:pt>
                <c:pt idx="7">
                  <c:v>11.48</c:v>
                </c:pt>
                <c:pt idx="8">
                  <c:v>12.48</c:v>
                </c:pt>
                <c:pt idx="9">
                  <c:v>13.02</c:v>
                </c:pt>
                <c:pt idx="10">
                  <c:v>13.74</c:v>
                </c:pt>
                <c:pt idx="11">
                  <c:v>14.18</c:v>
                </c:pt>
                <c:pt idx="12">
                  <c:v>15.76</c:v>
                </c:pt>
                <c:pt idx="13">
                  <c:v>16.33</c:v>
                </c:pt>
                <c:pt idx="14">
                  <c:v>17.03</c:v>
                </c:pt>
                <c:pt idx="15">
                  <c:v>17.36</c:v>
                </c:pt>
                <c:pt idx="16">
                  <c:v>17.38</c:v>
                </c:pt>
                <c:pt idx="17">
                  <c:v>18.45</c:v>
                </c:pt>
                <c:pt idx="18">
                  <c:v>18.91</c:v>
                </c:pt>
                <c:pt idx="19">
                  <c:v>19.54</c:v>
                </c:pt>
                <c:pt idx="20">
                  <c:v>19.68</c:v>
                </c:pt>
                <c:pt idx="21">
                  <c:v>20.79</c:v>
                </c:pt>
                <c:pt idx="22">
                  <c:v>21.31</c:v>
                </c:pt>
                <c:pt idx="23">
                  <c:v>22.48</c:v>
                </c:pt>
                <c:pt idx="24">
                  <c:v>23.1</c:v>
                </c:pt>
                <c:pt idx="25">
                  <c:v>23.24</c:v>
                </c:pt>
                <c:pt idx="26">
                  <c:v>24.49</c:v>
                </c:pt>
                <c:pt idx="27">
                  <c:v>26.5</c:v>
                </c:pt>
                <c:pt idx="28">
                  <c:v>27.69</c:v>
                </c:pt>
                <c:pt idx="29">
                  <c:v>29.56</c:v>
                </c:pt>
                <c:pt idx="30">
                  <c:v>31.97</c:v>
                </c:pt>
                <c:pt idx="31">
                  <c:v>34.43</c:v>
                </c:pt>
                <c:pt idx="32">
                  <c:v>35.2</c:v>
                </c:pt>
                <c:pt idx="33">
                  <c:v>36.14</c:v>
                </c:pt>
                <c:pt idx="34">
                  <c:v>36.49</c:v>
                </c:pt>
              </c:numCache>
            </c:numRef>
          </c:xVal>
          <c:yVal>
            <c:numRef>
              <c:f>Sheet1!$B$2:$B$36</c:f>
              <c:numCache>
                <c:formatCode>General</c:formatCode>
                <c:ptCount val="35"/>
                <c:pt idx="0">
                  <c:v>23.51</c:v>
                </c:pt>
                <c:pt idx="1">
                  <c:v>25.58</c:v>
                </c:pt>
                <c:pt idx="2">
                  <c:v>26.94</c:v>
                </c:pt>
                <c:pt idx="3">
                  <c:v>28.22</c:v>
                </c:pt>
                <c:pt idx="4">
                  <c:v>29.1</c:v>
                </c:pt>
                <c:pt idx="5">
                  <c:v>29.77</c:v>
                </c:pt>
                <c:pt idx="6">
                  <c:v>30.4</c:v>
                </c:pt>
                <c:pt idx="7">
                  <c:v>30.72</c:v>
                </c:pt>
                <c:pt idx="8">
                  <c:v>30.96</c:v>
                </c:pt>
                <c:pt idx="9">
                  <c:v>31.01</c:v>
                </c:pt>
                <c:pt idx="10">
                  <c:v>31.22</c:v>
                </c:pt>
                <c:pt idx="11">
                  <c:v>31.46</c:v>
                </c:pt>
                <c:pt idx="12">
                  <c:v>31.49</c:v>
                </c:pt>
                <c:pt idx="13">
                  <c:v>31.68</c:v>
                </c:pt>
                <c:pt idx="14">
                  <c:v>31.74</c:v>
                </c:pt>
                <c:pt idx="15">
                  <c:v>31.79</c:v>
                </c:pt>
                <c:pt idx="16">
                  <c:v>31.8</c:v>
                </c:pt>
                <c:pt idx="17">
                  <c:v>31.87</c:v>
                </c:pt>
                <c:pt idx="18">
                  <c:v>31.91</c:v>
                </c:pt>
                <c:pt idx="19">
                  <c:v>31.94</c:v>
                </c:pt>
                <c:pt idx="20">
                  <c:v>31.95</c:v>
                </c:pt>
                <c:pt idx="21">
                  <c:v>32.0</c:v>
                </c:pt>
                <c:pt idx="22">
                  <c:v>32.03</c:v>
                </c:pt>
                <c:pt idx="23">
                  <c:v>32.07</c:v>
                </c:pt>
                <c:pt idx="24">
                  <c:v>32.09</c:v>
                </c:pt>
                <c:pt idx="25">
                  <c:v>32.1</c:v>
                </c:pt>
                <c:pt idx="26">
                  <c:v>32.13</c:v>
                </c:pt>
                <c:pt idx="27">
                  <c:v>32.16</c:v>
                </c:pt>
                <c:pt idx="28">
                  <c:v>32.17</c:v>
                </c:pt>
                <c:pt idx="29">
                  <c:v>32.19</c:v>
                </c:pt>
                <c:pt idx="30">
                  <c:v>32.2</c:v>
                </c:pt>
                <c:pt idx="31">
                  <c:v>32.21</c:v>
                </c:pt>
                <c:pt idx="32">
                  <c:v>32.21</c:v>
                </c:pt>
                <c:pt idx="33">
                  <c:v>32.21</c:v>
                </c:pt>
                <c:pt idx="34">
                  <c:v>32.21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Sheet1!$B$38</c:f>
              <c:strCache>
                <c:ptCount val="1"/>
                <c:pt idx="0">
                  <c:v>JPEG + LDPC (SSCC)</c:v>
                </c:pt>
              </c:strCache>
            </c:strRef>
          </c:tx>
          <c:spPr>
            <a:ln w="19050">
              <a:solidFill>
                <a:srgbClr val="C8602A"/>
              </a:solidFill>
            </a:ln>
          </c:spPr>
          <c:marker>
            <c:symbol val="triangle"/>
            <c:size val="4"/>
            <c:spPr>
              <a:solidFill>
                <a:srgbClr val="FFFFFF"/>
              </a:solidFill>
              <a:ln>
                <a:solidFill>
                  <a:srgbClr val="C8602A"/>
                </a:solidFill>
              </a:ln>
            </c:spPr>
          </c:marker>
          <c:xVal>
            <c:numRef>
              <c:f>Sheet1!$A$39:$A$70</c:f>
              <c:numCache>
                <c:formatCode>General</c:formatCode>
                <c:ptCount val="32"/>
                <c:pt idx="0">
                  <c:v>5.15</c:v>
                </c:pt>
                <c:pt idx="1">
                  <c:v>7.91</c:v>
                </c:pt>
                <c:pt idx="2">
                  <c:v>9.21</c:v>
                </c:pt>
                <c:pt idx="3">
                  <c:v>9.62</c:v>
                </c:pt>
                <c:pt idx="4">
                  <c:v>10.52</c:v>
                </c:pt>
                <c:pt idx="5">
                  <c:v>13.67</c:v>
                </c:pt>
                <c:pt idx="6">
                  <c:v>14.51</c:v>
                </c:pt>
                <c:pt idx="7">
                  <c:v>16.17</c:v>
                </c:pt>
                <c:pt idx="8">
                  <c:v>16.55</c:v>
                </c:pt>
                <c:pt idx="9">
                  <c:v>18.84</c:v>
                </c:pt>
                <c:pt idx="10">
                  <c:v>19.02</c:v>
                </c:pt>
                <c:pt idx="11">
                  <c:v>19.15</c:v>
                </c:pt>
                <c:pt idx="12">
                  <c:v>19.4</c:v>
                </c:pt>
                <c:pt idx="13">
                  <c:v>19.56</c:v>
                </c:pt>
                <c:pt idx="14">
                  <c:v>19.96</c:v>
                </c:pt>
                <c:pt idx="15">
                  <c:v>20.31</c:v>
                </c:pt>
                <c:pt idx="16">
                  <c:v>20.94</c:v>
                </c:pt>
                <c:pt idx="17">
                  <c:v>21.77</c:v>
                </c:pt>
                <c:pt idx="18">
                  <c:v>21.85</c:v>
                </c:pt>
                <c:pt idx="19">
                  <c:v>22.67</c:v>
                </c:pt>
                <c:pt idx="20">
                  <c:v>25.13</c:v>
                </c:pt>
                <c:pt idx="21">
                  <c:v>25.71</c:v>
                </c:pt>
                <c:pt idx="22">
                  <c:v>27.49</c:v>
                </c:pt>
                <c:pt idx="23">
                  <c:v>28.02</c:v>
                </c:pt>
                <c:pt idx="24">
                  <c:v>28.64</c:v>
                </c:pt>
                <c:pt idx="25">
                  <c:v>30.27</c:v>
                </c:pt>
                <c:pt idx="26">
                  <c:v>32.4</c:v>
                </c:pt>
                <c:pt idx="27">
                  <c:v>34.48</c:v>
                </c:pt>
                <c:pt idx="28">
                  <c:v>35.22</c:v>
                </c:pt>
                <c:pt idx="29">
                  <c:v>35.76</c:v>
                </c:pt>
                <c:pt idx="30">
                  <c:v>36.11</c:v>
                </c:pt>
                <c:pt idx="31">
                  <c:v>36.85</c:v>
                </c:pt>
              </c:numCache>
            </c:numRef>
          </c:xVal>
          <c:yVal>
            <c:numRef>
              <c:f>Sheet1!$B$39:$B$70</c:f>
              <c:numCache>
                <c:formatCode>General</c:formatCode>
                <c:ptCount val="32"/>
                <c:pt idx="0">
                  <c:v>9.62</c:v>
                </c:pt>
                <c:pt idx="1">
                  <c:v>9.54</c:v>
                </c:pt>
                <c:pt idx="2">
                  <c:v>9.59</c:v>
                </c:pt>
                <c:pt idx="3">
                  <c:v>9.65</c:v>
                </c:pt>
                <c:pt idx="4">
                  <c:v>9.64</c:v>
                </c:pt>
                <c:pt idx="5">
                  <c:v>14.04</c:v>
                </c:pt>
                <c:pt idx="6">
                  <c:v>9.5</c:v>
                </c:pt>
                <c:pt idx="7">
                  <c:v>9.12</c:v>
                </c:pt>
                <c:pt idx="8">
                  <c:v>9.34</c:v>
                </c:pt>
                <c:pt idx="9">
                  <c:v>27.78</c:v>
                </c:pt>
                <c:pt idx="10">
                  <c:v>28.3</c:v>
                </c:pt>
                <c:pt idx="11">
                  <c:v>28.15</c:v>
                </c:pt>
                <c:pt idx="12">
                  <c:v>25.04</c:v>
                </c:pt>
                <c:pt idx="13">
                  <c:v>28.99</c:v>
                </c:pt>
                <c:pt idx="14">
                  <c:v>29.18</c:v>
                </c:pt>
                <c:pt idx="15">
                  <c:v>29.34</c:v>
                </c:pt>
                <c:pt idx="16">
                  <c:v>29.42</c:v>
                </c:pt>
                <c:pt idx="17">
                  <c:v>29.42</c:v>
                </c:pt>
                <c:pt idx="18">
                  <c:v>29.42</c:v>
                </c:pt>
                <c:pt idx="19">
                  <c:v>29.42</c:v>
                </c:pt>
                <c:pt idx="20">
                  <c:v>29.42</c:v>
                </c:pt>
                <c:pt idx="21">
                  <c:v>29.34</c:v>
                </c:pt>
                <c:pt idx="22">
                  <c:v>29.42</c:v>
                </c:pt>
                <c:pt idx="23">
                  <c:v>29.42</c:v>
                </c:pt>
                <c:pt idx="24">
                  <c:v>29.42</c:v>
                </c:pt>
                <c:pt idx="25">
                  <c:v>29.42</c:v>
                </c:pt>
                <c:pt idx="26">
                  <c:v>29.42</c:v>
                </c:pt>
                <c:pt idx="27">
                  <c:v>29.42</c:v>
                </c:pt>
                <c:pt idx="28">
                  <c:v>29.42</c:v>
                </c:pt>
                <c:pt idx="29">
                  <c:v>29.42</c:v>
                </c:pt>
                <c:pt idx="30">
                  <c:v>29.42</c:v>
                </c:pt>
                <c:pt idx="31">
                  <c:v>29.42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9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800" b="0">
                    <a:solidFill>
                      <a:srgbClr val="1F2933"/>
                    </a:solidFill>
                  </a:rPr>
                  <a:t>Over-the-air SNR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B8C7D6"/>
            </a:solidFill>
          </a:ln>
        </c:spPr>
        <c:txPr>
          <a:bodyPr/>
          <a:lstStyle/>
          <a:p>
            <a:pPr>
              <a:defRPr sz="800">
                <a:solidFill>
                  <a:srgbClr val="52606D"/>
                </a:solidFill>
              </a:defRPr>
            </a:pPr>
          </a:p>
        </c:txPr>
        <c:crossAx val="-2129643912"/>
        <c:crosses val="autoZero"/>
        <c:crossBetween val="midCat"/>
        <c:majorUnit val="6.0"/>
      </c:valAx>
      <c:valAx>
        <c:axId val="-2129643912"/>
        <c:scaling>
          <c:orientation val="minMax"/>
          <c:max val="35.0"/>
          <c:min val="5.0"/>
        </c:scaling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00" b="0">
                    <a:solidFill>
                      <a:srgbClr val="1F2933"/>
                    </a:solidFill>
                  </a:rPr>
                  <a:t>PSNR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B8C7D6"/>
            </a:solidFill>
          </a:ln>
        </c:spPr>
        <c:txPr>
          <a:bodyPr/>
          <a:lstStyle/>
          <a:p>
            <a:pPr>
              <a:defRPr sz="800">
                <a:solidFill>
                  <a:srgbClr val="52606D"/>
                </a:solidFill>
              </a:defRPr>
            </a:pPr>
          </a:p>
        </c:txPr>
        <c:crossAx val="-2128940872"/>
        <c:crosses val="autoZero"/>
        <c:crossBetween val="midCat"/>
        <c:majorUnit val="5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800">
          <a:latin typeface="Calibri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5:54 PM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5:51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199" y="3730752"/>
            <a:ext cx="9203375" cy="1285186"/>
          </a:xfrm>
          <a:noFill/>
        </p:spPr>
        <p:txBody>
          <a:bodyPr wrap="square" lIns="0" tIns="0" rIns="0" bIns="0" anchor="b" anchorCtr="0">
            <a:no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5416299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0B977-ED39-4A6F-B505-8559A07A7E8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487337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3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FFEA8-7820-4325-8EB6-9B49BA536D4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1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1" y="1432111"/>
            <a:ext cx="11018838" cy="4836927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435100"/>
            <a:ext cx="5211764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9" y="1435100"/>
            <a:ext cx="5219700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1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3182780"/>
            <a:ext cx="11018521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9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20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2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20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2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20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2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20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2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20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2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1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2" y="3535544"/>
            <a:ext cx="4162426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62021" indent="0">
              <a:buNone/>
              <a:defRPr/>
            </a:lvl4pPr>
            <a:lvl5pPr marL="85570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8" orient="horz" pos="2226" userDrawn="1">
          <p15:clr>
            <a:srgbClr val="5ACBF0"/>
          </p15:clr>
        </p15:guide>
        <p15:guide id="10" pos="3729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43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3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3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90" y="1043679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1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497686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927845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6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 userDrawn="1">
          <p15:clr>
            <a:srgbClr val="5ACBF0"/>
          </p15:clr>
        </p15:guide>
        <p15:guide id="7" pos="3931" userDrawn="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4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2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2" y="2029782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2" y="2617284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8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8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6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8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6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3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40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3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40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7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7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22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2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2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6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822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1963" userDrawn="1">
          <p15:clr>
            <a:srgbClr val="5ACBF0"/>
          </p15:clr>
        </p15:guide>
        <p15:guide id="7" pos="2150" userDrawn="1">
          <p15:clr>
            <a:srgbClr val="5ACBF0"/>
          </p15:clr>
        </p15:guide>
        <p15:guide id="8" pos="3747" userDrawn="1">
          <p15:clr>
            <a:srgbClr val="5ACBF0"/>
          </p15:clr>
        </p15:guide>
        <p15:guide id="9" pos="3933" userDrawn="1">
          <p15:clr>
            <a:srgbClr val="5ACBF0"/>
          </p15:clr>
        </p15:guide>
        <p15:guide id="10" pos="5530" userDrawn="1">
          <p15:clr>
            <a:srgbClr val="5ACBF0"/>
          </p15:clr>
        </p15:guide>
        <p15:guide id="11" pos="5716" userDrawn="1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9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5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5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7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5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5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4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099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5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2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3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8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20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6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8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8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4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6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6" y="3895725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8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4" y="4126200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5" y="4824848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9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9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8" userDrawn="1">
          <p15:clr>
            <a:srgbClr val="5ACBF0"/>
          </p15:clr>
        </p15:guide>
        <p15:guide id="21" pos="5113" userDrawn="1">
          <p15:clr>
            <a:srgbClr val="5ACBF0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5" y="2131032"/>
            <a:ext cx="6961188" cy="3980641"/>
          </a:xfrm>
        </p:spPr>
        <p:txBody>
          <a:bodyPr>
            <a:normAutofit/>
          </a:bodyPr>
          <a:lstStyle>
            <a:lvl1pPr marL="320056" indent="-320056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11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4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1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 userDrawn="1">
          <p15:clr>
            <a:srgbClr val="5ACBF0"/>
          </p15:clr>
        </p15:guide>
        <p15:guide id="29" orient="horz" pos="1271" userDrawn="1">
          <p15:clr>
            <a:srgbClr val="5ACBF0"/>
          </p15:clr>
        </p15:guide>
        <p15:guide id="33" pos="2928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5" y="3211972"/>
            <a:ext cx="3182027" cy="430887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103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7" userDrawn="1">
          <p15:clr>
            <a:srgbClr val="5ACBF0"/>
          </p15:clr>
        </p15:guide>
        <p15:guide id="31" pos="3114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5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2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F4CBF-3771-416F-BD4B-AF9C13A617ED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2978" y="3207401"/>
            <a:ext cx="2702419" cy="5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4" y="1436688"/>
            <a:ext cx="11018521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71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3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604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1050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4" y="1436692"/>
            <a:ext cx="11020426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11" indent="0">
              <a:buNone/>
              <a:defRPr sz="1100"/>
            </a:lvl2pPr>
            <a:lvl3pPr marL="457223" indent="0">
              <a:buNone/>
              <a:defRPr sz="1100"/>
            </a:lvl3pPr>
            <a:lvl4pPr marL="662021" indent="0">
              <a:buNone/>
              <a:defRPr sz="1100"/>
            </a:lvl4pPr>
            <a:lvl5pPr marL="855706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5CD1CF4-BF52-4A9A-864B-B7138A0D820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2" y="585791"/>
            <a:ext cx="1339351" cy="2926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B3EC8B-A541-4803-BD06-4CF36BCBC7AC}"/>
              </a:ext>
            </a:extLst>
          </p:cNvPr>
          <p:cNvSpPr txBox="1"/>
          <p:nvPr userDrawn="1"/>
        </p:nvSpPr>
        <p:spPr>
          <a:xfrm>
            <a:off x="196320" y="6553366"/>
            <a:ext cx="114455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4" y="591794"/>
            <a:ext cx="11018521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1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7D7AC4D-9491-4E01-B00E-358B03A637B8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1410467" y="6561727"/>
            <a:ext cx="645078" cy="15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0" r:id="rId1"/>
    <p:sldLayoutId id="2147484833" r:id="rId2"/>
    <p:sldLayoutId id="2147484710" r:id="rId3"/>
    <p:sldLayoutId id="2147484240" r:id="rId4"/>
    <p:sldLayoutId id="2147484736" r:id="rId5"/>
    <p:sldLayoutId id="2147484474" r:id="rId6"/>
    <p:sldLayoutId id="2147484639" r:id="rId7"/>
    <p:sldLayoutId id="2147484603" r:id="rId8"/>
    <p:sldLayoutId id="2147484919" r:id="rId9"/>
    <p:sldLayoutId id="2147484751" r:id="rId10"/>
    <p:sldLayoutId id="2147484914" r:id="rId11"/>
    <p:sldLayoutId id="2147484835" r:id="rId12"/>
    <p:sldLayoutId id="2147484836" r:id="rId13"/>
    <p:sldLayoutId id="2147484837" r:id="rId14"/>
    <p:sldLayoutId id="2147484838" r:id="rId15"/>
    <p:sldLayoutId id="2147484923" r:id="rId16"/>
    <p:sldLayoutId id="2147484925" r:id="rId17"/>
    <p:sldLayoutId id="2147484839" r:id="rId18"/>
    <p:sldLayoutId id="2147484922" r:id="rId19"/>
    <p:sldLayoutId id="2147484783" r:id="rId20"/>
    <p:sldLayoutId id="2147484784" r:id="rId21"/>
    <p:sldLayoutId id="2147484787" r:id="rId22"/>
    <p:sldLayoutId id="2147484249" r:id="rId23"/>
    <p:sldLayoutId id="2147484671" r:id="rId24"/>
    <p:sldLayoutId id="2147484585" r:id="rId25"/>
    <p:sldLayoutId id="2147484924" r:id="rId26"/>
    <p:sldLayoutId id="2147484299" r:id="rId27"/>
  </p:sldLayoutIdLst>
  <p:transition>
    <p:fade/>
  </p:transition>
  <p:hf hdr="0" dt="0"/>
  <p:txStyles>
    <p:titleStyle>
      <a:lvl1pPr algn="l" defTabSz="932789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11" marR="0" indent="-228611" algn="l" defTabSz="93278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23" marR="0" indent="-228611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58" marR="0" indent="-200035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3005" marR="0" indent="-1809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89" marR="0" indent="-1682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16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56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95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35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95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89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8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577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97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36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761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15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6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emf"/><Relationship Id="rId8" Type="http://schemas.openxmlformats.org/officeDocument/2006/relationships/image" Target="../media/image6.emf"/><Relationship Id="rId9" Type="http://schemas.openxmlformats.org/officeDocument/2006/relationships/image" Target="../media/image7.png"/><Relationship Id="rId10" Type="http://schemas.openxmlformats.org/officeDocument/2006/relationships/image" Target="../media/image8.jpg"/><Relationship Id="rId11" Type="http://schemas.openxmlformats.org/officeDocument/2006/relationships/image" Target="../media/image9.png"/><Relationship Id="rId12" Type="http://schemas.openxmlformats.org/officeDocument/2006/relationships/chart" Target="../charts/chart1.xml"/><Relationship Id="rId1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C995DB8-75D8-49DC-0386-88FDA751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97" y="1005840"/>
            <a:ext cx="2795337" cy="414731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E59B8-9F4D-053C-0F8B-5ED9412D6AB0}"/>
              </a:ext>
            </a:extLst>
          </p:cNvPr>
          <p:cNvSpPr txBox="1"/>
          <p:nvPr/>
        </p:nvSpPr>
        <p:spPr>
          <a:xfrm>
            <a:off x="210312" y="146304"/>
            <a:ext cx="576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GlideLink: Real-Time DeepJSCC-Q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Image Transmission on AMD FPGA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287D67-CCD3-19BE-8AF4-A871E54A8F95}"/>
              </a:ext>
            </a:extLst>
          </p:cNvPr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959FA9-7E35-379E-77F4-1F6BBF5DF8D9}"/>
              </a:ext>
            </a:extLst>
          </p:cNvPr>
          <p:cNvCxnSpPr>
            <a:cxnSpLocks/>
          </p:cNvCxnSpPr>
          <p:nvPr/>
        </p:nvCxnSpPr>
        <p:spPr>
          <a:xfrm>
            <a:off x="5986823" y="174738"/>
            <a:ext cx="2322305" cy="17432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3CCBA0-FAB3-2B8C-FF7C-6D01676E605B}"/>
              </a:ext>
            </a:extLst>
          </p:cNvPr>
          <p:cNvCxnSpPr>
            <a:cxnSpLocks/>
          </p:cNvCxnSpPr>
          <p:nvPr/>
        </p:nvCxnSpPr>
        <p:spPr>
          <a:xfrm flipV="1">
            <a:off x="8309128" y="1906544"/>
            <a:ext cx="3703067" cy="107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E00891-515C-956C-17FC-86789D545647}"/>
              </a:ext>
            </a:extLst>
          </p:cNvPr>
          <p:cNvCxnSpPr>
            <a:cxnSpLocks/>
          </p:cNvCxnSpPr>
          <p:nvPr/>
        </p:nvCxnSpPr>
        <p:spPr>
          <a:xfrm>
            <a:off x="8309128" y="1918018"/>
            <a:ext cx="0" cy="47294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A8BB8A-757B-80CF-815C-9D38C446C382}"/>
              </a:ext>
            </a:extLst>
          </p:cNvPr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20DEE-473C-F0A0-702A-0AA174A7D64D}"/>
              </a:ext>
            </a:extLst>
          </p:cNvPr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FB17D-6681-9646-6AEB-AA8BC90223D4}"/>
              </a:ext>
            </a:extLst>
          </p:cNvPr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5677F-74CC-855B-F5BA-35FD8189A5E7}"/>
              </a:ext>
            </a:extLst>
          </p:cNvPr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E8C42-C5C5-45B5-77EE-81DC6B96AD47}"/>
              </a:ext>
            </a:extLst>
          </p:cNvPr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5931B6-43C9-EB12-E37A-11550192C790}"/>
              </a:ext>
            </a:extLst>
          </p:cNvPr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E6047-C2CF-4021-B327-3FBE9E7237E2}"/>
              </a:ext>
            </a:extLst>
          </p:cNvPr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AE34A-7A36-83DC-8ED6-25A3D5CD40C7}"/>
              </a:ext>
            </a:extLst>
          </p:cNvPr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5C4FA3-129B-F950-2BCA-DCE18597BC89}"/>
              </a:ext>
            </a:extLst>
          </p:cNvPr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5DE821-D947-FE25-E23C-03CDF7C04F18}"/>
              </a:ext>
            </a:extLst>
          </p:cNvPr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966AF8-61F6-A290-A297-72FBA829E9F9}"/>
              </a:ext>
            </a:extLst>
          </p:cNvPr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DDAD4C-6371-60F0-D31B-49E106648ED6}"/>
              </a:ext>
            </a:extLst>
          </p:cNvPr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559CAE-AB28-7853-E93A-F04FB1CC8255}"/>
              </a:ext>
            </a:extLst>
          </p:cNvPr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5AD82-5B0D-F511-CED0-2F391E146EBF}"/>
              </a:ext>
            </a:extLst>
          </p:cNvPr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61224-2DEF-8496-CEB1-1EEE08DC3753}"/>
              </a:ext>
            </a:extLst>
          </p:cNvPr>
          <p:cNvSpPr txBox="1"/>
          <p:nvPr/>
        </p:nvSpPr>
        <p:spPr>
          <a:xfrm>
            <a:off x="6355080" y="236828"/>
            <a:ext cx="30175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Cunxi Fan, Zhongyu Wang, Junxian Yang</a:t>
            </a:r>
          </a:p>
        </p:txBody>
      </p:sp>
      <p:sp>
        <p:nvSpPr>
          <p:cNvPr id="30" name="文本框 4">
            <a:extLst>
              <a:ext uri="{FF2B5EF4-FFF2-40B4-BE49-F238E27FC236}">
                <a16:creationId xmlns:a16="http://schemas.microsoft.com/office/drawing/2014/main" id="{3AD9C1E2-56A2-91FD-2214-C3508F5F5345}"/>
              </a:ext>
            </a:extLst>
          </p:cNvPr>
          <p:cNvSpPr txBox="1"/>
          <p:nvPr/>
        </p:nvSpPr>
        <p:spPr>
          <a:xfrm>
            <a:off x="10058400" y="1243584"/>
            <a:ext cx="2103120" cy="3657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On-board test: RX (left), TX (right)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AMD Zynq UltraScale+ MPSoC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BC273-1ABD-8CAB-E5D8-4D352647280A}"/>
              </a:ext>
            </a:extLst>
          </p:cNvPr>
          <p:cNvSpPr txBox="1"/>
          <p:nvPr/>
        </p:nvSpPr>
        <p:spPr>
          <a:xfrm>
            <a:off x="7059168" y="438594"/>
            <a:ext cx="2286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University of Electronic Science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and Technology of China,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Sichuan Province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E3CBA43-B054-3929-F3E6-E92043E5955C}"/>
              </a:ext>
            </a:extLst>
          </p:cNvPr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DB4547-F8A8-AC99-BDDA-3BD88EEEFCBA}"/>
              </a:ext>
            </a:extLst>
          </p:cNvPr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818903-E8A5-070B-B626-2835FFF26BE2}"/>
              </a:ext>
            </a:extLst>
          </p:cNvPr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061FB-4930-B9C6-D201-30FE131249F9}"/>
              </a:ext>
            </a:extLst>
          </p:cNvPr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C644A4-F195-B057-8FDB-67F8C1451B3B}"/>
              </a:ext>
            </a:extLst>
          </p:cNvPr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1D43C-2CF0-2C54-2E0B-69ABAC43B76A}"/>
              </a:ext>
            </a:extLst>
          </p:cNvPr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0892E4-2FC6-FFFD-DF5B-D316B8D651FB}"/>
              </a:ext>
            </a:extLst>
          </p:cNvPr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26B71EE-FA39-6F56-7769-2C9328852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872" y="996093"/>
            <a:ext cx="1764303" cy="992420"/>
          </a:xfrm>
          <a:prstGeom prst="rect">
            <a:avLst/>
          </a:prstGeom>
        </p:spPr>
      </p:pic>
      <p:pic>
        <p:nvPicPr>
          <p:cNvPr id="40" name="Picture 39" descr="uestc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5168" y="128016"/>
            <a:ext cx="751478" cy="749808"/>
          </a:xfrm>
          <a:prstGeom prst="rect">
            <a:avLst/>
          </a:prstGeom>
        </p:spPr>
      </p:pic>
      <p:pic>
        <p:nvPicPr>
          <p:cNvPr id="41" name="Picture 40" descr="hardware_cutou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13264" y="91440"/>
            <a:ext cx="2048256" cy="112821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01168" y="1536192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Live video from drones, robots and remote cameras must cross radio links whose SNR changes from moment to moment.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Separate source-channel coding (SSCC)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 compresses the image with JPEG and adds a channel code: below the code threshold, bit errors propagate through the variable-length code and the whole image is lost (the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cliff effect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); above it, quality no longer improves.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" y="274320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alibri"/>
              </a:rPr>
              <a:t>Typical application case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2990088"/>
            <a:ext cx="585216" cy="512064"/>
          </a:xfrm>
          <a:prstGeom prst="roundRect">
            <a:avLst>
              <a:gd name="adj" fmla="val 12000"/>
            </a:avLst>
          </a:prstGeom>
          <a:solidFill>
            <a:srgbClr val="EEE8F5"/>
          </a:solidFill>
          <a:ln w="9525">
            <a:solidFill>
              <a:srgbClr val="7E6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50" b="1">
                <a:solidFill>
                  <a:srgbClr val="1F2933"/>
                </a:solidFill>
                <a:latin typeface="Calibri"/>
              </a:rPr>
              <a:t>Camera</a:t>
            </a:r>
          </a:p>
          <a:p>
            <a:pPr algn="ctr"/>
            <a:r>
              <a:rPr sz="700" b="0">
                <a:solidFill>
                  <a:srgbClr val="52606D"/>
                </a:solidFill>
                <a:latin typeface="Calibri"/>
              </a:rPr>
              <a:t>drone / robot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59536" y="3246120"/>
            <a:ext cx="155448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14984" y="2990088"/>
            <a:ext cx="585216" cy="512064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9525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50" b="1">
                <a:solidFill>
                  <a:srgbClr val="1F2933"/>
                </a:solidFill>
                <a:latin typeface="Calibri"/>
              </a:rPr>
              <a:t>Encoder</a:t>
            </a:r>
          </a:p>
          <a:p>
            <a:pPr algn="ctr"/>
            <a:r>
              <a:rPr sz="700" b="0">
                <a:solidFill>
                  <a:srgbClr val="52606D"/>
                </a:solidFill>
                <a:latin typeface="Calibri"/>
              </a:rPr>
              <a:t>FPGA, TX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00200" y="3246120"/>
            <a:ext cx="155448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755648" y="2990088"/>
            <a:ext cx="585216" cy="512064"/>
          </a:xfrm>
          <a:prstGeom prst="roundRect">
            <a:avLst>
              <a:gd name="adj" fmla="val 12000"/>
            </a:avLst>
          </a:prstGeom>
          <a:solidFill>
            <a:srgbClr val="E8F2E1"/>
          </a:solidFill>
          <a:ln w="9525">
            <a:solidFill>
              <a:srgbClr val="5B8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50" b="1">
                <a:solidFill>
                  <a:srgbClr val="1F2933"/>
                </a:solidFill>
                <a:latin typeface="Calibri"/>
              </a:rPr>
              <a:t>Radio channel</a:t>
            </a:r>
          </a:p>
          <a:p>
            <a:pPr algn="ctr"/>
            <a:r>
              <a:rPr sz="700" b="0">
                <a:solidFill>
                  <a:srgbClr val="52606D"/>
                </a:solidFill>
                <a:latin typeface="Calibri"/>
              </a:rPr>
              <a:t>noise, fading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340864" y="3246120"/>
            <a:ext cx="155448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496312" y="2990088"/>
            <a:ext cx="585216" cy="512064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9525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50" b="1">
                <a:solidFill>
                  <a:srgbClr val="1F2933"/>
                </a:solidFill>
                <a:latin typeface="Calibri"/>
              </a:rPr>
              <a:t>Decoder</a:t>
            </a:r>
          </a:p>
          <a:p>
            <a:pPr algn="ctr"/>
            <a:r>
              <a:rPr sz="700" b="0">
                <a:solidFill>
                  <a:srgbClr val="52606D"/>
                </a:solidFill>
                <a:latin typeface="Calibri"/>
              </a:rPr>
              <a:t>FPGA, RX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081528" y="3246120"/>
            <a:ext cx="155448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236976" y="2990088"/>
            <a:ext cx="585216" cy="512064"/>
          </a:xfrm>
          <a:prstGeom prst="roundRect">
            <a:avLst>
              <a:gd name="adj" fmla="val 12000"/>
            </a:avLst>
          </a:prstGeom>
          <a:solidFill>
            <a:srgbClr val="EEE8F5"/>
          </a:solidFill>
          <a:ln w="9525">
            <a:solidFill>
              <a:srgbClr val="7E6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50" b="1">
                <a:solidFill>
                  <a:srgbClr val="1F2933"/>
                </a:solidFill>
                <a:latin typeface="Calibri"/>
              </a:rPr>
              <a:t>Display</a:t>
            </a:r>
          </a:p>
          <a:p>
            <a:pPr algn="ctr"/>
            <a:r>
              <a:rPr sz="700" b="0">
                <a:solidFill>
                  <a:srgbClr val="52606D"/>
                </a:solidFill>
                <a:latin typeface="Calibri"/>
              </a:rPr>
              <a:t>live 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1168" y="3639312"/>
            <a:ext cx="365760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Deep joint source-channel coding (DeepJSCC)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 maps pixels directly to channel symbols with a pair of CNNs, so image quality follows the SNR smoothly.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DeepJSCC-Q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 (Tung et al., JSAIT 2022) restricts the symbols to a QAM constellation that a standard digital PHY can carry, but it is computation-heavy and the receiver must pass undecided soft symbols to the decoder.</a:t>
            </a:r>
          </a:p>
          <a:p>
            <a:pPr algn="l">
              <a:spcBef>
                <a:spcPts val="700"/>
              </a:spcBef>
            </a:pPr>
            <a:r>
              <a:rPr sz="1100" b="1" i="0">
                <a:solidFill>
                  <a:srgbClr val="000000"/>
                </a:solidFill>
                <a:latin typeface="Calibri"/>
              </a:rPr>
              <a:t>GlideLink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 builds a complete real-time link on two AMD Zynq UltraScale+ MPSoC boards (PYNQ-ZU) with AD9361 radios. The DeepJSCC-Q encoder, the decoder and an 802.11a-like OFDM PHY all run in the PL and send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256 × 256 RGB images at 30 fps over the air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. The PS captures camera frames, sets up the radios and shows the live link on a touch screen.</a:t>
            </a:r>
          </a:p>
          <a:p>
            <a:pPr algn="l">
              <a:spcBef>
                <a:spcPts val="700"/>
              </a:spcBef>
            </a:pPr>
            <a:r>
              <a:rPr sz="1100" b="1" i="0">
                <a:solidFill>
                  <a:srgbClr val="000000"/>
                </a:solidFill>
                <a:latin typeface="Calibri"/>
              </a:rPr>
              <a:t>Key technical issues: 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fitting a 1.15-GMAC-per-frame CNN codec into one FPGA at 30 fps with all weights on chip; synchronizing and tracking 683-symbol OFDM frames precisely enough for soft-symbol decoding; and a fair over-the-air comparison with JPEG + LDPC on the same PHY.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00016" y="1298448"/>
            <a:ext cx="1737360" cy="768096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8A9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79" y="1325880"/>
            <a:ext cx="1627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000000"/>
                </a:solidFill>
                <a:latin typeface="Calibri"/>
              </a:rPr>
              <a:t>TX board</a:t>
            </a:r>
            <a:r>
              <a:rPr sz="750" b="0" i="0">
                <a:solidFill>
                  <a:srgbClr val="52606D"/>
                </a:solidFill>
                <a:latin typeface="Calibri"/>
              </a:rPr>
              <a:t>  PYNQ-ZU (xczu5eg)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45736" y="1481328"/>
            <a:ext cx="713232" cy="530352"/>
          </a:xfrm>
          <a:prstGeom prst="roundRect">
            <a:avLst>
              <a:gd name="adj" fmla="val 12000"/>
            </a:avLst>
          </a:prstGeom>
          <a:solidFill>
            <a:srgbClr val="EEE8F5"/>
          </a:solidFill>
          <a:ln w="9525">
            <a:solidFill>
              <a:srgbClr val="7E6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>
                <a:solidFill>
                  <a:srgbClr val="1F2933"/>
                </a:solidFill>
                <a:latin typeface="Calibri"/>
              </a:rPr>
              <a:t>PS</a:t>
            </a:r>
          </a:p>
          <a:p>
            <a:pPr algn="ctr"/>
            <a:r>
              <a:rPr sz="650" b="0">
                <a:solidFill>
                  <a:srgbClr val="52606D"/>
                </a:solidFill>
                <a:latin typeface="Calibri"/>
              </a:rPr>
              <a:t>4× Cortex-A53, Linux: camera, radio setup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78424" y="1481328"/>
            <a:ext cx="713232" cy="530352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9525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>
                <a:solidFill>
                  <a:srgbClr val="1F2933"/>
                </a:solidFill>
                <a:latin typeface="Calibri"/>
              </a:rPr>
              <a:t>PL</a:t>
            </a:r>
          </a:p>
          <a:p>
            <a:pPr algn="ctr"/>
            <a:r>
              <a:rPr sz="650" b="0">
                <a:solidFill>
                  <a:srgbClr val="52606D"/>
                </a:solidFill>
                <a:latin typeface="Calibri"/>
              </a:rPr>
              <a:t>CNN encoder, OFDM TX, LDPC encoder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05072" y="1481328"/>
            <a:ext cx="512064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A9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>
                <a:solidFill>
                  <a:srgbClr val="1F2933"/>
                </a:solidFill>
                <a:latin typeface="Calibri"/>
              </a:rPr>
              <a:t>USB camera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17136" y="1746504"/>
            <a:ext cx="228600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425696" y="1609344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52606D"/>
                </a:solidFill>
                <a:latin typeface="Calibri"/>
              </a:rPr>
              <a:t>USB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20255" y="1481328"/>
            <a:ext cx="512064" cy="530352"/>
          </a:xfrm>
          <a:prstGeom prst="roundRect">
            <a:avLst>
              <a:gd name="adj" fmla="val 12000"/>
            </a:avLst>
          </a:prstGeom>
          <a:solidFill>
            <a:srgbClr val="E8F2E1"/>
          </a:solidFill>
          <a:ln w="9525">
            <a:solidFill>
              <a:srgbClr val="5B8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>
                <a:solidFill>
                  <a:srgbClr val="1F2933"/>
                </a:solidFill>
                <a:latin typeface="Calibri"/>
              </a:rPr>
              <a:t>AD9361</a:t>
            </a:r>
          </a:p>
          <a:p>
            <a:pPr algn="ctr"/>
            <a:r>
              <a:rPr sz="600" b="0">
                <a:solidFill>
                  <a:srgbClr val="52606D"/>
                </a:solidFill>
                <a:latin typeface="Calibri"/>
              </a:rPr>
              <a:t>RF card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458968" y="1746504"/>
            <a:ext cx="219456" cy="0"/>
          </a:xfrm>
          <a:prstGeom prst="line">
            <a:avLst/>
          </a:prstGeom>
          <a:ln w="12700">
            <a:solidFill>
              <a:srgbClr val="1F293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391656" y="1746504"/>
            <a:ext cx="228599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404104" y="1609344"/>
            <a:ext cx="329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52606D"/>
                </a:solidFill>
                <a:latin typeface="Calibri"/>
              </a:rPr>
              <a:t>AXI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6792" y="1609344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52606D"/>
                </a:solidFill>
                <a:latin typeface="Calibri"/>
              </a:rPr>
              <a:t>FMC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7196327" y="1572768"/>
            <a:ext cx="0" cy="201168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7141464" y="1499616"/>
            <a:ext cx="54863" cy="73152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196327" y="1499616"/>
            <a:ext cx="54864" cy="73152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132319" y="1773936"/>
            <a:ext cx="64008" cy="0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4700016" y="2395728"/>
            <a:ext cx="1737360" cy="768096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12700">
            <a:solidFill>
              <a:srgbClr val="8A9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79" y="2423160"/>
            <a:ext cx="162763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000000"/>
                </a:solidFill>
                <a:latin typeface="Calibri"/>
              </a:rPr>
              <a:t>RX board</a:t>
            </a:r>
            <a:r>
              <a:rPr sz="750" b="0" i="0">
                <a:solidFill>
                  <a:srgbClr val="52606D"/>
                </a:solidFill>
                <a:latin typeface="Calibri"/>
              </a:rPr>
              <a:t>  PYNQ-ZU (xczu5eg)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745736" y="2578608"/>
            <a:ext cx="713232" cy="530352"/>
          </a:xfrm>
          <a:prstGeom prst="roundRect">
            <a:avLst>
              <a:gd name="adj" fmla="val 12000"/>
            </a:avLst>
          </a:prstGeom>
          <a:solidFill>
            <a:srgbClr val="EEE8F5"/>
          </a:solidFill>
          <a:ln w="9525">
            <a:solidFill>
              <a:srgbClr val="7E6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>
                <a:solidFill>
                  <a:srgbClr val="1F2933"/>
                </a:solidFill>
                <a:latin typeface="Calibri"/>
              </a:rPr>
              <a:t>PS</a:t>
            </a:r>
          </a:p>
          <a:p>
            <a:pPr algn="ctr"/>
            <a:r>
              <a:rPr sz="650" b="0">
                <a:solidFill>
                  <a:srgbClr val="52606D"/>
                </a:solidFill>
                <a:latin typeface="Calibri"/>
              </a:rPr>
              <a:t>A53 + Mali-400 GPU: GUI, web page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78424" y="2578608"/>
            <a:ext cx="713232" cy="530352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9525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>
                <a:solidFill>
                  <a:srgbClr val="1F2933"/>
                </a:solidFill>
                <a:latin typeface="Calibri"/>
              </a:rPr>
              <a:t>PL</a:t>
            </a:r>
          </a:p>
          <a:p>
            <a:pPr algn="ctr"/>
            <a:r>
              <a:rPr sz="650" b="0">
                <a:solidFill>
                  <a:srgbClr val="52606D"/>
                </a:solidFill>
                <a:latin typeface="Calibri"/>
              </a:rPr>
              <a:t>OFDM RX, CNN decoder, LDPC decoder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005072" y="2578608"/>
            <a:ext cx="512064" cy="246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A9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750" b="1">
                <a:solidFill>
                  <a:srgbClr val="1F2933"/>
                </a:solidFill>
                <a:latin typeface="Calibri"/>
              </a:rPr>
              <a:t>Touch screen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005072" y="2862072"/>
            <a:ext cx="512064" cy="246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A9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750" b="1">
                <a:solidFill>
                  <a:srgbClr val="1F2933"/>
                </a:solidFill>
                <a:latin typeface="Calibri"/>
              </a:rPr>
              <a:t>Phone</a:t>
            </a:r>
          </a:p>
        </p:txBody>
      </p:sp>
      <p:cxnSp>
        <p:nvCxnSpPr>
          <p:cNvPr id="76" name="Connector 75"/>
          <p:cNvCxnSpPr/>
          <p:nvPr/>
        </p:nvCxnSpPr>
        <p:spPr>
          <a:xfrm flipH="1">
            <a:off x="4517136" y="2702052"/>
            <a:ext cx="228600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425696" y="2564892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52606D"/>
                </a:solidFill>
                <a:latin typeface="Calibri"/>
              </a:rPr>
              <a:t>DP</a:t>
            </a:r>
          </a:p>
        </p:txBody>
      </p:sp>
      <p:cxnSp>
        <p:nvCxnSpPr>
          <p:cNvPr id="78" name="Connector 77"/>
          <p:cNvCxnSpPr/>
          <p:nvPr/>
        </p:nvCxnSpPr>
        <p:spPr>
          <a:xfrm flipH="1">
            <a:off x="4517136" y="2985516"/>
            <a:ext cx="228600" cy="0"/>
          </a:xfrm>
          <a:prstGeom prst="line">
            <a:avLst/>
          </a:prstGeom>
          <a:ln w="12700">
            <a:solidFill>
              <a:srgbClr val="1F2933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425696" y="2848356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52606D"/>
                </a:solidFill>
                <a:latin typeface="Calibri"/>
              </a:rPr>
              <a:t>Wi-Fi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620255" y="2578608"/>
            <a:ext cx="512064" cy="530352"/>
          </a:xfrm>
          <a:prstGeom prst="roundRect">
            <a:avLst>
              <a:gd name="adj" fmla="val 12000"/>
            </a:avLst>
          </a:prstGeom>
          <a:solidFill>
            <a:srgbClr val="E8F2E1"/>
          </a:solidFill>
          <a:ln w="9525">
            <a:solidFill>
              <a:srgbClr val="5B8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800" b="1">
                <a:solidFill>
                  <a:srgbClr val="1F2933"/>
                </a:solidFill>
                <a:latin typeface="Calibri"/>
              </a:rPr>
              <a:t>AD9361</a:t>
            </a:r>
          </a:p>
          <a:p>
            <a:pPr algn="ctr"/>
            <a:r>
              <a:rPr sz="600" b="0">
                <a:solidFill>
                  <a:srgbClr val="52606D"/>
                </a:solidFill>
                <a:latin typeface="Calibri"/>
              </a:rPr>
              <a:t>RF card</a:t>
            </a:r>
          </a:p>
        </p:txBody>
      </p:sp>
      <p:cxnSp>
        <p:nvCxnSpPr>
          <p:cNvPr id="81" name="Connector 80"/>
          <p:cNvCxnSpPr/>
          <p:nvPr/>
        </p:nvCxnSpPr>
        <p:spPr>
          <a:xfrm flipH="1">
            <a:off x="5458968" y="2843784"/>
            <a:ext cx="219456" cy="0"/>
          </a:xfrm>
          <a:prstGeom prst="line">
            <a:avLst/>
          </a:prstGeom>
          <a:ln w="12700">
            <a:solidFill>
              <a:srgbClr val="1F293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6391656" y="2843784"/>
            <a:ext cx="228599" cy="0"/>
          </a:xfrm>
          <a:prstGeom prst="line">
            <a:avLst/>
          </a:prstGeom>
          <a:ln w="12700">
            <a:solidFill>
              <a:srgbClr val="1F293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404104" y="2706624"/>
            <a:ext cx="329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52606D"/>
                </a:solidFill>
                <a:latin typeface="Calibri"/>
              </a:rPr>
              <a:t>AXI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36792" y="2706624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52606D"/>
                </a:solidFill>
                <a:latin typeface="Calibri"/>
              </a:rPr>
              <a:t>FMC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7196327" y="2670048"/>
            <a:ext cx="0" cy="201168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7141464" y="2596896"/>
            <a:ext cx="54863" cy="73152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196327" y="2596896"/>
            <a:ext cx="54864" cy="73152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132319" y="2871216"/>
            <a:ext cx="64008" cy="0"/>
          </a:xfrm>
          <a:prstGeom prst="line">
            <a:avLst/>
          </a:prstGeom>
          <a:ln w="1270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876288" y="2011679"/>
            <a:ext cx="0" cy="566929"/>
          </a:xfrm>
          <a:prstGeom prst="line">
            <a:avLst/>
          </a:prstGeom>
          <a:ln w="22225">
            <a:solidFill>
              <a:srgbClr val="C8602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912864" y="2103120"/>
            <a:ext cx="731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C8602A"/>
                </a:solidFill>
                <a:latin typeface="Calibri"/>
              </a:rPr>
              <a:t>over the air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02351" y="2011679"/>
            <a:ext cx="0" cy="566929"/>
          </a:xfrm>
          <a:prstGeom prst="line">
            <a:avLst/>
          </a:prstGeom>
          <a:ln w="12700">
            <a:solidFill>
              <a:srgbClr val="52606D"/>
            </a:solidFill>
            <a:prstDash val="dash"/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148071" y="2103120"/>
            <a:ext cx="1280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52606D"/>
                </a:solidFill>
                <a:latin typeface="Calibri"/>
              </a:rPr>
              <a:t>Ethernet: TX preview, control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69480" y="1325880"/>
            <a:ext cx="274320" cy="1828800"/>
          </a:xfrm>
          <a:prstGeom prst="rect">
            <a:avLst/>
          </a:prstGeom>
          <a:noFill/>
        </p:spPr>
        <p:txBody>
          <a:bodyPr wrap="square" lIns="0" rIns="0" tIns="0" bIns="0" anchor="ctr" vert="vert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alibri"/>
              </a:rPr>
              <a:t>System Architecture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05072" y="3264408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Calibri"/>
              </a:rPr>
              <a:t>Key innovations and technical issues addressed:</a:t>
            </a:r>
          </a:p>
        </p:txBody>
      </p:sp>
      <p:pic>
        <p:nvPicPr>
          <p:cNvPr id="95" name="Picture 94" descr="gui_phy_p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9824" y="5394960"/>
            <a:ext cx="2121408" cy="115185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4005072" y="3566160"/>
            <a:ext cx="3611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1. Streaming CNN accelerator: 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W8A12 integer layers on 64 convolution engines in a layer pipeline at 250 MHz; all weights and activations stay on chip, no DDR traffic.</a:t>
            </a:r>
          </a:p>
          <a:p>
            <a:pPr algn="l">
              <a:spcBef>
                <a:spcPts val="500"/>
              </a:spcBef>
            </a:pPr>
            <a:r>
              <a:rPr sz="1100" b="1" i="0">
                <a:solidFill>
                  <a:srgbClr val="000000"/>
                </a:solidFill>
                <a:latin typeface="Calibri"/>
              </a:rPr>
              <a:t>2. Asymmetric shallow decoder: 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trained jointly with the encoder, it needs 1/102 of the original multiply-accumulates. The codec does 5.2× the workload of a published FPGA DeepJSCC (GLOBECOM 2025) with fewer DSPs and BRAMs.</a:t>
            </a:r>
          </a:p>
          <a:p>
            <a:pPr algn="l">
              <a:spcBef>
                <a:spcPts val="500"/>
              </a:spcBef>
            </a:pPr>
            <a:r>
              <a:rPr sz="1100" b="1" i="0">
                <a:solidFill>
                  <a:srgbClr val="000000"/>
                </a:solidFill>
                <a:latin typeface="Calibri"/>
              </a:rPr>
              <a:t>3. Soft-symbol OFDM PHY: 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683-symbol frames with PN scrambling and second-order SFO/CPE tracking; equalized I/Q go to the decoder without hard decisions.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05072" y="5468112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4. Live system: 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camera to touch screen with live PSNR, constellations and a 3-D channel view on the Mali-400 GPU.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61120" y="1938528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Calibri"/>
              </a:rPr>
              <a:t>Over-the-air PSNR (DIV2K 0802, 32,768 64QAM symbols per image)</a:t>
            </a:r>
          </a:p>
        </p:txBody>
      </p:sp>
      <p:graphicFrame>
        <p:nvGraphicFramePr>
          <p:cNvPr id="99" name="Chart 98"/>
          <p:cNvGraphicFramePr>
            <a:graphicFrameLocks noGrp="1"/>
          </p:cNvGraphicFramePr>
          <p:nvPr/>
        </p:nvGraphicFramePr>
        <p:xfrm>
          <a:off x="8915400" y="2103120"/>
          <a:ext cx="3200400" cy="1645920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100" name="TextBox 99"/>
          <p:cNvSpPr txBox="1"/>
          <p:nvPr/>
        </p:nvSpPr>
        <p:spPr>
          <a:xfrm>
            <a:off x="8458200" y="3813048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DeepJSCC-Q is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2.8 dB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 above JPEG + LDPC at high SNR and still gives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23.5 dB at 2.9 dB SNR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, while the baseline fails abruptly at 16 to 19.5 dB.</a:t>
            </a:r>
          </a:p>
        </p:txBody>
      </p:sp>
      <p:pic>
        <p:nvPicPr>
          <p:cNvPr id="101" name="Picture 100" descr="stri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4370832"/>
            <a:ext cx="3657600" cy="1423416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458200" y="583387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Calibri"/>
              </a:rPr>
              <a:t>30 fps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 for 10 min (18,020 frames),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67.5 ms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 PL end-to-end latency</a:t>
            </a:r>
          </a:p>
        </p:txBody>
      </p: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8458200" y="6035040"/>
          <a:ext cx="3657600" cy="38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685800"/>
                <a:gridCol w="640080"/>
                <a:gridCol w="457200"/>
                <a:gridCol w="685800"/>
                <a:gridCol w="685800"/>
              </a:tblGrid>
              <a:tr h="12801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Calibri"/>
                        </a:rPr>
                        <a:t>LUT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Calibri"/>
                        </a:rPr>
                        <a:t>BRAM36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Calibri"/>
                        </a:rPr>
                        <a:t>DSP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Calibri"/>
                        </a:rPr>
                        <a:t>WNS (ns)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0000"/>
                          </a:solidFill>
                          <a:latin typeface="Calibri"/>
                        </a:rPr>
                        <a:t>Power*</a:t>
                      </a:r>
                    </a:p>
                  </a:txBody>
                  <a:tcPr marL="27432" marR="27432" marT="0" marB="0">
                    <a:solidFill>
                      <a:srgbClr val="DDEBF7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TX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54,241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104.5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+0.082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3.07 W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RX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63,699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65.5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+0.307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Calibri"/>
                        </a:rPr>
                        <a:t>3.44 W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TextBox 103"/>
          <p:cNvSpPr txBox="1"/>
          <p:nvPr/>
        </p:nvSpPr>
        <p:spPr>
          <a:xfrm>
            <a:off x="8458200" y="6437376"/>
            <a:ext cx="28346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52606D"/>
                </a:solidFill>
                <a:latin typeface="Calibri"/>
              </a:rPr>
              <a:t>* measured, PS + PL + DDR; xczu5eg after routing</a:t>
            </a:r>
          </a:p>
        </p:txBody>
      </p:sp>
    </p:spTree>
    <p:extLst>
      <p:ext uri="{BB962C8B-B14F-4D97-AF65-F5344CB8AC3E}">
        <p14:creationId xmlns:p14="http://schemas.microsoft.com/office/powerpoint/2010/main" val="177706974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94DDD171-3649-784B-8DFF-0523AEB0E1C6}" vid="{59C6D40F-03E9-B54A-84C3-8AA2035591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5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Props1.xml><?xml version="1.0" encoding="utf-8"?>
<ds:datastoreItem xmlns:ds="http://schemas.openxmlformats.org/officeDocument/2006/customXml" ds:itemID="{6291F803-2EF0-4E47-96D6-4796950CE6BD}">
  <ds:schemaRefs/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4aa919a-b200-49cb-beca-4c7e0810321e"/>
    <ds:schemaRef ds:uri="http://purl.org/dc/elements/1.1/"/>
    <ds:schemaRef ds:uri="http://schemas.microsoft.com/office/2006/metadata/properties"/>
    <ds:schemaRef ds:uri="06670dda-0291-4061-b6e0-f6c0cb392c51"/>
    <ds:schemaRef ds:uri="http://schemas.microsoft.com/office/2006/documentManagement/types"/>
    <ds:schemaRef ds:uri="http://purl.org/dc/terms/"/>
    <ds:schemaRef ds:uri="http://schemas.microsoft.com/sharepoint/v3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43BC5722-1D5B-4915-8247-E6D5F513E549}">
  <ds:schemaRefs/>
</ds:datastoreItem>
</file>

<file path=docMetadata/LabelInfo.xml><?xml version="1.0" encoding="utf-8"?>
<clbl:labelList xmlns:clbl="http://schemas.microsoft.com/office/2020/mipLabelMetadata">
  <clbl:label id="{5bd4f1f7-d4b1-4cbd-af48-dd17bd0768d5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AMD Corporate Template_Dark</Template>
  <TotalTime>2133</TotalTime>
  <Words>454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微软雅黑</vt:lpstr>
      <vt:lpstr>Aharoni</vt:lpstr>
      <vt:lpstr>Arial</vt:lpstr>
      <vt:lpstr>Calibri</vt:lpstr>
      <vt:lpstr>Consolas</vt:lpstr>
      <vt:lpstr>Segoe UI</vt:lpstr>
      <vt:lpstr>Times New Roman</vt:lpstr>
      <vt:lpstr>AMD Corporate Template_Dark</vt:lpstr>
      <vt:lpstr>INTRODUCTION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Chen, Wen (Vicky)</cp:lastModifiedBy>
  <cp:revision>25</cp:revision>
  <cp:lastPrinted>2020-04-30T18:59:47Z</cp:lastPrinted>
  <dcterms:created xsi:type="dcterms:W3CDTF">2021-04-19T14:31:00Z</dcterms:created>
  <dcterms:modified xsi:type="dcterms:W3CDTF">2026-10-28T10:03:43Z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2021-07-26T15:24:07</vt:lpwstr>
  </property>
  <property fmtid="{D5CDD505-2E9C-101B-9397-08002B2CF9AE}" pid="6" name="ClassificationContentMarkingHeaderLocations">
    <vt:lpwstr>AMD Corporate Template_Dark:6</vt:lpwstr>
  </property>
  <property fmtid="{D5CDD505-2E9C-101B-9397-08002B2CF9AE}" pid="7" name="ClassificationContentMarkingHeaderText">
    <vt:lpwstr>[Copyright &lt;Year&gt;]</vt:lpwstr>
  </property>
</Properties>
</file>